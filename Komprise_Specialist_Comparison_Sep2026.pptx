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"/>
            <a:ext cx="1463040" cy="36576"/>
          </a:xfrm>
          <a:prstGeom prst="rect">
            <a:avLst/>
          </a:prstGeom>
          <a:solidFill>
            <a:srgbClr val="9FC4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ompr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274320"/>
            <a:ext cx="1298448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37744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FC406"/>
                </a:solidFill>
                <a:latin typeface="Open Sans"/>
              </a:rPr>
              <a:t>COMPETITIVE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59257B"/>
                </a:solidFill>
                <a:latin typeface="Open Sans"/>
              </a:rPr>
              <a:t>We Lead the Specialist Field on Authority and Footprint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87552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595A5B"/>
                </a:solidFill>
                <a:latin typeface="Open Sans"/>
              </a:rPr>
              <a:t>Organic footprint and domain authority across the tracked competitive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81328"/>
            <a:ext cx="11183112" cy="475488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2606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1508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Ranking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572768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Monthly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Keywords in AI Answers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57276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Referring Domains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72768"/>
            <a:ext cx="1234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Open Sans"/>
              </a:rPr>
              <a:t>Authority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75104"/>
            <a:ext cx="11183112" cy="356616"/>
          </a:xfrm>
          <a:prstGeom prst="rect">
            <a:avLst/>
          </a:prstGeom>
          <a:solidFill>
            <a:srgbClr val="E9E2F0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1975104"/>
            <a:ext cx="54864" cy="356616"/>
          </a:xfrm>
          <a:prstGeom prst="rect">
            <a:avLst/>
          </a:prstGeom>
          <a:solidFill>
            <a:srgbClr val="7A99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066544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komprise.com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66544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6,139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06654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4,600 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066544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5,464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066544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1,944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066544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59257B"/>
                </a:solidFill>
                <a:latin typeface="Open Sans"/>
              </a:rPr>
              <a:t>43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359152"/>
            <a:ext cx="11183112" cy="356616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450592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unstructured.io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45059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2,221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45059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4,397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450592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1,789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45059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2,764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45059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36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743200"/>
            <a:ext cx="11183112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834640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datadynamicsinc.com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283464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1,421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283464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8346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1,313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834640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976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834640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127248"/>
            <a:ext cx="11183112" cy="356616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218688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hammerspace.com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218688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853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21868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2,508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21868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528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2186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1,511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218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33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511296"/>
            <a:ext cx="11183112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602736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atempo.com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83280" y="3602736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60273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472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602736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602736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1,021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3602736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33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895344"/>
            <a:ext cx="11183112" cy="356616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3986783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datadobi.com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3986783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115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37760" y="3986783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3986783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3986783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755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3986783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4279392"/>
            <a:ext cx="11183112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370831"/>
            <a:ext cx="2606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262428"/>
                </a:solidFill>
                <a:latin typeface="Open Sans"/>
              </a:rPr>
              <a:t>diskoverdata.com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4370831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82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37760" y="4370831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413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370831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49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370831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469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370831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95A5B"/>
                </a:solidFill>
                <a:latin typeface="Open Sans"/>
              </a:rPr>
              <a:t>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" y="4709160"/>
            <a:ext cx="11064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8A8A8D"/>
                </a:solidFill>
                <a:latin typeface="Open Sans"/>
              </a:rPr>
              <a:t>* Komprise is measured clicks from Google Search Console, twelve-month average to September 2026. The other six are Semrush estimates, which model clicks from ranking position and typically run several times higher. Source: Semrush, US database, 15 August 2026.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074920"/>
            <a:ext cx="5504688" cy="960120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5074920"/>
            <a:ext cx="54864" cy="960120"/>
          </a:xfrm>
          <a:prstGeom prst="rect">
            <a:avLst/>
          </a:prstGeom>
          <a:solidFill>
            <a:srgbClr val="7A99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8952" y="521208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257B"/>
                </a:solidFill>
                <a:latin typeface="Open Sans"/>
              </a:rPr>
              <a:t>A clear lead across the set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95A5B"/>
                </a:solidFill>
                <a:latin typeface="Open Sans"/>
              </a:rPr>
              <a:t>Close to three times the keywords of the nearest specialist and three times the presence in AI answers.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81344" y="5074920"/>
            <a:ext cx="5504688" cy="960120"/>
          </a:xfrm>
          <a:prstGeom prst="rect">
            <a:avLst/>
          </a:prstGeom>
          <a:solidFill>
            <a:srgbClr val="F7F5F9"/>
          </a:solidFill>
          <a:ln w="9525">
            <a:solidFill>
              <a:srgbClr val="E3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181344" y="5074920"/>
            <a:ext cx="54864" cy="960120"/>
          </a:xfrm>
          <a:prstGeom prst="rect">
            <a:avLst/>
          </a:prstGeom>
          <a:solidFill>
            <a:srgbClr val="C8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37376" y="521208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59257B"/>
                </a:solidFill>
                <a:latin typeface="Open Sans"/>
              </a:rPr>
              <a:t>Where the gap is closing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95A5B"/>
                </a:solidFill>
                <a:latin typeface="Open Sans"/>
              </a:rPr>
              <a:t>Hammerspace and Unstructured.io both grew AI answer presence by more than a third between July and August. Ours held roughly flat over the same weeks.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6108192"/>
            <a:ext cx="11183112" cy="329184"/>
          </a:xfrm>
          <a:prstGeom prst="rect">
            <a:avLst/>
          </a:prstGeom>
          <a:solidFill>
            <a:srgbClr val="E9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02920" y="6108192"/>
            <a:ext cx="54864" cy="329184"/>
          </a:xfrm>
          <a:prstGeom prst="rect">
            <a:avLst/>
          </a:prstGeom>
          <a:solidFill>
            <a:srgbClr val="592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8952" y="6181344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59257B"/>
                </a:solidFill>
                <a:latin typeface="Open Sans"/>
              </a:rPr>
              <a:t>Authority is the compounding asset here. At 43 we sit seven points clear of the next specialist and level with Cohesity, a far larger company.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528816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A8D"/>
                </a:solidFill>
                <a:latin typeface="Open Sans"/>
              </a:rPr>
              <a:t>Komprise  ·  Competitive position, September 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528816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8A8A8D"/>
                </a:solidFill>
                <a:latin typeface="Open San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