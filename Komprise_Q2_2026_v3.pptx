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0"/>
    <p:sldId id="267"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257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Citations</c:v>
                </c:pt>
              </c:strCache>
            </c:strRef>
          </c:tx>
          <c:spPr>
            <a:ln w="34925">
              <a:solidFill>
                <a:srgbClr val="7A9905"/>
              </a:solidFill>
            </a:ln>
          </c:spPr>
          <c:marker>
            <c:spPr>
              <a:solidFill>
                <a:srgbClr val="7A9905"/>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1700</c:v>
                </c:pt>
                <c:pt idx="1">
                  <c:v>1750</c:v>
                </c:pt>
                <c:pt idx="2">
                  <c:v>1680</c:v>
                </c:pt>
                <c:pt idx="3">
                  <c:v>1870</c:v>
                </c:pt>
                <c:pt idx="4">
                  <c:v>2000</c:v>
                </c:pt>
                <c:pt idx="5">
                  <c:v>2050</c:v>
                </c:pt>
              </c:numCache>
            </c:numRef>
          </c:val>
          <c:smooth val="0"/>
          <c:extLst>
            <c:ext xmlns:c16="http://schemas.microsoft.com/office/drawing/2014/chart" uri="{C3380CC4-5D6E-409C-BE32-E72D297353CC}">
              <c16:uniqueId val="{00000000-BBDC-44EC-B772-4C2F319521DD}"/>
            </c:ext>
          </c:extLst>
        </c:ser>
        <c:ser>
          <c:idx val="1"/>
          <c:order val="1"/>
          <c:tx>
            <c:strRef>
              <c:f>Sheet1!$C$1</c:f>
              <c:strCache>
                <c:ptCount val="1"/>
                <c:pt idx="0">
                  <c:v>Cited Pages</c:v>
                </c:pt>
              </c:strCache>
            </c:strRef>
          </c:tx>
          <c:spPr>
            <a:ln w="34925">
              <a:solidFill>
                <a:srgbClr val="59257B"/>
              </a:solidFill>
            </a:ln>
          </c:spPr>
          <c:marker>
            <c:spPr>
              <a:solidFill>
                <a:srgbClr val="59257B"/>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600</c:v>
                </c:pt>
                <c:pt idx="1">
                  <c:v>575</c:v>
                </c:pt>
                <c:pt idx="2">
                  <c:v>545</c:v>
                </c:pt>
                <c:pt idx="3">
                  <c:v>620</c:v>
                </c:pt>
                <c:pt idx="4">
                  <c:v>700</c:v>
                </c:pt>
                <c:pt idx="5">
                  <c:v>715</c:v>
                </c:pt>
              </c:numCache>
            </c:numRef>
          </c:val>
          <c:smooth val="0"/>
          <c:extLst>
            <c:ext xmlns:c16="http://schemas.microsoft.com/office/drawing/2014/chart" uri="{C3380CC4-5D6E-409C-BE32-E72D297353CC}">
              <c16:uniqueId val="{00000001-BBDC-44EC-B772-4C2F319521DD}"/>
            </c:ext>
          </c:extLst>
        </c:ser>
        <c:ser>
          <c:idx val="2"/>
          <c:order val="2"/>
          <c:tx>
            <c:strRef>
              <c:f>Sheet1!$D$1</c:f>
              <c:strCache>
                <c:ptCount val="1"/>
                <c:pt idx="0">
                  <c:v>Mentions</c:v>
                </c:pt>
              </c:strCache>
            </c:strRef>
          </c:tx>
          <c:spPr>
            <a:ln w="34925">
              <a:solidFill>
                <a:srgbClr val="C88A1E"/>
              </a:solidFill>
            </a:ln>
          </c:spPr>
          <c:marker>
            <c:spPr>
              <a:solidFill>
                <a:srgbClr val="C88A1E"/>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Sheet1!$D$2:$D$7</c:f>
              <c:numCache>
                <c:formatCode>General</c:formatCode>
                <c:ptCount val="6"/>
                <c:pt idx="0">
                  <c:v>595</c:v>
                </c:pt>
                <c:pt idx="1">
                  <c:v>565</c:v>
                </c:pt>
                <c:pt idx="2">
                  <c:v>425</c:v>
                </c:pt>
                <c:pt idx="3">
                  <c:v>225</c:v>
                </c:pt>
                <c:pt idx="4">
                  <c:v>190</c:v>
                </c:pt>
                <c:pt idx="5">
                  <c:v>163</c:v>
                </c:pt>
              </c:numCache>
            </c:numRef>
          </c:val>
          <c:smooth val="0"/>
          <c:extLst>
            <c:ext xmlns:c16="http://schemas.microsoft.com/office/drawing/2014/chart" uri="{C3380CC4-5D6E-409C-BE32-E72D297353CC}">
              <c16:uniqueId val="{00000002-BBDC-44EC-B772-4C2F319521D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40495176"/>
        <c:crosses val="autoZero"/>
        <c:auto val="1"/>
        <c:lblAlgn val="ctr"/>
        <c:lblOffset val="100"/>
        <c:noMultiLvlLbl val="0"/>
      </c:catAx>
      <c:valAx>
        <c:axId val="2140495176"/>
        <c:scaling>
          <c:orientation val="minMax"/>
          <c:max val="25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118791784"/>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Positions 4–10</c:v>
                </c:pt>
              </c:strCache>
            </c:strRef>
          </c:tx>
          <c:spPr>
            <a:solidFill>
              <a:srgbClr val="D6C4E3"/>
            </a:solidFill>
            <a:ln>
              <a:noFill/>
            </a:ln>
          </c:spPr>
          <c:invertIfNegative val="1"/>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841</c:v>
                </c:pt>
                <c:pt idx="1">
                  <c:v>907</c:v>
                </c:pt>
                <c:pt idx="2">
                  <c:v>1033</c:v>
                </c:pt>
                <c:pt idx="3">
                  <c:v>972</c:v>
                </c:pt>
                <c:pt idx="4">
                  <c:v>997</c:v>
                </c:pt>
                <c:pt idx="5">
                  <c:v>1095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29B-4777-8045-FAC10DCC7CDA}"/>
            </c:ext>
          </c:extLst>
        </c:ser>
        <c:ser>
          <c:idx val="1"/>
          <c:order val="1"/>
          <c:tx>
            <c:strRef>
              <c:f>Sheet1!$C$1</c:f>
              <c:strCache>
                <c:ptCount val="1"/>
                <c:pt idx="0">
                  <c:v>Top 3</c:v>
                </c:pt>
              </c:strCache>
            </c:strRef>
          </c:tx>
          <c:spPr>
            <a:solidFill>
              <a:srgbClr val="59257B"/>
            </a:solidFill>
            <a:ln>
              <a:noFill/>
            </a:ln>
          </c:spPr>
          <c:invertIfNegative val="1"/>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333</c:v>
                </c:pt>
                <c:pt idx="1">
                  <c:v>349</c:v>
                </c:pt>
                <c:pt idx="2">
                  <c:v>354</c:v>
                </c:pt>
                <c:pt idx="3">
                  <c:v>366</c:v>
                </c:pt>
                <c:pt idx="4">
                  <c:v>387</c:v>
                </c:pt>
                <c:pt idx="5">
                  <c:v>420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B29B-4777-8045-FAC10DCC7CDA}"/>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13994440"/>
        <c:crosses val="autoZero"/>
        <c:auto val="1"/>
        <c:lblAlgn val="ctr"/>
        <c:lblOffset val="100"/>
        <c:noMultiLvlLbl val="0"/>
      </c:catAx>
      <c:valAx>
        <c:axId val="-2113994440"/>
        <c:scaling>
          <c:orientation val="minMax"/>
          <c:max val="17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068027336"/>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Direct</c:v>
                </c:pt>
              </c:strCache>
            </c:strRef>
          </c:tx>
          <c:spPr>
            <a:solidFill>
              <a:srgbClr val="59257B"/>
            </a:solidFill>
            <a:ln>
              <a:noFill/>
            </a:ln>
          </c:spPr>
          <c:invertIfNegative val="1"/>
          <c:dLbls>
            <c:numFmt formatCode="#,##0" sourceLinked="0"/>
            <c:spPr>
              <a:noFill/>
              <a:ln>
                <a:noFill/>
              </a:ln>
              <a:effectLst/>
            </c:spPr>
            <c:txPr>
              <a:bodyPr/>
              <a:lstStyle/>
              <a:p>
                <a:pPr>
                  <a:defRPr sz="1050" b="1">
                    <a:solidFill>
                      <a:srgbClr val="262428"/>
                    </a:solidFill>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  (Q1)</c:v>
                </c:pt>
                <c:pt idx="1">
                  <c:v>Apr  (Q2)</c:v>
                </c:pt>
                <c:pt idx="2">
                  <c:v>Jun  (Q2)</c:v>
                </c:pt>
              </c:strCache>
            </c:strRef>
          </c:cat>
          <c:val>
            <c:numRef>
              <c:f>Sheet1!$B$2:$B$4</c:f>
              <c:numCache>
                <c:formatCode>General</c:formatCode>
                <c:ptCount val="3"/>
                <c:pt idx="0">
                  <c:v>5956</c:v>
                </c:pt>
                <c:pt idx="1">
                  <c:v>5938</c:v>
                </c:pt>
                <c:pt idx="2">
                  <c:v>6726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C3B-4710-A47F-C1C6A8904920}"/>
            </c:ext>
          </c:extLst>
        </c:ser>
        <c:ser>
          <c:idx val="1"/>
          <c:order val="1"/>
          <c:tx>
            <c:strRef>
              <c:f>Sheet1!$C$1</c:f>
              <c:strCache>
                <c:ptCount val="1"/>
                <c:pt idx="0">
                  <c:v>Organic Search</c:v>
                </c:pt>
              </c:strCache>
            </c:strRef>
          </c:tx>
          <c:spPr>
            <a:solidFill>
              <a:srgbClr val="D6C4E3"/>
            </a:solidFill>
            <a:ln>
              <a:noFill/>
            </a:ln>
          </c:spPr>
          <c:invertIfNegative val="1"/>
          <c:dLbls>
            <c:numFmt formatCode="#,##0" sourceLinked="0"/>
            <c:spPr>
              <a:noFill/>
              <a:ln>
                <a:noFill/>
              </a:ln>
              <a:effectLst/>
            </c:spPr>
            <c:txPr>
              <a:bodyPr/>
              <a:lstStyle/>
              <a:p>
                <a:pPr>
                  <a:defRPr sz="1050" b="1">
                    <a:solidFill>
                      <a:srgbClr val="262428"/>
                    </a:solidFill>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  (Q1)</c:v>
                </c:pt>
                <c:pt idx="1">
                  <c:v>Apr  (Q2)</c:v>
                </c:pt>
                <c:pt idx="2">
                  <c:v>Jun  (Q2)</c:v>
                </c:pt>
              </c:strCache>
            </c:strRef>
          </c:cat>
          <c:val>
            <c:numRef>
              <c:f>Sheet1!$C$2:$C$4</c:f>
              <c:numCache>
                <c:formatCode>General</c:formatCode>
                <c:ptCount val="3"/>
                <c:pt idx="0">
                  <c:v>5074</c:v>
                </c:pt>
                <c:pt idx="1">
                  <c:v>4769</c:v>
                </c:pt>
                <c:pt idx="2">
                  <c:v>4139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C3B-4710-A47F-C1C6A890492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13994440"/>
        <c:crosses val="autoZero"/>
        <c:auto val="1"/>
        <c:lblAlgn val="ctr"/>
        <c:lblOffset val="100"/>
        <c:noMultiLvlLbl val="0"/>
      </c:catAx>
      <c:valAx>
        <c:axId val="-2113994440"/>
        <c:scaling>
          <c:orientation val="minMax"/>
          <c:max val="80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068027336"/>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206240" cy="68580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0" y="0"/>
            <a:ext cx="82296" cy="6858000"/>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50292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komprise-logo.png"/>
          <p:cNvPicPr>
            <a:picLocks noChangeAspect="1"/>
          </p:cNvPicPr>
          <p:nvPr/>
        </p:nvPicPr>
        <p:blipFill>
          <a:blip r:embed="rId2"/>
          <a:stretch>
            <a:fillRect/>
          </a:stretch>
        </p:blipFill>
        <p:spPr>
          <a:xfrm>
            <a:off x="713232" y="713232"/>
            <a:ext cx="1920240" cy="411480"/>
          </a:xfrm>
          <a:prstGeom prst="rect">
            <a:avLst/>
          </a:prstGeom>
        </p:spPr>
      </p:pic>
      <p:sp>
        <p:nvSpPr>
          <p:cNvPr id="6" name="TextBox 5"/>
          <p:cNvSpPr txBox="1"/>
          <p:nvPr/>
        </p:nvSpPr>
        <p:spPr>
          <a:xfrm>
            <a:off x="502920" y="2514600"/>
            <a:ext cx="3520440" cy="1828800"/>
          </a:xfrm>
          <a:prstGeom prst="rect">
            <a:avLst/>
          </a:prstGeom>
          <a:noFill/>
        </p:spPr>
        <p:txBody>
          <a:bodyPr wrap="square" lIns="0" tIns="0" rIns="0" bIns="0" anchor="t">
            <a:spAutoFit/>
          </a:bodyPr>
          <a:lstStyle/>
          <a:p>
            <a:pPr algn="l">
              <a:lnSpc>
                <a:spcPct val="115000"/>
              </a:lnSpc>
              <a:spcAft>
                <a:spcPts val="300"/>
              </a:spcAft>
            </a:pPr>
            <a:r>
              <a:rPr sz="3100" b="1" dirty="0">
                <a:solidFill>
                  <a:srgbClr val="FFFFFF"/>
                </a:solidFill>
                <a:latin typeface="Open Sans"/>
              </a:rPr>
              <a:t>GEO &amp; SEO</a:t>
            </a:r>
          </a:p>
          <a:p>
            <a:pPr algn="l">
              <a:lnSpc>
                <a:spcPct val="115000"/>
              </a:lnSpc>
              <a:spcAft>
                <a:spcPts val="0"/>
              </a:spcAft>
            </a:pPr>
            <a:r>
              <a:rPr sz="3100" b="1" dirty="0">
                <a:solidFill>
                  <a:srgbClr val="FFFFFF"/>
                </a:solidFill>
                <a:latin typeface="Open Sans"/>
              </a:rPr>
              <a:t>Performance</a:t>
            </a:r>
          </a:p>
        </p:txBody>
      </p:sp>
      <p:sp>
        <p:nvSpPr>
          <p:cNvPr id="7" name="TextBox 6"/>
          <p:cNvSpPr txBox="1"/>
          <p:nvPr/>
        </p:nvSpPr>
        <p:spPr>
          <a:xfrm>
            <a:off x="502920" y="3931920"/>
            <a:ext cx="3520440" cy="384048"/>
          </a:xfrm>
          <a:prstGeom prst="rect">
            <a:avLst/>
          </a:prstGeom>
          <a:noFill/>
        </p:spPr>
        <p:txBody>
          <a:bodyPr wrap="square" lIns="0" tIns="0" rIns="0" bIns="0" anchor="t">
            <a:spAutoFit/>
          </a:bodyPr>
          <a:lstStyle/>
          <a:p>
            <a:pPr algn="l">
              <a:lnSpc>
                <a:spcPct val="115000"/>
              </a:lnSpc>
              <a:spcAft>
                <a:spcPts val="0"/>
              </a:spcAft>
            </a:pPr>
            <a:r>
              <a:rPr sz="1600" b="1">
                <a:solidFill>
                  <a:srgbClr val="9FC406"/>
                </a:solidFill>
                <a:latin typeface="Open Sans"/>
              </a:rPr>
              <a:t>Q2 2026  ·  April to June</a:t>
            </a:r>
          </a:p>
        </p:txBody>
      </p:sp>
      <p:sp>
        <p:nvSpPr>
          <p:cNvPr id="9" name="TextBox 8"/>
          <p:cNvSpPr txBox="1"/>
          <p:nvPr/>
        </p:nvSpPr>
        <p:spPr>
          <a:xfrm>
            <a:off x="4608576" y="3005191"/>
            <a:ext cx="7132320" cy="926729"/>
          </a:xfrm>
          <a:prstGeom prst="rect">
            <a:avLst/>
          </a:prstGeom>
          <a:noFill/>
        </p:spPr>
        <p:txBody>
          <a:bodyPr wrap="square" lIns="0" tIns="0" rIns="0" bIns="0" anchor="t">
            <a:spAutoFit/>
          </a:bodyPr>
          <a:lstStyle/>
          <a:p>
            <a:pPr>
              <a:lnSpc>
                <a:spcPct val="115000"/>
              </a:lnSpc>
              <a:spcAft>
                <a:spcPts val="500"/>
              </a:spcAft>
            </a:pPr>
            <a:r>
              <a:rPr lang="en-GB" sz="30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AI and Organic Search:</a:t>
            </a:r>
          </a:p>
          <a:p>
            <a:pPr>
              <a:lnSpc>
                <a:spcPct val="115000"/>
              </a:lnSpc>
              <a:spcAft>
                <a:spcPts val="500"/>
              </a:spcAft>
            </a:pPr>
            <a:r>
              <a:rPr lang="en-GB" sz="20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visibility, rankings, traffic and competitive position</a:t>
            </a:r>
            <a:endParaRPr sz="2000" b="1" dirty="0">
              <a:solidFill>
                <a:srgbClr val="59257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p:cNvSpPr/>
          <p:nvPr/>
        </p:nvSpPr>
        <p:spPr>
          <a:xfrm>
            <a:off x="4608576" y="4443984"/>
            <a:ext cx="128016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Executive Summary</a:t>
            </a:r>
          </a:p>
        </p:txBody>
      </p:sp>
      <p:sp>
        <p:nvSpPr>
          <p:cNvPr id="6" name="TextBox 5"/>
          <p:cNvSpPr txBox="1"/>
          <p:nvPr/>
        </p:nvSpPr>
        <p:spPr>
          <a:xfrm>
            <a:off x="502920" y="80467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Q2 2026: where we stand on being seen as an AI company</a:t>
            </a:r>
          </a:p>
        </p:txBody>
      </p:sp>
      <p:sp>
        <p:nvSpPr>
          <p:cNvPr id="7" name="Rectangle 6"/>
          <p:cNvSpPr/>
          <p:nvPr/>
        </p:nvSpPr>
        <p:spPr>
          <a:xfrm>
            <a:off x="5029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7A9905"/>
                </a:solidFill>
                <a:latin typeface="Open Sans"/>
              </a:rPr>
              <a:t>+20%</a:t>
            </a:r>
          </a:p>
        </p:txBody>
      </p:sp>
      <p:sp>
        <p:nvSpPr>
          <p:cNvPr id="10" name="TextBox 9"/>
          <p:cNvSpPr txBox="1"/>
          <p:nvPr/>
        </p:nvSpPr>
        <p:spPr>
          <a:xfrm>
            <a:off x="7589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Citations in AI Answers</a:t>
            </a:r>
          </a:p>
        </p:txBody>
      </p:sp>
      <p:sp>
        <p:nvSpPr>
          <p:cNvPr id="11" name="TextBox 10"/>
          <p:cNvSpPr txBox="1"/>
          <p:nvPr/>
        </p:nvSpPr>
        <p:spPr>
          <a:xfrm>
            <a:off x="7589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AI answers now point to a Komprise page 2.1K times a month.</a:t>
            </a:r>
          </a:p>
        </p:txBody>
      </p:sp>
      <p:sp>
        <p:nvSpPr>
          <p:cNvPr id="12" name="Rectangle 11"/>
          <p:cNvSpPr/>
          <p:nvPr/>
        </p:nvSpPr>
        <p:spPr>
          <a:xfrm>
            <a:off x="32461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461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02152" y="1444751"/>
            <a:ext cx="2167128" cy="457200"/>
          </a:xfrm>
          <a:prstGeom prst="rect">
            <a:avLst/>
          </a:prstGeom>
          <a:noFill/>
        </p:spPr>
        <p:txBody>
          <a:bodyPr wrap="square" lIns="0" tIns="0" rIns="0" bIns="0" anchor="t">
            <a:spAutoFit/>
          </a:bodyPr>
          <a:lstStyle/>
          <a:p>
            <a:pPr algn="l">
              <a:lnSpc>
                <a:spcPct val="115000"/>
              </a:lnSpc>
              <a:spcAft>
                <a:spcPts val="0"/>
              </a:spcAft>
            </a:pPr>
            <a:r>
              <a:rPr sz="2600" b="1">
                <a:solidFill>
                  <a:srgbClr val="7A9905"/>
                </a:solidFill>
                <a:latin typeface="Open Sans"/>
              </a:rPr>
              <a:t>11 of 16</a:t>
            </a:r>
          </a:p>
        </p:txBody>
      </p:sp>
      <p:sp>
        <p:nvSpPr>
          <p:cNvPr id="15" name="TextBox 14"/>
          <p:cNvSpPr txBox="1"/>
          <p:nvPr/>
        </p:nvSpPr>
        <p:spPr>
          <a:xfrm>
            <a:off x="35021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Priority Questions Won</a:t>
            </a:r>
          </a:p>
        </p:txBody>
      </p:sp>
      <p:sp>
        <p:nvSpPr>
          <p:cNvPr id="16" name="TextBox 15"/>
          <p:cNvSpPr txBox="1"/>
          <p:nvPr/>
        </p:nvSpPr>
        <p:spPr>
          <a:xfrm>
            <a:off x="3502152" y="2176272"/>
            <a:ext cx="2167128" cy="486800"/>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Komprise sits inside Google's AI answer on 11 of the 16 questions across </a:t>
            </a:r>
            <a:r>
              <a:rPr lang="en-US" sz="900" dirty="0">
                <a:solidFill>
                  <a:srgbClr val="595A5B"/>
                </a:solidFill>
                <a:latin typeface="Open Sans"/>
              </a:rPr>
              <a:t>core prompts </a:t>
            </a:r>
            <a:r>
              <a:rPr lang="en-US" sz="900" i="1" dirty="0">
                <a:solidFill>
                  <a:srgbClr val="595A5B"/>
                </a:solidFill>
                <a:latin typeface="Open Sans"/>
              </a:rPr>
              <a:t>(slide 5)</a:t>
            </a:r>
            <a:endParaRPr sz="900" b="0" i="1" dirty="0">
              <a:solidFill>
                <a:srgbClr val="595A5B"/>
              </a:solidFill>
              <a:latin typeface="Open Sans"/>
            </a:endParaRPr>
          </a:p>
        </p:txBody>
      </p:sp>
      <p:sp>
        <p:nvSpPr>
          <p:cNvPr id="17" name="Rectangle 16"/>
          <p:cNvSpPr/>
          <p:nvPr/>
        </p:nvSpPr>
        <p:spPr>
          <a:xfrm>
            <a:off x="59893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89320" y="1280160"/>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453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59257B"/>
                </a:solidFill>
                <a:latin typeface="Open Sans"/>
              </a:rPr>
              <a:t>1,515</a:t>
            </a:r>
          </a:p>
        </p:txBody>
      </p:sp>
      <p:sp>
        <p:nvSpPr>
          <p:cNvPr id="20" name="TextBox 19"/>
          <p:cNvSpPr txBox="1"/>
          <p:nvPr/>
        </p:nvSpPr>
        <p:spPr>
          <a:xfrm>
            <a:off x="6245352" y="1883663"/>
            <a:ext cx="2167128"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Google Top</a:t>
            </a:r>
            <a:r>
              <a:rPr lang="en-US" sz="1050" b="1" dirty="0">
                <a:solidFill>
                  <a:srgbClr val="59257B"/>
                </a:solidFill>
                <a:latin typeface="Open Sans"/>
              </a:rPr>
              <a:t> </a:t>
            </a:r>
            <a:r>
              <a:rPr sz="1050" b="1" dirty="0">
                <a:solidFill>
                  <a:srgbClr val="59257B"/>
                </a:solidFill>
                <a:latin typeface="Open Sans"/>
              </a:rPr>
              <a:t>10 </a:t>
            </a:r>
            <a:r>
              <a:rPr lang="en-US" sz="1050" b="1" dirty="0">
                <a:solidFill>
                  <a:srgbClr val="59257B"/>
                </a:solidFill>
                <a:latin typeface="Open Sans"/>
              </a:rPr>
              <a:t>SEO </a:t>
            </a:r>
            <a:r>
              <a:rPr sz="1050" b="1" dirty="0">
                <a:solidFill>
                  <a:srgbClr val="59257B"/>
                </a:solidFill>
                <a:latin typeface="Open Sans"/>
              </a:rPr>
              <a:t>Keywords</a:t>
            </a:r>
          </a:p>
        </p:txBody>
      </p:sp>
      <p:sp>
        <p:nvSpPr>
          <p:cNvPr id="21" name="TextBox 20"/>
          <p:cNvSpPr txBox="1"/>
          <p:nvPr/>
        </p:nvSpPr>
        <p:spPr>
          <a:xfrm>
            <a:off x="62453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Up </a:t>
            </a:r>
            <a:r>
              <a:rPr lang="en-US" sz="900" b="0" dirty="0">
                <a:solidFill>
                  <a:srgbClr val="595A5B"/>
                </a:solidFill>
                <a:latin typeface="Open Sans"/>
              </a:rPr>
              <a:t>+</a:t>
            </a:r>
            <a:r>
              <a:rPr sz="900" b="0" dirty="0">
                <a:solidFill>
                  <a:srgbClr val="595A5B"/>
                </a:solidFill>
                <a:latin typeface="Open Sans"/>
              </a:rPr>
              <a:t>128 </a:t>
            </a:r>
            <a:r>
              <a:rPr lang="en-US" sz="900" b="0" dirty="0">
                <a:solidFill>
                  <a:srgbClr val="595A5B"/>
                </a:solidFill>
                <a:latin typeface="Open Sans"/>
              </a:rPr>
              <a:t>new </a:t>
            </a:r>
            <a:r>
              <a:rPr lang="en-US" sz="900" dirty="0">
                <a:solidFill>
                  <a:srgbClr val="595A5B"/>
                </a:solidFill>
                <a:latin typeface="Open Sans"/>
              </a:rPr>
              <a:t>keywords </a:t>
            </a:r>
            <a:r>
              <a:rPr lang="en-US" sz="900" b="0" dirty="0">
                <a:solidFill>
                  <a:srgbClr val="595A5B"/>
                </a:solidFill>
                <a:latin typeface="Open Sans"/>
              </a:rPr>
              <a:t>last </a:t>
            </a:r>
            <a:r>
              <a:rPr sz="900" b="0" dirty="0">
                <a:solidFill>
                  <a:srgbClr val="595A5B"/>
                </a:solidFill>
                <a:latin typeface="Open Sans"/>
              </a:rPr>
              <a:t>quarter and up 66 in the top </a:t>
            </a:r>
            <a:r>
              <a:rPr lang="en-US" sz="900" dirty="0">
                <a:solidFill>
                  <a:srgbClr val="595A5B"/>
                </a:solidFill>
                <a:latin typeface="Open Sans"/>
              </a:rPr>
              <a:t>3 positions</a:t>
            </a:r>
            <a:r>
              <a:rPr sz="900" b="0" dirty="0">
                <a:solidFill>
                  <a:srgbClr val="595A5B"/>
                </a:solidFill>
                <a:latin typeface="Open Sans"/>
              </a:rPr>
              <a:t>.</a:t>
            </a:r>
          </a:p>
        </p:txBody>
      </p:sp>
      <p:sp>
        <p:nvSpPr>
          <p:cNvPr id="22" name="Rectangle 21"/>
          <p:cNvSpPr/>
          <p:nvPr/>
        </p:nvSpPr>
        <p:spPr>
          <a:xfrm>
            <a:off x="87325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7325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885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7A9905"/>
                </a:solidFill>
                <a:latin typeface="Open Sans"/>
              </a:rPr>
              <a:t>52%</a:t>
            </a:r>
          </a:p>
        </p:txBody>
      </p:sp>
      <p:sp>
        <p:nvSpPr>
          <p:cNvPr id="25" name="TextBox 24"/>
          <p:cNvSpPr txBox="1"/>
          <p:nvPr/>
        </p:nvSpPr>
        <p:spPr>
          <a:xfrm>
            <a:off x="89885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of Traffic Now Direct</a:t>
            </a:r>
          </a:p>
        </p:txBody>
      </p:sp>
      <p:sp>
        <p:nvSpPr>
          <p:cNvPr id="26" name="TextBox 25"/>
          <p:cNvSpPr txBox="1"/>
          <p:nvPr/>
        </p:nvSpPr>
        <p:spPr>
          <a:xfrm>
            <a:off x="89885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Up from 41%. People read the AI answer then </a:t>
            </a:r>
            <a:r>
              <a:rPr lang="en-US" sz="900" dirty="0">
                <a:solidFill>
                  <a:srgbClr val="595A5B"/>
                </a:solidFill>
                <a:latin typeface="Open Sans"/>
              </a:rPr>
              <a:t>some of them come </a:t>
            </a:r>
            <a:r>
              <a:rPr sz="900" b="0" dirty="0">
                <a:solidFill>
                  <a:srgbClr val="595A5B"/>
                </a:solidFill>
                <a:latin typeface="Open Sans"/>
              </a:rPr>
              <a:t>to Komprise.</a:t>
            </a:r>
          </a:p>
        </p:txBody>
      </p:sp>
      <p:sp>
        <p:nvSpPr>
          <p:cNvPr id="27" name="Rectangle 26"/>
          <p:cNvSpPr/>
          <p:nvPr/>
        </p:nvSpPr>
        <p:spPr>
          <a:xfrm>
            <a:off x="502920" y="2944368"/>
            <a:ext cx="11183112"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7512" y="3012948"/>
            <a:ext cx="10908792" cy="237744"/>
          </a:xfrm>
          <a:prstGeom prst="rect">
            <a:avLst/>
          </a:prstGeom>
          <a:noFill/>
        </p:spPr>
        <p:txBody>
          <a:bodyPr wrap="square" lIns="0" tIns="0" rIns="0" bIns="0" anchor="t">
            <a:spAutoFit/>
          </a:bodyPr>
          <a:lstStyle/>
          <a:p>
            <a:pPr algn="l">
              <a:lnSpc>
                <a:spcPct val="115000"/>
              </a:lnSpc>
              <a:spcAft>
                <a:spcPts val="0"/>
              </a:spcAft>
            </a:pPr>
            <a:r>
              <a:rPr sz="1350" b="1">
                <a:solidFill>
                  <a:srgbClr val="FFFFFF"/>
                </a:solidFill>
                <a:latin typeface="Open Sans"/>
              </a:rPr>
              <a:t>What This Means</a:t>
            </a:r>
          </a:p>
        </p:txBody>
      </p:sp>
      <p:sp>
        <p:nvSpPr>
          <p:cNvPr id="29" name="Rectangle 28"/>
          <p:cNvSpPr/>
          <p:nvPr/>
        </p:nvSpPr>
        <p:spPr>
          <a:xfrm>
            <a:off x="548640" y="356158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6384" y="3493008"/>
            <a:ext cx="10881360" cy="457200"/>
          </a:xfrm>
          <a:prstGeom prst="rect">
            <a:avLst/>
          </a:prstGeom>
          <a:noFill/>
        </p:spPr>
        <p:txBody>
          <a:bodyPr wrap="square" lIns="0" tIns="0" rIns="0" bIns="0" anchor="t">
            <a:spAutoFit/>
          </a:bodyPr>
          <a:lstStyle/>
          <a:p>
            <a:pPr algn="l">
              <a:lnSpc>
                <a:spcPct val="122000"/>
              </a:lnSpc>
              <a:spcAft>
                <a:spcPts val="0"/>
              </a:spcAft>
            </a:pPr>
            <a:r>
              <a:rPr sz="1250" b="1" dirty="0">
                <a:solidFill>
                  <a:srgbClr val="59257B"/>
                </a:solidFill>
                <a:latin typeface="Open Sans"/>
              </a:rPr>
              <a:t>Komprise already wins the storage</a:t>
            </a:r>
            <a:r>
              <a:rPr lang="en-US" sz="1250" b="1" dirty="0">
                <a:solidFill>
                  <a:srgbClr val="59257B"/>
                </a:solidFill>
                <a:latin typeface="Open Sans"/>
              </a:rPr>
              <a:t> </a:t>
            </a:r>
            <a:r>
              <a:rPr sz="1250" b="1" dirty="0">
                <a:solidFill>
                  <a:srgbClr val="59257B"/>
                </a:solidFill>
                <a:latin typeface="Open Sans"/>
              </a:rPr>
              <a:t>cost </a:t>
            </a:r>
            <a:r>
              <a:rPr lang="en-US" sz="1250" b="1" dirty="0">
                <a:solidFill>
                  <a:srgbClr val="59257B"/>
                </a:solidFill>
                <a:latin typeface="Open Sans"/>
              </a:rPr>
              <a:t>prompts</a:t>
            </a:r>
            <a:r>
              <a:rPr sz="1250" b="1" dirty="0">
                <a:solidFill>
                  <a:srgbClr val="59257B"/>
                </a:solidFill>
                <a:latin typeface="Open Sans"/>
              </a:rPr>
              <a:t> inside AI answers. On tiering and storage</a:t>
            </a:r>
            <a:r>
              <a:rPr lang="en-US" sz="1250" b="1" dirty="0">
                <a:solidFill>
                  <a:srgbClr val="59257B"/>
                </a:solidFill>
                <a:latin typeface="Open Sans"/>
              </a:rPr>
              <a:t> </a:t>
            </a:r>
            <a:r>
              <a:rPr sz="1250" b="1" dirty="0">
                <a:solidFill>
                  <a:srgbClr val="59257B"/>
                </a:solidFill>
                <a:latin typeface="Open Sans"/>
              </a:rPr>
              <a:t>cost questions, Google's AI answer names Komprise first.</a:t>
            </a:r>
          </a:p>
        </p:txBody>
      </p:sp>
      <p:sp>
        <p:nvSpPr>
          <p:cNvPr id="33" name="Rectangle 32"/>
          <p:cNvSpPr/>
          <p:nvPr/>
        </p:nvSpPr>
        <p:spPr>
          <a:xfrm>
            <a:off x="548640" y="4143656"/>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6384" y="4075076"/>
            <a:ext cx="10881360" cy="457200"/>
          </a:xfrm>
          <a:prstGeom prst="rect">
            <a:avLst/>
          </a:prstGeom>
          <a:noFill/>
        </p:spPr>
        <p:txBody>
          <a:bodyPr wrap="square" lIns="0" tIns="0" rIns="0" bIns="0" anchor="t">
            <a:spAutoFit/>
          </a:bodyPr>
          <a:lstStyle/>
          <a:p>
            <a:pPr algn="l">
              <a:lnSpc>
                <a:spcPct val="122000"/>
              </a:lnSpc>
              <a:spcAft>
                <a:spcPts val="0"/>
              </a:spcAft>
            </a:pPr>
            <a:r>
              <a:rPr sz="1250" b="1" dirty="0">
                <a:solidFill>
                  <a:srgbClr val="59257B"/>
                </a:solidFill>
                <a:latin typeface="Open Sans"/>
              </a:rPr>
              <a:t>Citations are climbing steadily. Cited pages are up </a:t>
            </a:r>
            <a:r>
              <a:rPr lang="en-US" sz="1250" b="1" dirty="0">
                <a:solidFill>
                  <a:srgbClr val="59257B"/>
                </a:solidFill>
                <a:latin typeface="Open Sans"/>
              </a:rPr>
              <a:t>19</a:t>
            </a:r>
            <a:r>
              <a:rPr sz="1250" b="1" dirty="0">
                <a:solidFill>
                  <a:srgbClr val="59257B"/>
                </a:solidFill>
                <a:latin typeface="Open Sans"/>
              </a:rPr>
              <a:t>% and 2.1K AI answers a month now point to a Komprise page. Building name mentions through earned coverage is the next phase.</a:t>
            </a:r>
          </a:p>
        </p:txBody>
      </p:sp>
      <p:sp>
        <p:nvSpPr>
          <p:cNvPr id="35" name="Rectangle 34"/>
          <p:cNvSpPr/>
          <p:nvPr/>
        </p:nvSpPr>
        <p:spPr>
          <a:xfrm>
            <a:off x="548640" y="4783736"/>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86384" y="4715156"/>
            <a:ext cx="10881360" cy="457200"/>
          </a:xfrm>
          <a:prstGeom prst="rect">
            <a:avLst/>
          </a:prstGeom>
          <a:noFill/>
        </p:spPr>
        <p:txBody>
          <a:bodyPr wrap="square" lIns="0" tIns="0" rIns="0" bIns="0" anchor="t">
            <a:spAutoFit/>
          </a:bodyPr>
          <a:lstStyle/>
          <a:p>
            <a:pPr algn="l">
              <a:lnSpc>
                <a:spcPct val="122000"/>
              </a:lnSpc>
              <a:spcAft>
                <a:spcPts val="0"/>
              </a:spcAft>
            </a:pPr>
            <a:r>
              <a:rPr sz="1250" b="1">
                <a:solidFill>
                  <a:srgbClr val="59257B"/>
                </a:solidFill>
                <a:latin typeface="Open Sans"/>
              </a:rPr>
              <a:t>The traffic mix is shifting. Direct has overtaken organic search, which is the visible proof that AI answers are doing the discovery.</a:t>
            </a:r>
          </a:p>
        </p:txBody>
      </p:sp>
      <p:sp>
        <p:nvSpPr>
          <p:cNvPr id="37" name="Rectangle 36"/>
          <p:cNvSpPr/>
          <p:nvPr/>
        </p:nvSpPr>
        <p:spPr>
          <a:xfrm>
            <a:off x="502920" y="5436650"/>
            <a:ext cx="11183112" cy="438912"/>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2920" y="5436650"/>
            <a:ext cx="54864" cy="43891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 y="5546378"/>
            <a:ext cx="1088136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59257B"/>
                </a:solidFill>
                <a:latin typeface="Open Sans"/>
              </a:rPr>
              <a:t>In short: the storage story is </a:t>
            </a:r>
            <a:r>
              <a:rPr lang="en-US" sz="1200" b="1" dirty="0">
                <a:solidFill>
                  <a:srgbClr val="59257B"/>
                </a:solidFill>
                <a:latin typeface="Open Sans"/>
              </a:rPr>
              <a:t>getting better</a:t>
            </a:r>
            <a:r>
              <a:rPr sz="1200" b="1" dirty="0">
                <a:solidFill>
                  <a:srgbClr val="59257B"/>
                </a:solidFill>
                <a:latin typeface="Open Sans"/>
              </a:rPr>
              <a:t> in AI search. The AI story is </a:t>
            </a:r>
            <a:r>
              <a:rPr lang="en-US" sz="1200" b="1" dirty="0">
                <a:solidFill>
                  <a:srgbClr val="59257B"/>
                </a:solidFill>
                <a:latin typeface="Open Sans"/>
              </a:rPr>
              <a:t>getting built </a:t>
            </a:r>
            <a:r>
              <a:rPr sz="1200" b="1" dirty="0">
                <a:solidFill>
                  <a:srgbClr val="59257B"/>
                </a:solidFill>
                <a:latin typeface="Open Sans"/>
              </a:rPr>
              <a:t>and that is where Q3</a:t>
            </a:r>
            <a:r>
              <a:rPr lang="en-US" sz="1200" b="1" dirty="0">
                <a:solidFill>
                  <a:srgbClr val="59257B"/>
                </a:solidFill>
                <a:latin typeface="Open Sans"/>
              </a:rPr>
              <a:t>-Q4</a:t>
            </a:r>
            <a:r>
              <a:rPr sz="1200" b="1" dirty="0">
                <a:solidFill>
                  <a:srgbClr val="59257B"/>
                </a:solidFill>
                <a:latin typeface="Open Sans"/>
              </a:rPr>
              <a:t> goes.</a:t>
            </a:r>
          </a:p>
        </p:txBody>
      </p:sp>
      <p:sp>
        <p:nvSpPr>
          <p:cNvPr id="41" name="TextBox 40"/>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HOW AI SEARCH WORKS</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What Decides Whether an AI Names Komprise</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Three things. Only the first one is our own website.</a:t>
            </a:r>
          </a:p>
        </p:txBody>
      </p:sp>
      <p:sp>
        <p:nvSpPr>
          <p:cNvPr id="8" name="Rectangle 7"/>
          <p:cNvSpPr/>
          <p:nvPr/>
        </p:nvSpPr>
        <p:spPr>
          <a:xfrm>
            <a:off x="502920"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481328"/>
            <a:ext cx="3566160" cy="6400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58952" y="1755648"/>
            <a:ext cx="457200" cy="45720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1</a:t>
            </a:r>
          </a:p>
        </p:txBody>
      </p:sp>
      <p:sp>
        <p:nvSpPr>
          <p:cNvPr id="12" name="TextBox 11"/>
          <p:cNvSpPr txBox="1"/>
          <p:nvPr/>
        </p:nvSpPr>
        <p:spPr>
          <a:xfrm>
            <a:off x="758952" y="2377440"/>
            <a:ext cx="3063240" cy="232179"/>
          </a:xfrm>
          <a:prstGeom prst="rect">
            <a:avLst/>
          </a:prstGeom>
          <a:noFill/>
        </p:spPr>
        <p:txBody>
          <a:bodyPr wrap="square" lIns="0" tIns="0" rIns="0" bIns="0" anchor="t">
            <a:spAutoFit/>
          </a:bodyPr>
          <a:lstStyle/>
          <a:p>
            <a:pPr algn="l">
              <a:lnSpc>
                <a:spcPct val="115000"/>
              </a:lnSpc>
              <a:spcAft>
                <a:spcPts val="0"/>
              </a:spcAft>
            </a:pPr>
            <a:r>
              <a:rPr sz="1400" b="1" dirty="0">
                <a:solidFill>
                  <a:srgbClr val="59257B"/>
                </a:solidFill>
                <a:latin typeface="Open Sans"/>
              </a:rPr>
              <a:t>Be machine</a:t>
            </a:r>
            <a:r>
              <a:rPr lang="en-US" sz="1400" b="1" dirty="0">
                <a:solidFill>
                  <a:srgbClr val="59257B"/>
                </a:solidFill>
                <a:latin typeface="Open Sans"/>
              </a:rPr>
              <a:t> </a:t>
            </a:r>
            <a:r>
              <a:rPr sz="1400" b="1" dirty="0">
                <a:solidFill>
                  <a:srgbClr val="59257B"/>
                </a:solidFill>
                <a:latin typeface="Open Sans"/>
              </a:rPr>
              <a:t>readable</a:t>
            </a:r>
          </a:p>
        </p:txBody>
      </p:sp>
      <p:sp>
        <p:nvSpPr>
          <p:cNvPr id="13" name="TextBox 12"/>
          <p:cNvSpPr txBox="1"/>
          <p:nvPr/>
        </p:nvSpPr>
        <p:spPr>
          <a:xfrm>
            <a:off x="758952" y="2761488"/>
            <a:ext cx="3063240" cy="1114151"/>
          </a:xfrm>
          <a:prstGeom prst="rect">
            <a:avLst/>
          </a:prstGeom>
          <a:noFill/>
        </p:spPr>
        <p:txBody>
          <a:bodyPr wrap="square" lIns="0" tIns="0" rIns="0" bIns="0" anchor="t">
            <a:spAutoFit/>
          </a:bodyPr>
          <a:lstStyle/>
          <a:p>
            <a:pPr algn="l">
              <a:lnSpc>
                <a:spcPct val="128000"/>
              </a:lnSpc>
              <a:spcAft>
                <a:spcPts val="0"/>
              </a:spcAft>
            </a:pPr>
            <a:r>
              <a:rPr sz="1150" b="0" dirty="0">
                <a:solidFill>
                  <a:srgbClr val="595A5B"/>
                </a:solidFill>
                <a:latin typeface="Open Sans"/>
              </a:rPr>
              <a:t>AI crawlers read plain text and structured data. A </a:t>
            </a:r>
            <a:r>
              <a:rPr sz="1150" b="1" dirty="0">
                <a:solidFill>
                  <a:srgbClr val="595A5B"/>
                </a:solidFill>
                <a:latin typeface="Open Sans"/>
              </a:rPr>
              <a:t>page with no schema or one that blocks the crawler</a:t>
            </a:r>
            <a:r>
              <a:rPr sz="1150" b="0" dirty="0">
                <a:solidFill>
                  <a:srgbClr val="595A5B"/>
                </a:solidFill>
                <a:latin typeface="Open Sans"/>
              </a:rPr>
              <a:t>, effectively does not exist to the model, however good the writing is.</a:t>
            </a:r>
          </a:p>
        </p:txBody>
      </p:sp>
      <p:sp>
        <p:nvSpPr>
          <p:cNvPr id="14" name="Rectangle 13"/>
          <p:cNvSpPr/>
          <p:nvPr/>
        </p:nvSpPr>
        <p:spPr>
          <a:xfrm>
            <a:off x="758952"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4142232"/>
            <a:ext cx="2834640" cy="402336"/>
          </a:xfrm>
          <a:prstGeom prst="rect">
            <a:avLst/>
          </a:prstGeom>
          <a:noFill/>
        </p:spPr>
        <p:txBody>
          <a:bodyPr wrap="square" lIns="0" tIns="0" rIns="0" bIns="0" anchor="t">
            <a:spAutoFit/>
          </a:bodyPr>
          <a:lstStyle/>
          <a:p>
            <a:pPr algn="l">
              <a:lnSpc>
                <a:spcPct val="116000"/>
              </a:lnSpc>
              <a:spcAft>
                <a:spcPts val="0"/>
              </a:spcAft>
            </a:pPr>
            <a:r>
              <a:rPr sz="1000" b="1" dirty="0">
                <a:solidFill>
                  <a:srgbClr val="59257B"/>
                </a:solidFill>
                <a:latin typeface="Open Sans"/>
              </a:rPr>
              <a:t>Done: AI crawlers admitted, llms.txt rebuilt, FAQ schema added.</a:t>
            </a:r>
          </a:p>
        </p:txBody>
      </p:sp>
      <p:sp>
        <p:nvSpPr>
          <p:cNvPr id="16" name="Rectangle 15"/>
          <p:cNvSpPr/>
          <p:nvPr/>
        </p:nvSpPr>
        <p:spPr>
          <a:xfrm>
            <a:off x="4315968"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15968" y="1481328"/>
            <a:ext cx="3566160" cy="6400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572000" y="1755648"/>
            <a:ext cx="457200" cy="45720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0"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2</a:t>
            </a:r>
          </a:p>
        </p:txBody>
      </p:sp>
      <p:sp>
        <p:nvSpPr>
          <p:cNvPr id="20" name="TextBox 19"/>
          <p:cNvSpPr txBox="1"/>
          <p:nvPr/>
        </p:nvSpPr>
        <p:spPr>
          <a:xfrm>
            <a:off x="4572000" y="2377440"/>
            <a:ext cx="3063240" cy="310896"/>
          </a:xfrm>
          <a:prstGeom prst="rect">
            <a:avLst/>
          </a:prstGeom>
          <a:noFill/>
        </p:spPr>
        <p:txBody>
          <a:bodyPr wrap="square" lIns="0" tIns="0" rIns="0" bIns="0" anchor="t">
            <a:spAutoFit/>
          </a:bodyPr>
          <a:lstStyle/>
          <a:p>
            <a:pPr algn="l">
              <a:lnSpc>
                <a:spcPct val="115000"/>
              </a:lnSpc>
              <a:spcAft>
                <a:spcPts val="0"/>
              </a:spcAft>
            </a:pPr>
            <a:r>
              <a:rPr sz="1400" b="1">
                <a:solidFill>
                  <a:srgbClr val="59257B"/>
                </a:solidFill>
                <a:latin typeface="Open Sans"/>
              </a:rPr>
              <a:t>Be repeated</a:t>
            </a:r>
          </a:p>
        </p:txBody>
      </p:sp>
      <p:sp>
        <p:nvSpPr>
          <p:cNvPr id="21" name="TextBox 20"/>
          <p:cNvSpPr txBox="1"/>
          <p:nvPr/>
        </p:nvSpPr>
        <p:spPr>
          <a:xfrm>
            <a:off x="4572000" y="2761488"/>
            <a:ext cx="3063240" cy="1114151"/>
          </a:xfrm>
          <a:prstGeom prst="rect">
            <a:avLst/>
          </a:prstGeom>
          <a:noFill/>
        </p:spPr>
        <p:txBody>
          <a:bodyPr wrap="square" lIns="0" tIns="0" rIns="0" bIns="0" anchor="t">
            <a:spAutoFit/>
          </a:bodyPr>
          <a:lstStyle/>
          <a:p>
            <a:pPr algn="l">
              <a:lnSpc>
                <a:spcPct val="128000"/>
              </a:lnSpc>
              <a:spcAft>
                <a:spcPts val="0"/>
              </a:spcAft>
            </a:pPr>
            <a:r>
              <a:rPr sz="1150" b="0" dirty="0">
                <a:solidFill>
                  <a:srgbClr val="595A5B"/>
                </a:solidFill>
                <a:latin typeface="Open Sans"/>
              </a:rPr>
              <a:t>A model forms its view of a company from the same description </a:t>
            </a:r>
            <a:r>
              <a:rPr sz="1150" b="1" dirty="0">
                <a:solidFill>
                  <a:srgbClr val="595A5B"/>
                </a:solidFill>
                <a:latin typeface="Open Sans"/>
              </a:rPr>
              <a:t>repeated across many trusted sites</a:t>
            </a:r>
            <a:r>
              <a:rPr sz="1150" b="0" dirty="0">
                <a:solidFill>
                  <a:srgbClr val="595A5B"/>
                </a:solidFill>
                <a:latin typeface="Open Sans"/>
              </a:rPr>
              <a:t>. One excellent page cannot outweigh a hundred third-party sources that say something older.</a:t>
            </a:r>
          </a:p>
        </p:txBody>
      </p:sp>
      <p:sp>
        <p:nvSpPr>
          <p:cNvPr id="22" name="Rectangle 21"/>
          <p:cNvSpPr/>
          <p:nvPr/>
        </p:nvSpPr>
        <p:spPr>
          <a:xfrm>
            <a:off x="4572000"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00016" y="4142232"/>
            <a:ext cx="2834640" cy="402336"/>
          </a:xfrm>
          <a:prstGeom prst="rect">
            <a:avLst/>
          </a:prstGeom>
          <a:noFill/>
        </p:spPr>
        <p:txBody>
          <a:bodyPr wrap="square" lIns="0" tIns="0" rIns="0" bIns="0" anchor="t">
            <a:spAutoFit/>
          </a:bodyPr>
          <a:lstStyle/>
          <a:p>
            <a:pPr algn="l">
              <a:lnSpc>
                <a:spcPct val="116000"/>
              </a:lnSpc>
              <a:spcAft>
                <a:spcPts val="0"/>
              </a:spcAft>
            </a:pPr>
            <a:r>
              <a:rPr sz="1000" b="1">
                <a:solidFill>
                  <a:srgbClr val="59257B"/>
                </a:solidFill>
                <a:latin typeface="Open Sans"/>
              </a:rPr>
              <a:t>Done: one company description rolled out across third-party sites.</a:t>
            </a:r>
          </a:p>
        </p:txBody>
      </p:sp>
      <p:sp>
        <p:nvSpPr>
          <p:cNvPr id="24" name="Rectangle 23"/>
          <p:cNvSpPr/>
          <p:nvPr/>
        </p:nvSpPr>
        <p:spPr>
          <a:xfrm>
            <a:off x="8119872"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19872" y="1481328"/>
            <a:ext cx="3566160" cy="6400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375904" y="1755648"/>
            <a:ext cx="457200" cy="45720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75904"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3</a:t>
            </a:r>
          </a:p>
        </p:txBody>
      </p:sp>
      <p:sp>
        <p:nvSpPr>
          <p:cNvPr id="28" name="TextBox 27"/>
          <p:cNvSpPr txBox="1"/>
          <p:nvPr/>
        </p:nvSpPr>
        <p:spPr>
          <a:xfrm>
            <a:off x="8375904" y="2377440"/>
            <a:ext cx="3063240" cy="310896"/>
          </a:xfrm>
          <a:prstGeom prst="rect">
            <a:avLst/>
          </a:prstGeom>
          <a:noFill/>
        </p:spPr>
        <p:txBody>
          <a:bodyPr wrap="square" lIns="0" tIns="0" rIns="0" bIns="0" anchor="t">
            <a:spAutoFit/>
          </a:bodyPr>
          <a:lstStyle/>
          <a:p>
            <a:pPr algn="l">
              <a:lnSpc>
                <a:spcPct val="115000"/>
              </a:lnSpc>
              <a:spcAft>
                <a:spcPts val="0"/>
              </a:spcAft>
            </a:pPr>
            <a:r>
              <a:rPr sz="1400" b="1">
                <a:solidFill>
                  <a:srgbClr val="59257B"/>
                </a:solidFill>
                <a:latin typeface="Open Sans"/>
              </a:rPr>
              <a:t>Be named, not just cited</a:t>
            </a:r>
          </a:p>
        </p:txBody>
      </p:sp>
      <p:sp>
        <p:nvSpPr>
          <p:cNvPr id="29" name="TextBox 28"/>
          <p:cNvSpPr txBox="1"/>
          <p:nvPr/>
        </p:nvSpPr>
        <p:spPr>
          <a:xfrm>
            <a:off x="8375904" y="2761488"/>
            <a:ext cx="3063240" cy="1188720"/>
          </a:xfrm>
          <a:prstGeom prst="rect">
            <a:avLst/>
          </a:prstGeom>
          <a:noFill/>
        </p:spPr>
        <p:txBody>
          <a:bodyPr wrap="square" lIns="0" tIns="0" rIns="0" bIns="0" anchor="t">
            <a:spAutoFit/>
          </a:bodyPr>
          <a:lstStyle/>
          <a:p>
            <a:pPr algn="l">
              <a:lnSpc>
                <a:spcPct val="128000"/>
              </a:lnSpc>
              <a:spcAft>
                <a:spcPts val="0"/>
              </a:spcAft>
            </a:pPr>
            <a:r>
              <a:rPr sz="1150" b="0">
                <a:solidFill>
                  <a:srgbClr val="595A5B"/>
                </a:solidFill>
                <a:latin typeface="Open Sans"/>
              </a:rPr>
              <a:t>A citation is a link inside the answer. A mention is the model actually saying “Komprise”. Citations follow good content. Mentions follow earned coverage: analysts, press and independent authority.</a:t>
            </a:r>
          </a:p>
        </p:txBody>
      </p:sp>
      <p:sp>
        <p:nvSpPr>
          <p:cNvPr id="30" name="Rectangle 29"/>
          <p:cNvSpPr/>
          <p:nvPr/>
        </p:nvSpPr>
        <p:spPr>
          <a:xfrm>
            <a:off x="8375904"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03920" y="4142232"/>
            <a:ext cx="2834640" cy="402336"/>
          </a:xfrm>
          <a:prstGeom prst="rect">
            <a:avLst/>
          </a:prstGeom>
          <a:noFill/>
        </p:spPr>
        <p:txBody>
          <a:bodyPr wrap="square" lIns="0" tIns="0" rIns="0" bIns="0" anchor="t">
            <a:spAutoFit/>
          </a:bodyPr>
          <a:lstStyle/>
          <a:p>
            <a:pPr algn="l">
              <a:lnSpc>
                <a:spcPct val="116000"/>
              </a:lnSpc>
              <a:spcAft>
                <a:spcPts val="0"/>
              </a:spcAft>
            </a:pPr>
            <a:r>
              <a:rPr sz="1000" b="1">
                <a:solidFill>
                  <a:srgbClr val="59257B"/>
                </a:solidFill>
                <a:latin typeface="Open Sans"/>
              </a:rPr>
              <a:t>In progress: building the coverage that earns mentions.</a:t>
            </a:r>
          </a:p>
        </p:txBody>
      </p:sp>
      <p:sp>
        <p:nvSpPr>
          <p:cNvPr id="32" name="Rectangle 31"/>
          <p:cNvSpPr/>
          <p:nvPr/>
        </p:nvSpPr>
        <p:spPr>
          <a:xfrm>
            <a:off x="502920" y="5029200"/>
            <a:ext cx="11183112" cy="117043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5029200"/>
            <a:ext cx="54864" cy="117043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9808" y="5230368"/>
            <a:ext cx="10789920" cy="914400"/>
          </a:xfrm>
          <a:prstGeom prst="rect">
            <a:avLst/>
          </a:prstGeom>
          <a:noFill/>
        </p:spPr>
        <p:txBody>
          <a:bodyPr wrap="square" lIns="0" tIns="0" rIns="0" bIns="0" anchor="t">
            <a:spAutoFit/>
          </a:bodyPr>
          <a:lstStyle/>
          <a:p>
            <a:pPr algn="l">
              <a:lnSpc>
                <a:spcPct val="115000"/>
              </a:lnSpc>
              <a:spcAft>
                <a:spcPts val="600"/>
              </a:spcAft>
            </a:pPr>
            <a:r>
              <a:rPr sz="1250" b="1" dirty="0">
                <a:solidFill>
                  <a:srgbClr val="59257B"/>
                </a:solidFill>
                <a:latin typeface="Open Sans"/>
              </a:rPr>
              <a:t>What this looks like in practice</a:t>
            </a:r>
          </a:p>
          <a:p>
            <a:pPr algn="l">
              <a:lnSpc>
                <a:spcPct val="125000"/>
              </a:lnSpc>
              <a:spcAft>
                <a:spcPts val="0"/>
              </a:spcAft>
            </a:pPr>
            <a:r>
              <a:rPr sz="1100" b="0" dirty="0">
                <a:solidFill>
                  <a:srgbClr val="595A5B"/>
                </a:solidFill>
                <a:latin typeface="Open Sans"/>
              </a:rPr>
              <a:t>In July we asked ChatGPT “How to address rising enterprise storage costs, please cite sources.” It answered with Microsoft Learn, AWS, TechTarget and an academic paper. No vendor content at all, including ours, even though Komprise has strong well</a:t>
            </a:r>
            <a:r>
              <a:rPr lang="en-US" sz="1100" dirty="0">
                <a:solidFill>
                  <a:srgbClr val="595A5B"/>
                </a:solidFill>
                <a:latin typeface="Open Sans"/>
              </a:rPr>
              <a:t> </a:t>
            </a:r>
            <a:r>
              <a:rPr sz="1100" b="0" dirty="0">
                <a:solidFill>
                  <a:srgbClr val="595A5B"/>
                </a:solidFill>
                <a:latin typeface="Open Sans"/>
              </a:rPr>
              <a:t>sourced pages on exactly that question. When a buyer asks for sources, the model reaches for independent publications over any vendor. That single </a:t>
            </a:r>
            <a:r>
              <a:rPr sz="1100" b="0" dirty="0" err="1">
                <a:solidFill>
                  <a:srgbClr val="595A5B"/>
                </a:solidFill>
                <a:latin typeface="Open Sans"/>
              </a:rPr>
              <a:t>behaviour</a:t>
            </a:r>
            <a:r>
              <a:rPr sz="1100" b="0" dirty="0">
                <a:solidFill>
                  <a:srgbClr val="595A5B"/>
                </a:solidFill>
                <a:latin typeface="Open Sans"/>
              </a:rPr>
              <a:t> is why the next lever is third</a:t>
            </a:r>
            <a:r>
              <a:rPr lang="en-US" sz="1100" b="0" dirty="0">
                <a:solidFill>
                  <a:srgbClr val="595A5B"/>
                </a:solidFill>
                <a:latin typeface="Open Sans"/>
              </a:rPr>
              <a:t> </a:t>
            </a:r>
            <a:r>
              <a:rPr sz="1100" b="0" dirty="0">
                <a:solidFill>
                  <a:srgbClr val="595A5B"/>
                </a:solidFill>
                <a:latin typeface="Open Sans"/>
              </a:rPr>
              <a:t>party placement rather than more pages.</a:t>
            </a:r>
          </a:p>
        </p:txBody>
      </p:sp>
      <p:sp>
        <p:nvSpPr>
          <p:cNvPr id="36" name="TextBox 3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WHAT WE DID</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Changing How We Are Described</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Content and technical work </a:t>
            </a:r>
            <a:r>
              <a:rPr lang="en-US" sz="1250" b="0" dirty="0">
                <a:solidFill>
                  <a:srgbClr val="595A5B"/>
                </a:solidFill>
                <a:latin typeface="Open Sans"/>
              </a:rPr>
              <a:t>done in Q2</a:t>
            </a:r>
            <a:endParaRPr sz="1250" b="0" dirty="0">
              <a:solidFill>
                <a:srgbClr val="595A5B"/>
              </a:solidFill>
              <a:latin typeface="Open Sans"/>
            </a:endParaRPr>
          </a:p>
        </p:txBody>
      </p:sp>
      <p:sp>
        <p:nvSpPr>
          <p:cNvPr id="8" name="Rectangle 7"/>
          <p:cNvSpPr/>
          <p:nvPr/>
        </p:nvSpPr>
        <p:spPr>
          <a:xfrm>
            <a:off x="502920" y="1481328"/>
            <a:ext cx="5504688"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549908"/>
            <a:ext cx="521208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FFFFFF"/>
                </a:solidFill>
                <a:latin typeface="Open Sans"/>
              </a:rPr>
              <a:t>CONTENT  ·  CLAIMING THE </a:t>
            </a:r>
            <a:r>
              <a:rPr lang="en-US" sz="1200" b="1" dirty="0">
                <a:solidFill>
                  <a:srgbClr val="FFFFFF"/>
                </a:solidFill>
                <a:latin typeface="Open Sans"/>
              </a:rPr>
              <a:t>BRAND</a:t>
            </a:r>
            <a:endParaRPr sz="1200" b="1" dirty="0">
              <a:solidFill>
                <a:srgbClr val="FFFFFF"/>
              </a:solidFill>
              <a:latin typeface="Open Sans"/>
            </a:endParaRPr>
          </a:p>
        </p:txBody>
      </p:sp>
      <p:sp>
        <p:nvSpPr>
          <p:cNvPr id="10" name="Rectangle 9"/>
          <p:cNvSpPr/>
          <p:nvPr/>
        </p:nvSpPr>
        <p:spPr>
          <a:xfrm>
            <a:off x="6181344" y="1481328"/>
            <a:ext cx="5504688"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45936" y="1549908"/>
            <a:ext cx="521208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FFFFFF"/>
                </a:solidFill>
                <a:latin typeface="Open Sans"/>
              </a:rPr>
              <a:t>TECHNICAL  ·  MAKING IT READABLE</a:t>
            </a:r>
            <a:r>
              <a:rPr lang="en-US" sz="1200" b="1" dirty="0">
                <a:solidFill>
                  <a:srgbClr val="FFFFFF"/>
                </a:solidFill>
                <a:latin typeface="Open Sans"/>
              </a:rPr>
              <a:t> BY LLMs</a:t>
            </a:r>
            <a:endParaRPr sz="1200" b="1" dirty="0">
              <a:solidFill>
                <a:srgbClr val="FFFFFF"/>
              </a:solidFill>
              <a:latin typeface="Open Sans"/>
            </a:endParaRPr>
          </a:p>
        </p:txBody>
      </p:sp>
      <p:sp>
        <p:nvSpPr>
          <p:cNvPr id="12" name="Rectangle 11"/>
          <p:cNvSpPr/>
          <p:nvPr/>
        </p:nvSpPr>
        <p:spPr>
          <a:xfrm>
            <a:off x="530352" y="2011680"/>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1929384"/>
            <a:ext cx="5120640" cy="576825"/>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More than </a:t>
            </a:r>
            <a:r>
              <a:rPr sz="1050" b="1" dirty="0">
                <a:solidFill>
                  <a:srgbClr val="262428"/>
                </a:solidFill>
                <a:latin typeface="Open Sans"/>
              </a:rPr>
              <a:t>20 new AI glossary</a:t>
            </a:r>
            <a:r>
              <a:rPr sz="1050" b="0" dirty="0">
                <a:solidFill>
                  <a:srgbClr val="262428"/>
                </a:solidFill>
                <a:latin typeface="Open Sans"/>
              </a:rPr>
              <a:t> </a:t>
            </a:r>
            <a:r>
              <a:rPr sz="1050" b="1" dirty="0">
                <a:solidFill>
                  <a:srgbClr val="262428"/>
                </a:solidFill>
                <a:latin typeface="Open Sans"/>
              </a:rPr>
              <a:t>pages</a:t>
            </a:r>
            <a:r>
              <a:rPr sz="1050" b="0" dirty="0">
                <a:solidFill>
                  <a:srgbClr val="262428"/>
                </a:solidFill>
                <a:latin typeface="Open Sans"/>
              </a:rPr>
              <a:t> published to claim the language buyers and models use: AI Data Platform, AI</a:t>
            </a:r>
            <a:r>
              <a:rPr lang="en-US" sz="1050" b="0" dirty="0">
                <a:solidFill>
                  <a:srgbClr val="262428"/>
                </a:solidFill>
                <a:latin typeface="Open Sans"/>
              </a:rPr>
              <a:t> </a:t>
            </a:r>
            <a:r>
              <a:rPr sz="1050" b="0" dirty="0">
                <a:solidFill>
                  <a:srgbClr val="262428"/>
                </a:solidFill>
                <a:latin typeface="Open Sans"/>
              </a:rPr>
              <a:t>Ready Data, AI Data Ingestion, AI Data Curation, Vector Embeddings, Synthetic Data, AI Token and Tokenization.</a:t>
            </a:r>
          </a:p>
        </p:txBody>
      </p:sp>
      <p:sp>
        <p:nvSpPr>
          <p:cNvPr id="14" name="Rectangle 13"/>
          <p:cNvSpPr/>
          <p:nvPr/>
        </p:nvSpPr>
        <p:spPr>
          <a:xfrm>
            <a:off x="530352" y="271547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8096" y="2633178"/>
            <a:ext cx="5120640" cy="379719"/>
          </a:xfrm>
          <a:prstGeom prst="rect">
            <a:avLst/>
          </a:prstGeom>
          <a:noFill/>
        </p:spPr>
        <p:txBody>
          <a:bodyPr wrap="square" lIns="0" tIns="0" rIns="0" bIns="0" anchor="t">
            <a:spAutoFit/>
          </a:bodyPr>
          <a:lstStyle/>
          <a:p>
            <a:pPr algn="l">
              <a:lnSpc>
                <a:spcPct val="122000"/>
              </a:lnSpc>
              <a:spcAft>
                <a:spcPts val="0"/>
              </a:spcAft>
            </a:pPr>
            <a:r>
              <a:rPr sz="1050" b="1" dirty="0" err="1">
                <a:solidFill>
                  <a:srgbClr val="262428"/>
                </a:solidFill>
                <a:latin typeface="Open Sans"/>
              </a:rPr>
              <a:t>Memflation</a:t>
            </a:r>
            <a:r>
              <a:rPr sz="1050" b="1" dirty="0">
                <a:solidFill>
                  <a:srgbClr val="262428"/>
                </a:solidFill>
                <a:latin typeface="Open Sans"/>
              </a:rPr>
              <a:t> and flash</a:t>
            </a:r>
            <a:r>
              <a:rPr lang="en-US" sz="1050" b="1" dirty="0">
                <a:solidFill>
                  <a:srgbClr val="262428"/>
                </a:solidFill>
                <a:latin typeface="Open Sans"/>
              </a:rPr>
              <a:t> </a:t>
            </a:r>
            <a:r>
              <a:rPr sz="1050" b="1" dirty="0">
                <a:solidFill>
                  <a:srgbClr val="262428"/>
                </a:solidFill>
                <a:latin typeface="Open Sans"/>
              </a:rPr>
              <a:t>pricing </a:t>
            </a:r>
            <a:r>
              <a:rPr sz="1050" b="0" dirty="0">
                <a:solidFill>
                  <a:srgbClr val="262428"/>
                </a:solidFill>
                <a:latin typeface="Open Sans"/>
              </a:rPr>
              <a:t>pages created to meet buyers searching on storage price rises rather than product names.</a:t>
            </a:r>
          </a:p>
        </p:txBody>
      </p:sp>
      <p:sp>
        <p:nvSpPr>
          <p:cNvPr id="16" name="Rectangle 15"/>
          <p:cNvSpPr/>
          <p:nvPr/>
        </p:nvSpPr>
        <p:spPr>
          <a:xfrm>
            <a:off x="530352" y="330983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 y="3227538"/>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Homepage hero and product page</a:t>
            </a:r>
            <a:r>
              <a:rPr sz="1050" b="0" dirty="0">
                <a:solidFill>
                  <a:srgbClr val="262428"/>
                </a:solidFill>
                <a:latin typeface="Open Sans"/>
              </a:rPr>
              <a:t> titles reframed to lead with AI readiness, with the 70% cost saving moved to a supporting proof point.</a:t>
            </a:r>
          </a:p>
        </p:txBody>
      </p:sp>
      <p:sp>
        <p:nvSpPr>
          <p:cNvPr id="18" name="Rectangle 17"/>
          <p:cNvSpPr/>
          <p:nvPr/>
        </p:nvSpPr>
        <p:spPr>
          <a:xfrm>
            <a:off x="530352" y="4091646"/>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 y="4009350"/>
            <a:ext cx="5120640" cy="379719"/>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Transparent File Tables launched with a </a:t>
            </a:r>
            <a:r>
              <a:rPr sz="1050" b="1" dirty="0">
                <a:solidFill>
                  <a:srgbClr val="262428"/>
                </a:solidFill>
                <a:latin typeface="Open Sans"/>
              </a:rPr>
              <a:t>product page, demo page, interview and press coverage.</a:t>
            </a:r>
          </a:p>
        </p:txBody>
      </p:sp>
      <p:sp>
        <p:nvSpPr>
          <p:cNvPr id="20" name="Rectangle 19"/>
          <p:cNvSpPr/>
          <p:nvPr/>
        </p:nvSpPr>
        <p:spPr>
          <a:xfrm>
            <a:off x="530352" y="4686006"/>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4603710"/>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AI</a:t>
            </a:r>
            <a:r>
              <a:rPr lang="en-US" sz="1050" b="1" dirty="0">
                <a:solidFill>
                  <a:srgbClr val="262428"/>
                </a:solidFill>
                <a:latin typeface="Open Sans"/>
              </a:rPr>
              <a:t> </a:t>
            </a:r>
            <a:r>
              <a:rPr sz="1050" b="1" dirty="0">
                <a:solidFill>
                  <a:srgbClr val="262428"/>
                </a:solidFill>
                <a:latin typeface="Open Sans"/>
              </a:rPr>
              <a:t>pipeline explainer content </a:t>
            </a:r>
            <a:r>
              <a:rPr sz="1050" b="0" dirty="0">
                <a:solidFill>
                  <a:srgbClr val="262428"/>
                </a:solidFill>
                <a:latin typeface="Open Sans"/>
              </a:rPr>
              <a:t>published and comparison tables added across the glossary.</a:t>
            </a:r>
          </a:p>
        </p:txBody>
      </p:sp>
      <p:sp>
        <p:nvSpPr>
          <p:cNvPr id="22" name="Rectangle 21"/>
          <p:cNvSpPr/>
          <p:nvPr/>
        </p:nvSpPr>
        <p:spPr>
          <a:xfrm>
            <a:off x="6208776" y="201168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929384"/>
            <a:ext cx="5120640" cy="182614"/>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Full audit of all </a:t>
            </a:r>
            <a:r>
              <a:rPr sz="1050" b="1" dirty="0">
                <a:solidFill>
                  <a:srgbClr val="262428"/>
                </a:solidFill>
                <a:latin typeface="Open Sans"/>
              </a:rPr>
              <a:t>1,433 site URLs</a:t>
            </a:r>
            <a:r>
              <a:rPr sz="1050" b="0" dirty="0">
                <a:solidFill>
                  <a:srgbClr val="262428"/>
                </a:solidFill>
                <a:latin typeface="Open Sans"/>
              </a:rPr>
              <a:t>, separating copy fixes from </a:t>
            </a:r>
            <a:r>
              <a:rPr lang="en-US" sz="1050" b="0" dirty="0">
                <a:solidFill>
                  <a:srgbClr val="262428"/>
                </a:solidFill>
                <a:latin typeface="Open Sans"/>
              </a:rPr>
              <a:t>code</a:t>
            </a:r>
            <a:r>
              <a:rPr sz="1050" b="0" dirty="0">
                <a:solidFill>
                  <a:srgbClr val="262428"/>
                </a:solidFill>
                <a:latin typeface="Open Sans"/>
              </a:rPr>
              <a:t> fixes.</a:t>
            </a:r>
          </a:p>
        </p:txBody>
      </p:sp>
      <p:sp>
        <p:nvSpPr>
          <p:cNvPr id="24" name="Rectangle 23"/>
          <p:cNvSpPr/>
          <p:nvPr/>
        </p:nvSpPr>
        <p:spPr>
          <a:xfrm>
            <a:off x="6208776" y="260604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252374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AI crawlers explicitly admitted in robots.txt</a:t>
            </a:r>
            <a:r>
              <a:rPr sz="1050" b="0" dirty="0">
                <a:solidFill>
                  <a:srgbClr val="262428"/>
                </a:solidFill>
                <a:latin typeface="Open Sans"/>
              </a:rPr>
              <a:t>. Two major </a:t>
            </a:r>
            <a:r>
              <a:rPr lang="en-US" sz="1050" b="0" dirty="0">
                <a:solidFill>
                  <a:srgbClr val="262428"/>
                </a:solidFill>
                <a:latin typeface="Open Sans"/>
              </a:rPr>
              <a:t>crawlers</a:t>
            </a:r>
            <a:r>
              <a:rPr sz="1050" b="0" dirty="0">
                <a:solidFill>
                  <a:srgbClr val="262428"/>
                </a:solidFill>
                <a:latin typeface="Open Sans"/>
              </a:rPr>
              <a:t> previously could not read the site at all</a:t>
            </a:r>
            <a:r>
              <a:rPr lang="en-US" sz="1050" b="0" dirty="0">
                <a:solidFill>
                  <a:srgbClr val="262428"/>
                </a:solidFill>
                <a:latin typeface="Open Sans"/>
              </a:rPr>
              <a:t> in Q1</a:t>
            </a:r>
            <a:r>
              <a:rPr sz="1050" b="0" dirty="0">
                <a:solidFill>
                  <a:srgbClr val="262428"/>
                </a:solidFill>
                <a:latin typeface="Open Sans"/>
              </a:rPr>
              <a:t>.</a:t>
            </a:r>
          </a:p>
        </p:txBody>
      </p:sp>
      <p:sp>
        <p:nvSpPr>
          <p:cNvPr id="26" name="Rectangle 25"/>
          <p:cNvSpPr/>
          <p:nvPr/>
        </p:nvSpPr>
        <p:spPr>
          <a:xfrm>
            <a:off x="6208776" y="320040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311810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llms.txt </a:t>
            </a:r>
            <a:r>
              <a:rPr sz="1050" b="0" dirty="0">
                <a:solidFill>
                  <a:srgbClr val="262428"/>
                </a:solidFill>
                <a:latin typeface="Open Sans"/>
              </a:rPr>
              <a:t>rebuilt and repointed </a:t>
            </a:r>
            <a:r>
              <a:rPr sz="1050" b="1" dirty="0">
                <a:solidFill>
                  <a:srgbClr val="262428"/>
                </a:solidFill>
                <a:latin typeface="Open Sans"/>
              </a:rPr>
              <a:t>away from cost</a:t>
            </a:r>
            <a:r>
              <a:rPr lang="en-US" sz="1050" b="1" dirty="0">
                <a:solidFill>
                  <a:srgbClr val="262428"/>
                </a:solidFill>
                <a:latin typeface="Open Sans"/>
              </a:rPr>
              <a:t> </a:t>
            </a:r>
            <a:r>
              <a:rPr sz="1050" b="1" dirty="0">
                <a:solidFill>
                  <a:srgbClr val="262428"/>
                </a:solidFill>
                <a:latin typeface="Open Sans"/>
              </a:rPr>
              <a:t>led framing </a:t>
            </a:r>
            <a:r>
              <a:rPr sz="1050" b="0" dirty="0">
                <a:solidFill>
                  <a:srgbClr val="262428"/>
                </a:solidFill>
                <a:latin typeface="Open Sans"/>
              </a:rPr>
              <a:t>to current section indexes.</a:t>
            </a:r>
          </a:p>
        </p:txBody>
      </p:sp>
      <p:sp>
        <p:nvSpPr>
          <p:cNvPr id="28" name="Rectangle 27"/>
          <p:cNvSpPr/>
          <p:nvPr/>
        </p:nvSpPr>
        <p:spPr>
          <a:xfrm>
            <a:off x="6208776" y="3794759"/>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3712463"/>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FAQ and structured </a:t>
            </a:r>
            <a:r>
              <a:rPr lang="en-US" sz="1050" b="1" dirty="0">
                <a:solidFill>
                  <a:srgbClr val="262428"/>
                </a:solidFill>
                <a:latin typeface="Open Sans"/>
              </a:rPr>
              <a:t>schema</a:t>
            </a:r>
            <a:r>
              <a:rPr sz="1050" b="1" dirty="0">
                <a:solidFill>
                  <a:srgbClr val="262428"/>
                </a:solidFill>
                <a:latin typeface="Open Sans"/>
              </a:rPr>
              <a:t> </a:t>
            </a:r>
            <a:r>
              <a:rPr sz="1050" b="0" dirty="0">
                <a:solidFill>
                  <a:srgbClr val="262428"/>
                </a:solidFill>
                <a:latin typeface="Open Sans"/>
              </a:rPr>
              <a:t>added across the Flash Stretch page, blog posts and glossary terms.</a:t>
            </a:r>
          </a:p>
        </p:txBody>
      </p:sp>
      <p:sp>
        <p:nvSpPr>
          <p:cNvPr id="30" name="Rectangle 29"/>
          <p:cNvSpPr/>
          <p:nvPr/>
        </p:nvSpPr>
        <p:spPr>
          <a:xfrm>
            <a:off x="6208776" y="438912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30682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Canonical repair </a:t>
            </a:r>
            <a:r>
              <a:rPr sz="1050" b="0" dirty="0">
                <a:solidFill>
                  <a:srgbClr val="262428"/>
                </a:solidFill>
                <a:latin typeface="Open Sans"/>
              </a:rPr>
              <a:t>on 20 new AI glossary pages that were pointing crawlers at broken URLs.</a:t>
            </a:r>
          </a:p>
        </p:txBody>
      </p:sp>
      <p:sp>
        <p:nvSpPr>
          <p:cNvPr id="32" name="Rectangle 31"/>
          <p:cNvSpPr/>
          <p:nvPr/>
        </p:nvSpPr>
        <p:spPr>
          <a:xfrm>
            <a:off x="6208776" y="498348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4901184"/>
            <a:ext cx="5120640" cy="379719"/>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Legacy cost</a:t>
            </a:r>
            <a:r>
              <a:rPr lang="en-US" sz="1050" b="0" dirty="0">
                <a:solidFill>
                  <a:srgbClr val="262428"/>
                </a:solidFill>
                <a:latin typeface="Open Sans"/>
              </a:rPr>
              <a:t> </a:t>
            </a:r>
            <a:r>
              <a:rPr sz="1050" b="0" dirty="0">
                <a:solidFill>
                  <a:srgbClr val="262428"/>
                </a:solidFill>
                <a:latin typeface="Open Sans"/>
              </a:rPr>
              <a:t>led meta template retired from 58 pages. </a:t>
            </a:r>
            <a:r>
              <a:rPr sz="1050" b="1" dirty="0">
                <a:solidFill>
                  <a:srgbClr val="262428"/>
                </a:solidFill>
                <a:latin typeface="Open Sans"/>
              </a:rPr>
              <a:t>Duplicate blog index resolved and sitemap cleaned.</a:t>
            </a:r>
          </a:p>
        </p:txBody>
      </p:sp>
      <p:sp>
        <p:nvSpPr>
          <p:cNvPr id="34" name="Rectangle 33"/>
          <p:cNvSpPr/>
          <p:nvPr/>
        </p:nvSpPr>
        <p:spPr>
          <a:xfrm>
            <a:off x="502920" y="5624642"/>
            <a:ext cx="11183112"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2920" y="5624642"/>
            <a:ext cx="54864" cy="56692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5743514"/>
            <a:ext cx="10789920" cy="384048"/>
          </a:xfrm>
          <a:prstGeom prst="rect">
            <a:avLst/>
          </a:prstGeom>
          <a:noFill/>
        </p:spPr>
        <p:txBody>
          <a:bodyPr wrap="square" lIns="0" tIns="0" rIns="0" bIns="0" anchor="t">
            <a:spAutoFit/>
          </a:bodyPr>
          <a:lstStyle/>
          <a:p>
            <a:pPr algn="l">
              <a:lnSpc>
                <a:spcPct val="120000"/>
              </a:lnSpc>
              <a:spcAft>
                <a:spcPts val="0"/>
              </a:spcAft>
            </a:pPr>
            <a:r>
              <a:rPr sz="1100" b="1" dirty="0">
                <a:solidFill>
                  <a:srgbClr val="59257B"/>
                </a:solidFill>
                <a:latin typeface="Open Sans"/>
              </a:rPr>
              <a:t>Early proof it works: product names Komprise deliberately repeated across trusted sites, Transparent Move Technology and Global </a:t>
            </a:r>
            <a:r>
              <a:rPr sz="1100" b="1" dirty="0" err="1">
                <a:solidFill>
                  <a:srgbClr val="59257B"/>
                </a:solidFill>
                <a:latin typeface="Open Sans"/>
              </a:rPr>
              <a:t>Metadatabase</a:t>
            </a:r>
            <a:r>
              <a:rPr sz="1100" b="1" dirty="0">
                <a:solidFill>
                  <a:srgbClr val="59257B"/>
                </a:solidFill>
                <a:latin typeface="Open Sans"/>
              </a:rPr>
              <a:t>, are now being repeated back by AI assistants, unprompted.</a:t>
            </a:r>
          </a:p>
        </p:txBody>
      </p:sp>
      <p:sp>
        <p:nvSpPr>
          <p:cNvPr id="38" name="TextBox 37"/>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9FC406"/>
                </a:solidFill>
                <a:latin typeface="Open Sans"/>
              </a:rPr>
              <a:t>THE RESULT</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Are We the Answer or Not?</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Whether Komprise appears inside </a:t>
            </a:r>
            <a:r>
              <a:rPr sz="1250" b="1" dirty="0">
                <a:solidFill>
                  <a:srgbClr val="59257B"/>
                </a:solidFill>
                <a:latin typeface="Open Sans"/>
              </a:rPr>
              <a:t>Google's AI </a:t>
            </a:r>
            <a:r>
              <a:rPr sz="1250" b="0" dirty="0">
                <a:solidFill>
                  <a:srgbClr val="595A5B"/>
                </a:solidFill>
                <a:latin typeface="Open Sans"/>
              </a:rPr>
              <a:t>answer</a:t>
            </a:r>
          </a:p>
        </p:txBody>
      </p:sp>
      <p:sp>
        <p:nvSpPr>
          <p:cNvPr id="112" name="TextBox 11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5</a:t>
            </a:r>
          </a:p>
        </p:txBody>
      </p:sp>
      <p:sp>
        <p:nvSpPr>
          <p:cNvPr id="113" name="Rectangle 112"/>
          <p:cNvSpPr/>
          <p:nvPr/>
        </p:nvSpPr>
        <p:spPr>
          <a:xfrm>
            <a:off x="502920" y="1481328"/>
            <a:ext cx="3602736"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67512"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AI-READY DATA</a:t>
            </a:r>
          </a:p>
        </p:txBody>
      </p:sp>
      <p:sp>
        <p:nvSpPr>
          <p:cNvPr id="115" name="Rectangle 114"/>
          <p:cNvSpPr/>
          <p:nvPr/>
        </p:nvSpPr>
        <p:spPr>
          <a:xfrm>
            <a:off x="502920"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02920"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58368" y="2039112"/>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ai data ingestion</a:t>
            </a:r>
          </a:p>
        </p:txBody>
      </p:sp>
      <p:sp>
        <p:nvSpPr>
          <p:cNvPr id="118" name="Rounded Rectangle 117"/>
          <p:cNvSpPr/>
          <p:nvPr/>
        </p:nvSpPr>
        <p:spPr>
          <a:xfrm>
            <a:off x="2423160" y="2011680"/>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423160" y="204368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120" name="TextBox 119"/>
          <p:cNvSpPr txBox="1"/>
          <p:nvPr/>
        </p:nvSpPr>
        <p:spPr>
          <a:xfrm>
            <a:off x="3429000" y="2039112"/>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21" name="Rectangle 120"/>
          <p:cNvSpPr/>
          <p:nvPr/>
        </p:nvSpPr>
        <p:spPr>
          <a:xfrm>
            <a:off x="502920"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02920"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58368" y="2459736"/>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unstructured data mgmt</a:t>
            </a:r>
          </a:p>
        </p:txBody>
      </p:sp>
      <p:sp>
        <p:nvSpPr>
          <p:cNvPr id="124" name="Rounded Rectangle 123"/>
          <p:cNvSpPr/>
          <p:nvPr/>
        </p:nvSpPr>
        <p:spPr>
          <a:xfrm>
            <a:off x="2423160" y="2432304"/>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423160" y="246430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126" name="TextBox 125"/>
          <p:cNvSpPr txBox="1"/>
          <p:nvPr/>
        </p:nvSpPr>
        <p:spPr>
          <a:xfrm>
            <a:off x="3429000" y="2459736"/>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27" name="Rectangle 126"/>
          <p:cNvSpPr/>
          <p:nvPr/>
        </p:nvSpPr>
        <p:spPr>
          <a:xfrm>
            <a:off x="502920" y="2779776"/>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02920"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58368" y="2880360"/>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ai data leakage</a:t>
            </a:r>
          </a:p>
        </p:txBody>
      </p:sp>
      <p:sp>
        <p:nvSpPr>
          <p:cNvPr id="130" name="Rounded Rectangle 129"/>
          <p:cNvSpPr/>
          <p:nvPr/>
        </p:nvSpPr>
        <p:spPr>
          <a:xfrm>
            <a:off x="2423160" y="2852928"/>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423160" y="288493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132" name="TextBox 131"/>
          <p:cNvSpPr txBox="1"/>
          <p:nvPr/>
        </p:nvSpPr>
        <p:spPr>
          <a:xfrm>
            <a:off x="3429000" y="2880360"/>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33" name="Rectangle 132"/>
          <p:cNvSpPr/>
          <p:nvPr/>
        </p:nvSpPr>
        <p:spPr>
          <a:xfrm>
            <a:off x="502920" y="3200400"/>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02920" y="3200400"/>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58368" y="3300984"/>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curation</a:t>
            </a:r>
          </a:p>
        </p:txBody>
      </p:sp>
      <p:sp>
        <p:nvSpPr>
          <p:cNvPr id="136" name="Rounded Rectangle 135"/>
          <p:cNvSpPr/>
          <p:nvPr/>
        </p:nvSpPr>
        <p:spPr>
          <a:xfrm>
            <a:off x="2423160" y="3273552"/>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423160" y="3305556"/>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38" name="TextBox 137"/>
          <p:cNvSpPr txBox="1"/>
          <p:nvPr/>
        </p:nvSpPr>
        <p:spPr>
          <a:xfrm>
            <a:off x="3429000" y="3300984"/>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#4</a:t>
            </a:r>
          </a:p>
        </p:txBody>
      </p:sp>
      <p:sp>
        <p:nvSpPr>
          <p:cNvPr id="139" name="Rectangle 138"/>
          <p:cNvSpPr/>
          <p:nvPr/>
        </p:nvSpPr>
        <p:spPr>
          <a:xfrm>
            <a:off x="502920" y="3621024"/>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02920" y="3621024"/>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58368" y="3721608"/>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management</a:t>
            </a:r>
          </a:p>
        </p:txBody>
      </p:sp>
      <p:sp>
        <p:nvSpPr>
          <p:cNvPr id="142" name="Rounded Rectangle 141"/>
          <p:cNvSpPr/>
          <p:nvPr/>
        </p:nvSpPr>
        <p:spPr>
          <a:xfrm>
            <a:off x="2423160" y="3694176"/>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423160" y="3726180"/>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44" name="TextBox 143"/>
          <p:cNvSpPr txBox="1"/>
          <p:nvPr/>
        </p:nvSpPr>
        <p:spPr>
          <a:xfrm>
            <a:off x="3429000" y="3721608"/>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#15</a:t>
            </a:r>
          </a:p>
        </p:txBody>
      </p:sp>
      <p:sp>
        <p:nvSpPr>
          <p:cNvPr id="145" name="Rectangle 144"/>
          <p:cNvSpPr/>
          <p:nvPr/>
        </p:nvSpPr>
        <p:spPr>
          <a:xfrm>
            <a:off x="502920" y="4041648"/>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02920" y="4041648"/>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58368" y="4142232"/>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platform</a:t>
            </a:r>
          </a:p>
        </p:txBody>
      </p:sp>
      <p:sp>
        <p:nvSpPr>
          <p:cNvPr id="148" name="Rounded Rectangle 147"/>
          <p:cNvSpPr/>
          <p:nvPr/>
        </p:nvSpPr>
        <p:spPr>
          <a:xfrm>
            <a:off x="2423160" y="4114800"/>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423160" y="414680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50" name="TextBox 149"/>
          <p:cNvSpPr txBox="1"/>
          <p:nvPr/>
        </p:nvSpPr>
        <p:spPr>
          <a:xfrm>
            <a:off x="3429000" y="4142232"/>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#10</a:t>
            </a:r>
          </a:p>
        </p:txBody>
      </p:sp>
      <p:sp>
        <p:nvSpPr>
          <p:cNvPr id="151" name="Rectangle 150"/>
          <p:cNvSpPr/>
          <p:nvPr/>
        </p:nvSpPr>
        <p:spPr>
          <a:xfrm>
            <a:off x="502920" y="4462272"/>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02920"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58368" y="4562856"/>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preparation</a:t>
            </a:r>
          </a:p>
        </p:txBody>
      </p:sp>
      <p:sp>
        <p:nvSpPr>
          <p:cNvPr id="154" name="Rounded Rectangle 153"/>
          <p:cNvSpPr/>
          <p:nvPr/>
        </p:nvSpPr>
        <p:spPr>
          <a:xfrm>
            <a:off x="2423160" y="4535424"/>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423160" y="456742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56" name="TextBox 155"/>
          <p:cNvSpPr txBox="1"/>
          <p:nvPr/>
        </p:nvSpPr>
        <p:spPr>
          <a:xfrm>
            <a:off x="3429000" y="4562856"/>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#9</a:t>
            </a:r>
          </a:p>
        </p:txBody>
      </p:sp>
      <p:sp>
        <p:nvSpPr>
          <p:cNvPr id="157" name="Rectangle 156"/>
          <p:cNvSpPr/>
          <p:nvPr/>
        </p:nvSpPr>
        <p:spPr>
          <a:xfrm>
            <a:off x="502920"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02920"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58368" y="4983480"/>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how to prepare data for ai</a:t>
            </a:r>
          </a:p>
        </p:txBody>
      </p:sp>
      <p:sp>
        <p:nvSpPr>
          <p:cNvPr id="160" name="Rounded Rectangle 159"/>
          <p:cNvSpPr/>
          <p:nvPr/>
        </p:nvSpPr>
        <p:spPr>
          <a:xfrm>
            <a:off x="2423160" y="4956048"/>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423160" y="498805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162" name="TextBox 161"/>
          <p:cNvSpPr txBox="1"/>
          <p:nvPr/>
        </p:nvSpPr>
        <p:spPr>
          <a:xfrm>
            <a:off x="3429000" y="4983480"/>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#2</a:t>
            </a:r>
          </a:p>
        </p:txBody>
      </p:sp>
      <p:sp>
        <p:nvSpPr>
          <p:cNvPr id="163" name="Rectangle 162"/>
          <p:cNvSpPr/>
          <p:nvPr/>
        </p:nvSpPr>
        <p:spPr>
          <a:xfrm>
            <a:off x="4288536" y="1481328"/>
            <a:ext cx="3602736"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4453128"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STORAGE PRICE HIKES</a:t>
            </a:r>
          </a:p>
        </p:txBody>
      </p:sp>
      <p:sp>
        <p:nvSpPr>
          <p:cNvPr id="165" name="Rectangle 164"/>
          <p:cNvSpPr/>
          <p:nvPr/>
        </p:nvSpPr>
        <p:spPr>
          <a:xfrm>
            <a:off x="4288536"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288536"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4443984" y="2039112"/>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data tiering</a:t>
            </a:r>
          </a:p>
        </p:txBody>
      </p:sp>
      <p:sp>
        <p:nvSpPr>
          <p:cNvPr id="168" name="Rounded Rectangle 167"/>
          <p:cNvSpPr/>
          <p:nvPr/>
        </p:nvSpPr>
        <p:spPr>
          <a:xfrm>
            <a:off x="6208776" y="2011680"/>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6208776" y="204368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170" name="TextBox 169"/>
          <p:cNvSpPr txBox="1"/>
          <p:nvPr/>
        </p:nvSpPr>
        <p:spPr>
          <a:xfrm>
            <a:off x="7214616" y="2039112"/>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71" name="Rectangle 170"/>
          <p:cNvSpPr/>
          <p:nvPr/>
        </p:nvSpPr>
        <p:spPr>
          <a:xfrm>
            <a:off x="4288536"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4288536"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443984" y="2459736"/>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storage tiering</a:t>
            </a:r>
          </a:p>
        </p:txBody>
      </p:sp>
      <p:sp>
        <p:nvSpPr>
          <p:cNvPr id="174" name="Rounded Rectangle 173"/>
          <p:cNvSpPr/>
          <p:nvPr/>
        </p:nvSpPr>
        <p:spPr>
          <a:xfrm>
            <a:off x="6208776" y="2432304"/>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208776" y="246430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176" name="TextBox 175"/>
          <p:cNvSpPr txBox="1"/>
          <p:nvPr/>
        </p:nvSpPr>
        <p:spPr>
          <a:xfrm>
            <a:off x="7214616" y="2459736"/>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77" name="Rectangle 176"/>
          <p:cNvSpPr/>
          <p:nvPr/>
        </p:nvSpPr>
        <p:spPr>
          <a:xfrm>
            <a:off x="4288536" y="2779776"/>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288536"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4443984" y="2880360"/>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intelligent tiering</a:t>
            </a:r>
          </a:p>
        </p:txBody>
      </p:sp>
      <p:sp>
        <p:nvSpPr>
          <p:cNvPr id="180" name="Rounded Rectangle 179"/>
          <p:cNvSpPr/>
          <p:nvPr/>
        </p:nvSpPr>
        <p:spPr>
          <a:xfrm>
            <a:off x="6208776" y="2852928"/>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208776" y="288493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182" name="TextBox 181"/>
          <p:cNvSpPr txBox="1"/>
          <p:nvPr/>
        </p:nvSpPr>
        <p:spPr>
          <a:xfrm>
            <a:off x="7214616" y="2880360"/>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83" name="Rectangle 182"/>
          <p:cNvSpPr/>
          <p:nvPr/>
        </p:nvSpPr>
        <p:spPr>
          <a:xfrm>
            <a:off x="4288536" y="3200400"/>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4288536" y="3200400"/>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4443984" y="3300984"/>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data storage costs</a:t>
            </a:r>
          </a:p>
        </p:txBody>
      </p:sp>
      <p:sp>
        <p:nvSpPr>
          <p:cNvPr id="186" name="Rounded Rectangle 185"/>
          <p:cNvSpPr/>
          <p:nvPr/>
        </p:nvSpPr>
        <p:spPr>
          <a:xfrm>
            <a:off x="6208776" y="3273552"/>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208776" y="3305556"/>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188" name="TextBox 187"/>
          <p:cNvSpPr txBox="1"/>
          <p:nvPr/>
        </p:nvSpPr>
        <p:spPr>
          <a:xfrm>
            <a:off x="7214616" y="3300984"/>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89" name="Rectangle 188"/>
          <p:cNvSpPr/>
          <p:nvPr/>
        </p:nvSpPr>
        <p:spPr>
          <a:xfrm>
            <a:off x="4288536" y="3621024"/>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4288536" y="3621024"/>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4443984" y="3721608"/>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netapp to pure migration</a:t>
            </a:r>
          </a:p>
        </p:txBody>
      </p:sp>
      <p:sp>
        <p:nvSpPr>
          <p:cNvPr id="192" name="Rounded Rectangle 191"/>
          <p:cNvSpPr/>
          <p:nvPr/>
        </p:nvSpPr>
        <p:spPr>
          <a:xfrm>
            <a:off x="6208776" y="3694176"/>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6208776" y="3726180"/>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194" name="TextBox 193"/>
          <p:cNvSpPr txBox="1"/>
          <p:nvPr/>
        </p:nvSpPr>
        <p:spPr>
          <a:xfrm>
            <a:off x="7214616" y="3721608"/>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195" name="Rectangle 194"/>
          <p:cNvSpPr/>
          <p:nvPr/>
        </p:nvSpPr>
        <p:spPr>
          <a:xfrm>
            <a:off x="4288536" y="404164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4288536" y="404164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4443984" y="4142232"/>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azure netapp</a:t>
            </a:r>
          </a:p>
        </p:txBody>
      </p:sp>
      <p:sp>
        <p:nvSpPr>
          <p:cNvPr id="198" name="Rounded Rectangle 197"/>
          <p:cNvSpPr/>
          <p:nvPr/>
        </p:nvSpPr>
        <p:spPr>
          <a:xfrm>
            <a:off x="6208776" y="4114800"/>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6208776" y="414680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200" name="TextBox 199"/>
          <p:cNvSpPr txBox="1"/>
          <p:nvPr/>
        </p:nvSpPr>
        <p:spPr>
          <a:xfrm>
            <a:off x="7214616" y="4142232"/>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#2</a:t>
            </a:r>
          </a:p>
        </p:txBody>
      </p:sp>
      <p:sp>
        <p:nvSpPr>
          <p:cNvPr id="201" name="Rectangle 200"/>
          <p:cNvSpPr/>
          <p:nvPr/>
        </p:nvSpPr>
        <p:spPr>
          <a:xfrm>
            <a:off x="4288536" y="4462272"/>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4288536"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4443984" y="4562856"/>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reduce storage costs</a:t>
            </a:r>
          </a:p>
        </p:txBody>
      </p:sp>
      <p:sp>
        <p:nvSpPr>
          <p:cNvPr id="204" name="Rounded Rectangle 203"/>
          <p:cNvSpPr/>
          <p:nvPr/>
        </p:nvSpPr>
        <p:spPr>
          <a:xfrm>
            <a:off x="6208776" y="4535424"/>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6208776" y="456742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06" name="TextBox 205"/>
          <p:cNvSpPr txBox="1"/>
          <p:nvPr/>
        </p:nvSpPr>
        <p:spPr>
          <a:xfrm>
            <a:off x="7214616" y="4562856"/>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#2</a:t>
            </a:r>
          </a:p>
        </p:txBody>
      </p:sp>
      <p:sp>
        <p:nvSpPr>
          <p:cNvPr id="207" name="Rectangle 206"/>
          <p:cNvSpPr/>
          <p:nvPr/>
        </p:nvSpPr>
        <p:spPr>
          <a:xfrm>
            <a:off x="4288536"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288536"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4443984" y="4983480"/>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rising costs + sources</a:t>
            </a:r>
          </a:p>
        </p:txBody>
      </p:sp>
      <p:sp>
        <p:nvSpPr>
          <p:cNvPr id="210" name="Rounded Rectangle 209"/>
          <p:cNvSpPr/>
          <p:nvPr/>
        </p:nvSpPr>
        <p:spPr>
          <a:xfrm>
            <a:off x="6208776" y="4956048"/>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208776" y="498805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12" name="TextBox 211"/>
          <p:cNvSpPr txBox="1"/>
          <p:nvPr/>
        </p:nvSpPr>
        <p:spPr>
          <a:xfrm>
            <a:off x="7214616" y="4983480"/>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no vendor</a:t>
            </a:r>
          </a:p>
        </p:txBody>
      </p:sp>
      <p:sp>
        <p:nvSpPr>
          <p:cNvPr id="213" name="Rectangle 212"/>
          <p:cNvSpPr/>
          <p:nvPr/>
        </p:nvSpPr>
        <p:spPr>
          <a:xfrm>
            <a:off x="8074152" y="1481328"/>
            <a:ext cx="3602736" cy="34747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238744"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VENDOR SPECIFIC</a:t>
            </a:r>
          </a:p>
        </p:txBody>
      </p:sp>
      <p:sp>
        <p:nvSpPr>
          <p:cNvPr id="215" name="Rectangle 214"/>
          <p:cNvSpPr/>
          <p:nvPr/>
        </p:nvSpPr>
        <p:spPr>
          <a:xfrm>
            <a:off x="8074152"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8074152"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229600" y="2039112"/>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fabricpool</a:t>
            </a:r>
          </a:p>
        </p:txBody>
      </p:sp>
      <p:sp>
        <p:nvSpPr>
          <p:cNvPr id="218" name="Rounded Rectangle 217"/>
          <p:cNvSpPr/>
          <p:nvPr/>
        </p:nvSpPr>
        <p:spPr>
          <a:xfrm>
            <a:off x="9994392" y="2011680"/>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994392" y="204368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220" name="TextBox 219"/>
          <p:cNvSpPr txBox="1"/>
          <p:nvPr/>
        </p:nvSpPr>
        <p:spPr>
          <a:xfrm>
            <a:off x="11000232" y="2039112"/>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21" name="Rectangle 220"/>
          <p:cNvSpPr/>
          <p:nvPr/>
        </p:nvSpPr>
        <p:spPr>
          <a:xfrm>
            <a:off x="8074152"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074152"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8229600" y="2459736"/>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dell powerscale</a:t>
            </a:r>
          </a:p>
        </p:txBody>
      </p:sp>
      <p:sp>
        <p:nvSpPr>
          <p:cNvPr id="224" name="Rounded Rectangle 223"/>
          <p:cNvSpPr/>
          <p:nvPr/>
        </p:nvSpPr>
        <p:spPr>
          <a:xfrm>
            <a:off x="9994392" y="2432304"/>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9994392" y="246430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226" name="TextBox 225"/>
          <p:cNvSpPr txBox="1"/>
          <p:nvPr/>
        </p:nvSpPr>
        <p:spPr>
          <a:xfrm>
            <a:off x="11000232" y="2459736"/>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27" name="Rectangle 226"/>
          <p:cNvSpPr/>
          <p:nvPr/>
        </p:nvSpPr>
        <p:spPr>
          <a:xfrm>
            <a:off x="8074152" y="2779776"/>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8074152"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229600" y="2880360"/>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dell emc storage</a:t>
            </a:r>
          </a:p>
        </p:txBody>
      </p:sp>
      <p:sp>
        <p:nvSpPr>
          <p:cNvPr id="230" name="Rounded Rectangle 229"/>
          <p:cNvSpPr/>
          <p:nvPr/>
        </p:nvSpPr>
        <p:spPr>
          <a:xfrm>
            <a:off x="9994392" y="2852928"/>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9994392" y="288493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232" name="TextBox 231"/>
          <p:cNvSpPr txBox="1"/>
          <p:nvPr/>
        </p:nvSpPr>
        <p:spPr>
          <a:xfrm>
            <a:off x="11000232" y="2880360"/>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33" name="Rectangle 232"/>
          <p:cNvSpPr/>
          <p:nvPr/>
        </p:nvSpPr>
        <p:spPr>
          <a:xfrm>
            <a:off x="8074152" y="3200400"/>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8074152" y="3200400"/>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229600" y="3300984"/>
            <a:ext cx="1719072"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isilon powerscale</a:t>
            </a:r>
          </a:p>
        </p:txBody>
      </p:sp>
      <p:sp>
        <p:nvSpPr>
          <p:cNvPr id="236" name="Rounded Rectangle 235"/>
          <p:cNvSpPr/>
          <p:nvPr/>
        </p:nvSpPr>
        <p:spPr>
          <a:xfrm>
            <a:off x="9994392" y="3273552"/>
            <a:ext cx="960120"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994392" y="3305556"/>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AI OVERVIEW</a:t>
            </a:r>
          </a:p>
        </p:txBody>
      </p:sp>
      <p:sp>
        <p:nvSpPr>
          <p:cNvPr id="238" name="TextBox 237"/>
          <p:cNvSpPr txBox="1"/>
          <p:nvPr/>
        </p:nvSpPr>
        <p:spPr>
          <a:xfrm>
            <a:off x="11000232" y="3300984"/>
            <a:ext cx="640080" cy="201168"/>
          </a:xfrm>
          <a:prstGeom prst="rect">
            <a:avLst/>
          </a:prstGeom>
          <a:noFill/>
        </p:spPr>
        <p:txBody>
          <a:bodyPr wrap="none" lIns="0" rIns="0" tIns="0" bIns="0" anchor="t">
            <a:spAutoFit/>
          </a:bodyPr>
          <a:lstStyle/>
          <a:p>
            <a:pPr algn="l">
              <a:lnSpc>
                <a:spcPct val="115000"/>
              </a:lnSpc>
              <a:spcAft>
                <a:spcPts val="0"/>
              </a:spcAft>
            </a:pPr>
            <a:r>
              <a:rPr sz="800" b="1">
                <a:solidFill>
                  <a:srgbClr val="7A9905"/>
                </a:solidFill>
                <a:latin typeface="Open Sans"/>
              </a:rPr>
              <a:t>#1</a:t>
            </a:r>
          </a:p>
        </p:txBody>
      </p:sp>
      <p:sp>
        <p:nvSpPr>
          <p:cNvPr id="239" name="Rectangle 238"/>
          <p:cNvSpPr/>
          <p:nvPr/>
        </p:nvSpPr>
        <p:spPr>
          <a:xfrm>
            <a:off x="8074152" y="3621024"/>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074152" y="3621024"/>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229600" y="3721608"/>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netapp bluexp</a:t>
            </a:r>
          </a:p>
        </p:txBody>
      </p:sp>
      <p:sp>
        <p:nvSpPr>
          <p:cNvPr id="242" name="Rounded Rectangle 241"/>
          <p:cNvSpPr/>
          <p:nvPr/>
        </p:nvSpPr>
        <p:spPr>
          <a:xfrm>
            <a:off x="9994392" y="3694176"/>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9994392" y="3726180"/>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44" name="TextBox 243"/>
          <p:cNvSpPr txBox="1"/>
          <p:nvPr/>
        </p:nvSpPr>
        <p:spPr>
          <a:xfrm>
            <a:off x="11000232" y="3721608"/>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#12</a:t>
            </a:r>
          </a:p>
        </p:txBody>
      </p:sp>
      <p:sp>
        <p:nvSpPr>
          <p:cNvPr id="245" name="Rectangle 244"/>
          <p:cNvSpPr/>
          <p:nvPr/>
        </p:nvSpPr>
        <p:spPr>
          <a:xfrm>
            <a:off x="8074152" y="4041648"/>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074152" y="4041648"/>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8229600" y="4142232"/>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cloudpool</a:t>
            </a:r>
          </a:p>
        </p:txBody>
      </p:sp>
      <p:sp>
        <p:nvSpPr>
          <p:cNvPr id="248" name="Rounded Rectangle 247"/>
          <p:cNvSpPr/>
          <p:nvPr/>
        </p:nvSpPr>
        <p:spPr>
          <a:xfrm>
            <a:off x="9994392" y="4114800"/>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9994392" y="4146804"/>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50" name="TextBox 249"/>
          <p:cNvSpPr txBox="1"/>
          <p:nvPr/>
        </p:nvSpPr>
        <p:spPr>
          <a:xfrm>
            <a:off x="11000232" y="4142232"/>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Google #13</a:t>
            </a:r>
          </a:p>
        </p:txBody>
      </p:sp>
      <p:sp>
        <p:nvSpPr>
          <p:cNvPr id="251" name="Rectangle 250"/>
          <p:cNvSpPr/>
          <p:nvPr/>
        </p:nvSpPr>
        <p:spPr>
          <a:xfrm>
            <a:off x="8074152" y="4462272"/>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074152"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229600" y="4562856"/>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netapp tiering</a:t>
            </a:r>
          </a:p>
        </p:txBody>
      </p:sp>
      <p:sp>
        <p:nvSpPr>
          <p:cNvPr id="254" name="Rounded Rectangle 253"/>
          <p:cNvSpPr/>
          <p:nvPr/>
        </p:nvSpPr>
        <p:spPr>
          <a:xfrm>
            <a:off x="9994392" y="4535424"/>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9994392" y="4567428"/>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56" name="TextBox 255"/>
          <p:cNvSpPr txBox="1"/>
          <p:nvPr/>
        </p:nvSpPr>
        <p:spPr>
          <a:xfrm>
            <a:off x="11000232" y="4562856"/>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no rank</a:t>
            </a:r>
          </a:p>
        </p:txBody>
      </p:sp>
      <p:sp>
        <p:nvSpPr>
          <p:cNvPr id="257" name="Rectangle 256"/>
          <p:cNvSpPr/>
          <p:nvPr/>
        </p:nvSpPr>
        <p:spPr>
          <a:xfrm>
            <a:off x="8074152"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8074152"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229600" y="4983480"/>
            <a:ext cx="1719072"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netapp storage costs</a:t>
            </a:r>
          </a:p>
        </p:txBody>
      </p:sp>
      <p:sp>
        <p:nvSpPr>
          <p:cNvPr id="260" name="Rounded Rectangle 259"/>
          <p:cNvSpPr/>
          <p:nvPr/>
        </p:nvSpPr>
        <p:spPr>
          <a:xfrm>
            <a:off x="9994392" y="4956048"/>
            <a:ext cx="960120"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9994392" y="4988052"/>
            <a:ext cx="960120"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NOT YET</a:t>
            </a:r>
          </a:p>
        </p:txBody>
      </p:sp>
      <p:sp>
        <p:nvSpPr>
          <p:cNvPr id="262" name="TextBox 261"/>
          <p:cNvSpPr txBox="1"/>
          <p:nvPr/>
        </p:nvSpPr>
        <p:spPr>
          <a:xfrm>
            <a:off x="11000232" y="4983480"/>
            <a:ext cx="640080" cy="201168"/>
          </a:xfrm>
          <a:prstGeom prst="rect">
            <a:avLst/>
          </a:prstGeom>
          <a:noFill/>
        </p:spPr>
        <p:txBody>
          <a:bodyPr wrap="none" lIns="0" rIns="0" tIns="0" bIns="0" anchor="t">
            <a:spAutoFit/>
          </a:bodyPr>
          <a:lstStyle/>
          <a:p>
            <a:pPr algn="l">
              <a:lnSpc>
                <a:spcPct val="115000"/>
              </a:lnSpc>
              <a:spcAft>
                <a:spcPts val="0"/>
              </a:spcAft>
            </a:pPr>
            <a:r>
              <a:rPr sz="800" b="0">
                <a:solidFill>
                  <a:srgbClr val="8A8A8D"/>
                </a:solidFill>
                <a:latin typeface="Open Sans"/>
              </a:rPr>
              <a:t>no rank</a:t>
            </a:r>
          </a:p>
        </p:txBody>
      </p:sp>
      <p:sp>
        <p:nvSpPr>
          <p:cNvPr id="263" name="Rectangle 262"/>
          <p:cNvSpPr/>
          <p:nvPr/>
        </p:nvSpPr>
        <p:spPr>
          <a:xfrm>
            <a:off x="502920" y="5376672"/>
            <a:ext cx="11183112" cy="78638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502920" y="5376672"/>
            <a:ext cx="54864" cy="786384"/>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749808" y="5486400"/>
            <a:ext cx="10698480" cy="621792"/>
          </a:xfrm>
          <a:prstGeom prst="rect">
            <a:avLst/>
          </a:prstGeom>
          <a:noFill/>
        </p:spPr>
        <p:txBody>
          <a:bodyPr wrap="square" lIns="0" rIns="0" tIns="0" bIns="0" anchor="t">
            <a:spAutoFit/>
          </a:bodyPr>
          <a:lstStyle/>
          <a:p>
            <a:pPr algn="l">
              <a:lnSpc>
                <a:spcPct val="120000"/>
              </a:lnSpc>
              <a:spcAft>
                <a:spcPts val="0"/>
              </a:spcAft>
            </a:pPr>
            <a:r>
              <a:rPr sz="1100" b="1">
                <a:solidFill>
                  <a:srgbClr val="59257B"/>
                </a:solidFill>
                <a:latin typeface="Open Sans"/>
              </a:rPr>
              <a:t>The verdict: on storage costs and tiering Komprise is cited first in Google's AI Overview for six of the eight phrasings shown. On vendor terms we are cited on four, including fabricpool, where NetApp's own documentation ranks from position 60 down and is not cited at all. AI-ready data is where the work continues. The vendor phrasings we do not yet hold are going into daily tracking.</a:t>
            </a:r>
          </a:p>
        </p:txBody>
      </p:sp>
      <p:sp>
        <p:nvSpPr>
          <p:cNvPr id="266" name="TextBox 265"/>
          <p:cNvSpPr txBox="1"/>
          <p:nvPr/>
        </p:nvSpPr>
        <p:spPr>
          <a:xfrm>
            <a:off x="502920" y="6217920"/>
            <a:ext cx="11183112" cy="292608"/>
          </a:xfrm>
          <a:prstGeom prst="rect">
            <a:avLst/>
          </a:prstGeom>
          <a:noFill/>
        </p:spPr>
        <p:txBody>
          <a:bodyPr wrap="square" lIns="0" rIns="0" tIns="0" bIns="0" anchor="t">
            <a:spAutoFit/>
          </a:bodyPr>
          <a:lstStyle/>
          <a:p>
            <a:pPr algn="l">
              <a:lnSpc>
                <a:spcPct val="115000"/>
              </a:lnSpc>
              <a:spcAft>
                <a:spcPts val="0"/>
              </a:spcAft>
            </a:pPr>
            <a:r>
              <a:rPr sz="750" b="0">
                <a:solidFill>
                  <a:srgbClr val="8A8A8D"/>
                </a:solidFill>
                <a:latin typeface="Open Sans"/>
              </a:rPr>
              <a:t>Source: Semrush AI Overview citations for komprise.com, US desktop, crawls dated 20 July to 10 September 2026. The position shown is the rank of the Komprise citation within the AI Overview source list, not a ranking of the answer itself. AI Overviews vary by location, device and sign-in state.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MOMENTUM</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Citations Are Rising. Mentions Are Next.</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Jan to Jun 2026:   Citations +20%   ·   Cited Pages +19%   ·   Mentions still building</a:t>
            </a:r>
          </a:p>
        </p:txBody>
      </p:sp>
      <p:graphicFrame>
        <p:nvGraphicFramePr>
          <p:cNvPr id="8" name="Chart 7"/>
          <p:cNvGraphicFramePr>
            <a:graphicFrameLocks noGrp="1"/>
          </p:cNvGraphicFramePr>
          <p:nvPr/>
        </p:nvGraphicFramePr>
        <p:xfrm>
          <a:off x="502920" y="1572768"/>
          <a:ext cx="74066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8183879" y="1572768"/>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83879" y="1572768"/>
            <a:ext cx="54864" cy="129844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39911" y="1737360"/>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7A9905"/>
                </a:solidFill>
                <a:latin typeface="Open Sans"/>
              </a:rPr>
              <a:t>2.1K</a:t>
            </a:r>
          </a:p>
        </p:txBody>
      </p:sp>
      <p:sp>
        <p:nvSpPr>
          <p:cNvPr id="13" name="TextBox 12"/>
          <p:cNvSpPr txBox="1"/>
          <p:nvPr/>
        </p:nvSpPr>
        <p:spPr>
          <a:xfrm>
            <a:off x="8439911" y="2176272"/>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Citations</a:t>
            </a:r>
          </a:p>
        </p:txBody>
      </p:sp>
      <p:sp>
        <p:nvSpPr>
          <p:cNvPr id="14" name="TextBox 13"/>
          <p:cNvSpPr txBox="1"/>
          <p:nvPr/>
        </p:nvSpPr>
        <p:spPr>
          <a:xfrm>
            <a:off x="8439911" y="2468880"/>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AI answers pointing to a Komprise page. The content optimisation work landing.</a:t>
            </a:r>
          </a:p>
        </p:txBody>
      </p:sp>
      <p:sp>
        <p:nvSpPr>
          <p:cNvPr id="15" name="Rectangle 14"/>
          <p:cNvSpPr/>
          <p:nvPr/>
        </p:nvSpPr>
        <p:spPr>
          <a:xfrm>
            <a:off x="8183879" y="3008376"/>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83879" y="3008376"/>
            <a:ext cx="54864" cy="129844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9911" y="3172968"/>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59257B"/>
                </a:solidFill>
                <a:latin typeface="Open Sans"/>
              </a:rPr>
              <a:t>715</a:t>
            </a:r>
          </a:p>
        </p:txBody>
      </p:sp>
      <p:sp>
        <p:nvSpPr>
          <p:cNvPr id="18" name="TextBox 17"/>
          <p:cNvSpPr txBox="1"/>
          <p:nvPr/>
        </p:nvSpPr>
        <p:spPr>
          <a:xfrm>
            <a:off x="8439911" y="3611880"/>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Cited Pages</a:t>
            </a:r>
          </a:p>
        </p:txBody>
      </p:sp>
      <p:sp>
        <p:nvSpPr>
          <p:cNvPr id="19" name="TextBox 18"/>
          <p:cNvSpPr txBox="1"/>
          <p:nvPr/>
        </p:nvSpPr>
        <p:spPr>
          <a:xfrm>
            <a:off x="8439911" y="3904488"/>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Distinct pages being cited. Broad surface area and holding up.</a:t>
            </a:r>
          </a:p>
        </p:txBody>
      </p:sp>
      <p:sp>
        <p:nvSpPr>
          <p:cNvPr id="20" name="Rectangle 19"/>
          <p:cNvSpPr/>
          <p:nvPr/>
        </p:nvSpPr>
        <p:spPr>
          <a:xfrm>
            <a:off x="8183879" y="4443984"/>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83879" y="4443984"/>
            <a:ext cx="54864" cy="129844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39911" y="4608576"/>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C88A1E"/>
                </a:solidFill>
                <a:latin typeface="Open Sans"/>
              </a:rPr>
              <a:t>163</a:t>
            </a:r>
          </a:p>
        </p:txBody>
      </p:sp>
      <p:sp>
        <p:nvSpPr>
          <p:cNvPr id="23" name="TextBox 22"/>
          <p:cNvSpPr txBox="1"/>
          <p:nvPr/>
        </p:nvSpPr>
        <p:spPr>
          <a:xfrm>
            <a:off x="8439911" y="5047488"/>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Name Mentions</a:t>
            </a:r>
          </a:p>
        </p:txBody>
      </p:sp>
      <p:sp>
        <p:nvSpPr>
          <p:cNvPr id="24" name="TextBox 23"/>
          <p:cNvSpPr txBox="1"/>
          <p:nvPr/>
        </p:nvSpPr>
        <p:spPr>
          <a:xfrm>
            <a:off x="8439911" y="5340096"/>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The model saying “Komprise”. Earned coverage is the lever here and that work is underway.</a:t>
            </a:r>
          </a:p>
        </p:txBody>
      </p:sp>
      <p:sp>
        <p:nvSpPr>
          <p:cNvPr id="26" name="TextBox 2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9FC406"/>
                </a:solidFill>
                <a:latin typeface="Open Sans"/>
              </a:rPr>
              <a:t>GOOGLE </a:t>
            </a:r>
            <a:r>
              <a:rPr lang="en-US" sz="1050" b="1" dirty="0">
                <a:solidFill>
                  <a:srgbClr val="9FC406"/>
                </a:solidFill>
                <a:latin typeface="Open Sans"/>
              </a:rPr>
              <a:t>SEO - 2026</a:t>
            </a:r>
            <a:endParaRPr sz="1050" b="1" dirty="0">
              <a:solidFill>
                <a:srgbClr val="9FC406"/>
              </a:solidFill>
              <a:latin typeface="Open Sans"/>
            </a:endParaRP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lang="en-US" sz="2500" b="1" dirty="0">
                <a:solidFill>
                  <a:srgbClr val="59257B"/>
                </a:solidFill>
                <a:latin typeface="Open Sans"/>
              </a:rPr>
              <a:t>SEO </a:t>
            </a:r>
            <a:r>
              <a:rPr sz="2500" b="1" dirty="0">
                <a:solidFill>
                  <a:srgbClr val="59257B"/>
                </a:solidFill>
                <a:latin typeface="Open Sans"/>
              </a:rPr>
              <a:t>Top</a:t>
            </a:r>
            <a:r>
              <a:rPr lang="en-US" sz="2500" b="1" dirty="0">
                <a:solidFill>
                  <a:srgbClr val="59257B"/>
                </a:solidFill>
                <a:latin typeface="Open Sans"/>
              </a:rPr>
              <a:t> </a:t>
            </a:r>
            <a:r>
              <a:rPr sz="2500" b="1" dirty="0">
                <a:solidFill>
                  <a:srgbClr val="59257B"/>
                </a:solidFill>
                <a:latin typeface="Open Sans"/>
              </a:rPr>
              <a:t>10 Rankings Are Compounding</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Keywords ranking in Google's top 10, split by top </a:t>
            </a:r>
            <a:r>
              <a:rPr lang="en-US" sz="1250" b="0" dirty="0">
                <a:solidFill>
                  <a:srgbClr val="595A5B"/>
                </a:solidFill>
                <a:latin typeface="Open Sans"/>
              </a:rPr>
              <a:t>3 </a:t>
            </a:r>
            <a:r>
              <a:rPr sz="1250" b="0" dirty="0">
                <a:solidFill>
                  <a:srgbClr val="595A5B"/>
                </a:solidFill>
                <a:latin typeface="Open Sans"/>
              </a:rPr>
              <a:t>and positions </a:t>
            </a:r>
            <a:r>
              <a:rPr lang="en-US" sz="1250" b="0" dirty="0">
                <a:solidFill>
                  <a:srgbClr val="595A5B"/>
                </a:solidFill>
                <a:latin typeface="Open Sans"/>
              </a:rPr>
              <a:t>4-10</a:t>
            </a:r>
            <a:endParaRPr sz="1250" b="0" dirty="0">
              <a:solidFill>
                <a:srgbClr val="595A5B"/>
              </a:solidFill>
              <a:latin typeface="Open Sans"/>
            </a:endParaRPr>
          </a:p>
        </p:txBody>
      </p:sp>
      <p:graphicFrame>
        <p:nvGraphicFramePr>
          <p:cNvPr id="8" name="Chart 7"/>
          <p:cNvGraphicFramePr>
            <a:graphicFrameLocks noGrp="1"/>
          </p:cNvGraphicFramePr>
          <p:nvPr/>
        </p:nvGraphicFramePr>
        <p:xfrm>
          <a:off x="502920" y="1572768"/>
          <a:ext cx="7223760" cy="397763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2920" y="5632704"/>
            <a:ext cx="7223760" cy="397866"/>
          </a:xfrm>
          <a:prstGeom prst="rect">
            <a:avLst/>
          </a:prstGeom>
          <a:noFill/>
        </p:spPr>
        <p:txBody>
          <a:bodyPr wrap="square" lIns="0" tIns="0" rIns="0" bIns="0" anchor="t">
            <a:spAutoFit/>
          </a:bodyPr>
          <a:lstStyle/>
          <a:p>
            <a:pPr algn="l">
              <a:lnSpc>
                <a:spcPct val="122000"/>
              </a:lnSpc>
              <a:spcAft>
                <a:spcPts val="0"/>
              </a:spcAft>
            </a:pPr>
            <a:r>
              <a:rPr sz="1100" b="0" dirty="0">
                <a:solidFill>
                  <a:srgbClr val="595A5B"/>
                </a:solidFill>
                <a:latin typeface="Open Sans"/>
              </a:rPr>
              <a:t>Q1</a:t>
            </a:r>
            <a:r>
              <a:rPr lang="en-US" sz="1100" b="0" dirty="0">
                <a:solidFill>
                  <a:srgbClr val="595A5B"/>
                </a:solidFill>
                <a:latin typeface="Open Sans"/>
              </a:rPr>
              <a:t>’26</a:t>
            </a:r>
            <a:r>
              <a:rPr sz="1100" b="0" dirty="0">
                <a:solidFill>
                  <a:srgbClr val="595A5B"/>
                </a:solidFill>
                <a:latin typeface="Open Sans"/>
              </a:rPr>
              <a:t> closed at 1,387 keywords in the top 10. </a:t>
            </a:r>
            <a:br>
              <a:rPr lang="en-US" sz="1100" b="0" dirty="0">
                <a:solidFill>
                  <a:srgbClr val="595A5B"/>
                </a:solidFill>
                <a:latin typeface="Open Sans"/>
              </a:rPr>
            </a:br>
            <a:r>
              <a:rPr sz="1100" b="0" dirty="0">
                <a:solidFill>
                  <a:srgbClr val="595A5B"/>
                </a:solidFill>
                <a:latin typeface="Open Sans"/>
              </a:rPr>
              <a:t>Q2</a:t>
            </a:r>
            <a:r>
              <a:rPr lang="en-US" sz="1100" b="0" dirty="0">
                <a:solidFill>
                  <a:srgbClr val="595A5B"/>
                </a:solidFill>
                <a:latin typeface="Open Sans"/>
              </a:rPr>
              <a:t>’26</a:t>
            </a:r>
            <a:r>
              <a:rPr sz="1100" b="0" dirty="0">
                <a:solidFill>
                  <a:srgbClr val="595A5B"/>
                </a:solidFill>
                <a:latin typeface="Open Sans"/>
              </a:rPr>
              <a:t> closed at 1,515. The </a:t>
            </a:r>
            <a:r>
              <a:rPr lang="en-US" sz="1100" b="0" dirty="0">
                <a:solidFill>
                  <a:srgbClr val="595A5B"/>
                </a:solidFill>
                <a:latin typeface="Open Sans"/>
              </a:rPr>
              <a:t>top 3</a:t>
            </a:r>
            <a:r>
              <a:rPr sz="1100" b="0" dirty="0">
                <a:solidFill>
                  <a:srgbClr val="595A5B"/>
                </a:solidFill>
                <a:latin typeface="Open Sans"/>
              </a:rPr>
              <a:t> band, the positions that actually get read, grew fastest.</a:t>
            </a:r>
          </a:p>
        </p:txBody>
      </p:sp>
      <p:sp>
        <p:nvSpPr>
          <p:cNvPr id="10" name="Rectangle 9"/>
          <p:cNvSpPr/>
          <p:nvPr/>
        </p:nvSpPr>
        <p:spPr>
          <a:xfrm>
            <a:off x="8001000" y="1572768"/>
            <a:ext cx="3685032" cy="12618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01000" y="1572768"/>
            <a:ext cx="54864" cy="12618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7031" y="1737360"/>
            <a:ext cx="3246120" cy="457200"/>
          </a:xfrm>
          <a:prstGeom prst="rect">
            <a:avLst/>
          </a:prstGeom>
          <a:noFill/>
        </p:spPr>
        <p:txBody>
          <a:bodyPr wrap="square" lIns="0" tIns="0" rIns="0" bIns="0" anchor="t">
            <a:spAutoFit/>
          </a:bodyPr>
          <a:lstStyle/>
          <a:p>
            <a:pPr algn="l">
              <a:lnSpc>
                <a:spcPct val="115000"/>
              </a:lnSpc>
              <a:spcAft>
                <a:spcPts val="0"/>
              </a:spcAft>
            </a:pPr>
            <a:r>
              <a:rPr sz="2500" b="1">
                <a:solidFill>
                  <a:srgbClr val="7A9905"/>
                </a:solidFill>
                <a:latin typeface="Open Sans"/>
              </a:rPr>
              <a:t>+9.2%</a:t>
            </a:r>
          </a:p>
        </p:txBody>
      </p:sp>
      <p:sp>
        <p:nvSpPr>
          <p:cNvPr id="13" name="TextBox 12"/>
          <p:cNvSpPr txBox="1"/>
          <p:nvPr/>
        </p:nvSpPr>
        <p:spPr>
          <a:xfrm>
            <a:off x="8257031" y="2176272"/>
            <a:ext cx="324612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Top</a:t>
            </a:r>
            <a:r>
              <a:rPr lang="en-US" sz="1050" b="1" dirty="0">
                <a:solidFill>
                  <a:srgbClr val="59257B"/>
                </a:solidFill>
                <a:latin typeface="Open Sans"/>
              </a:rPr>
              <a:t> </a:t>
            </a:r>
            <a:r>
              <a:rPr sz="1050" b="1" dirty="0">
                <a:solidFill>
                  <a:srgbClr val="59257B"/>
                </a:solidFill>
                <a:latin typeface="Open Sans"/>
              </a:rPr>
              <a:t>10 Keywords, QoQ</a:t>
            </a:r>
          </a:p>
        </p:txBody>
      </p:sp>
      <p:sp>
        <p:nvSpPr>
          <p:cNvPr id="14" name="TextBox 13"/>
          <p:cNvSpPr txBox="1"/>
          <p:nvPr/>
        </p:nvSpPr>
        <p:spPr>
          <a:xfrm>
            <a:off x="8257031" y="2468880"/>
            <a:ext cx="3246120" cy="1544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1,387 at the close of Q1</a:t>
            </a:r>
            <a:r>
              <a:rPr lang="en-US" sz="900" b="0" dirty="0">
                <a:solidFill>
                  <a:srgbClr val="595A5B"/>
                </a:solidFill>
                <a:latin typeface="Open Sans"/>
              </a:rPr>
              <a:t>’26</a:t>
            </a:r>
            <a:r>
              <a:rPr sz="900" b="0" dirty="0">
                <a:solidFill>
                  <a:srgbClr val="595A5B"/>
                </a:solidFill>
                <a:latin typeface="Open Sans"/>
              </a:rPr>
              <a:t> to 1,515 at the close of Q2</a:t>
            </a:r>
            <a:r>
              <a:rPr lang="en-US" sz="900" b="0" dirty="0">
                <a:solidFill>
                  <a:srgbClr val="595A5B"/>
                </a:solidFill>
                <a:latin typeface="Open Sans"/>
              </a:rPr>
              <a:t>’26</a:t>
            </a:r>
            <a:r>
              <a:rPr sz="900" b="0" dirty="0">
                <a:solidFill>
                  <a:srgbClr val="595A5B"/>
                </a:solidFill>
                <a:latin typeface="Open Sans"/>
              </a:rPr>
              <a:t>.</a:t>
            </a:r>
          </a:p>
        </p:txBody>
      </p:sp>
      <p:sp>
        <p:nvSpPr>
          <p:cNvPr id="15" name="Rectangle 14"/>
          <p:cNvSpPr/>
          <p:nvPr/>
        </p:nvSpPr>
        <p:spPr>
          <a:xfrm>
            <a:off x="8001000" y="2962656"/>
            <a:ext cx="3685032" cy="12618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2962656"/>
            <a:ext cx="54864" cy="12618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3127248"/>
            <a:ext cx="3246120" cy="457200"/>
          </a:xfrm>
          <a:prstGeom prst="rect">
            <a:avLst/>
          </a:prstGeom>
          <a:noFill/>
        </p:spPr>
        <p:txBody>
          <a:bodyPr wrap="square" lIns="0" tIns="0" rIns="0" bIns="0" anchor="t">
            <a:spAutoFit/>
          </a:bodyPr>
          <a:lstStyle/>
          <a:p>
            <a:pPr algn="l">
              <a:lnSpc>
                <a:spcPct val="115000"/>
              </a:lnSpc>
              <a:spcAft>
                <a:spcPts val="0"/>
              </a:spcAft>
            </a:pPr>
            <a:r>
              <a:rPr sz="2500" b="1">
                <a:solidFill>
                  <a:srgbClr val="7A9905"/>
                </a:solidFill>
                <a:latin typeface="Open Sans"/>
              </a:rPr>
              <a:t>+18.6%</a:t>
            </a:r>
          </a:p>
        </p:txBody>
      </p:sp>
      <p:sp>
        <p:nvSpPr>
          <p:cNvPr id="18" name="TextBox 17"/>
          <p:cNvSpPr txBox="1"/>
          <p:nvPr/>
        </p:nvSpPr>
        <p:spPr>
          <a:xfrm>
            <a:off x="8257031" y="3566160"/>
            <a:ext cx="324612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Top</a:t>
            </a:r>
            <a:r>
              <a:rPr lang="en-US" sz="1050" b="1" dirty="0">
                <a:solidFill>
                  <a:srgbClr val="59257B"/>
                </a:solidFill>
                <a:latin typeface="Open Sans"/>
              </a:rPr>
              <a:t> </a:t>
            </a:r>
            <a:r>
              <a:rPr sz="1050" b="1" dirty="0">
                <a:solidFill>
                  <a:srgbClr val="59257B"/>
                </a:solidFill>
                <a:latin typeface="Open Sans"/>
              </a:rPr>
              <a:t>3 Keywords, QoQ</a:t>
            </a:r>
          </a:p>
        </p:txBody>
      </p:sp>
      <p:sp>
        <p:nvSpPr>
          <p:cNvPr id="19" name="TextBox 18"/>
          <p:cNvSpPr txBox="1"/>
          <p:nvPr/>
        </p:nvSpPr>
        <p:spPr>
          <a:xfrm>
            <a:off x="8257031" y="3858768"/>
            <a:ext cx="324612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354 to 420. Growing faster than the wider top-10 band.</a:t>
            </a:r>
          </a:p>
        </p:txBody>
      </p:sp>
      <p:sp>
        <p:nvSpPr>
          <p:cNvPr id="20" name="Rectangle 19"/>
          <p:cNvSpPr/>
          <p:nvPr/>
        </p:nvSpPr>
        <p:spPr>
          <a:xfrm>
            <a:off x="8001000" y="4352544"/>
            <a:ext cx="3685032"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01000" y="4352544"/>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7031" y="4535424"/>
            <a:ext cx="3291840" cy="1097280"/>
          </a:xfrm>
          <a:prstGeom prst="rect">
            <a:avLst/>
          </a:prstGeom>
          <a:noFill/>
        </p:spPr>
        <p:txBody>
          <a:bodyPr wrap="square" lIns="0" tIns="0" rIns="0" bIns="0" anchor="t">
            <a:spAutoFit/>
          </a:bodyPr>
          <a:lstStyle/>
          <a:p>
            <a:pPr algn="l">
              <a:lnSpc>
                <a:spcPct val="115000"/>
              </a:lnSpc>
              <a:spcAft>
                <a:spcPts val="600"/>
              </a:spcAft>
            </a:pPr>
            <a:r>
              <a:rPr sz="1200" b="1" dirty="0">
                <a:solidFill>
                  <a:srgbClr val="59257B"/>
                </a:solidFill>
                <a:latin typeface="Open Sans"/>
              </a:rPr>
              <a:t>Why it matters</a:t>
            </a:r>
          </a:p>
          <a:p>
            <a:pPr algn="l">
              <a:lnSpc>
                <a:spcPct val="124000"/>
              </a:lnSpc>
              <a:spcAft>
                <a:spcPts val="0"/>
              </a:spcAft>
            </a:pPr>
            <a:r>
              <a:rPr sz="1050" b="0" dirty="0">
                <a:solidFill>
                  <a:srgbClr val="595A5B"/>
                </a:solidFill>
                <a:latin typeface="Open Sans"/>
              </a:rPr>
              <a:t>Two years ago Komprise held </a:t>
            </a:r>
            <a:r>
              <a:rPr sz="1050" b="1" dirty="0">
                <a:solidFill>
                  <a:srgbClr val="595A5B"/>
                </a:solidFill>
                <a:latin typeface="Open Sans"/>
              </a:rPr>
              <a:t>510 </a:t>
            </a:r>
            <a:r>
              <a:rPr sz="1050" b="0" dirty="0">
                <a:solidFill>
                  <a:srgbClr val="595A5B"/>
                </a:solidFill>
                <a:latin typeface="Open Sans"/>
              </a:rPr>
              <a:t>top</a:t>
            </a:r>
            <a:r>
              <a:rPr lang="en-US" sz="1050" b="0" dirty="0">
                <a:solidFill>
                  <a:srgbClr val="595A5B"/>
                </a:solidFill>
                <a:latin typeface="Open Sans"/>
              </a:rPr>
              <a:t> </a:t>
            </a:r>
            <a:r>
              <a:rPr sz="1050" b="0" dirty="0">
                <a:solidFill>
                  <a:srgbClr val="595A5B"/>
                </a:solidFill>
                <a:latin typeface="Open Sans"/>
              </a:rPr>
              <a:t>10 keywords. That is now 1,515. This is the compounding base AI answers draw from, because models </a:t>
            </a:r>
            <a:r>
              <a:rPr lang="en-US" sz="1050" b="0" dirty="0">
                <a:solidFill>
                  <a:srgbClr val="595A5B"/>
                </a:solidFill>
                <a:latin typeface="Open Sans"/>
              </a:rPr>
              <a:t>also </a:t>
            </a:r>
            <a:r>
              <a:rPr sz="1050" b="0" dirty="0">
                <a:solidFill>
                  <a:srgbClr val="595A5B"/>
                </a:solidFill>
                <a:latin typeface="Open Sans"/>
              </a:rPr>
              <a:t>cite what already ranks.</a:t>
            </a:r>
          </a:p>
        </p:txBody>
      </p:sp>
      <p:sp>
        <p:nvSpPr>
          <p:cNvPr id="24" name="TextBox 23"/>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TRAFFIC BEHAVIOUR</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Direct Has Overtaken Organic Search</a:t>
            </a:r>
            <a:r>
              <a:rPr lang="en-US" sz="2500" b="1" dirty="0">
                <a:solidFill>
                  <a:srgbClr val="59257B"/>
                </a:solidFill>
                <a:latin typeface="Open Sans"/>
              </a:rPr>
              <a:t> Traffic</a:t>
            </a:r>
            <a:endParaRPr sz="2500" b="1" dirty="0">
              <a:solidFill>
                <a:srgbClr val="59257B"/>
              </a:solidFill>
              <a:latin typeface="Open Sans"/>
            </a:endParaRP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Monthly sessions, the visible signature of zero</a:t>
            </a:r>
            <a:r>
              <a:rPr lang="en-US" sz="1250" b="0" dirty="0">
                <a:solidFill>
                  <a:srgbClr val="595A5B"/>
                </a:solidFill>
                <a:latin typeface="Open Sans"/>
              </a:rPr>
              <a:t> </a:t>
            </a:r>
            <a:r>
              <a:rPr sz="1250" b="0" dirty="0">
                <a:solidFill>
                  <a:srgbClr val="595A5B"/>
                </a:solidFill>
                <a:latin typeface="Open Sans"/>
              </a:rPr>
              <a:t>click search and direct brand discovery</a:t>
            </a:r>
          </a:p>
        </p:txBody>
      </p:sp>
      <p:graphicFrame>
        <p:nvGraphicFramePr>
          <p:cNvPr id="8" name="Chart 7"/>
          <p:cNvGraphicFramePr>
            <a:graphicFrameLocks noGrp="1"/>
          </p:cNvGraphicFramePr>
          <p:nvPr/>
        </p:nvGraphicFramePr>
        <p:xfrm>
          <a:off x="502920" y="1572768"/>
          <a:ext cx="69037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7680960" y="1572768"/>
            <a:ext cx="4005072" cy="197510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60" y="1572768"/>
            <a:ext cx="54864" cy="1975104"/>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36992" y="1773936"/>
            <a:ext cx="3584448" cy="1645920"/>
          </a:xfrm>
          <a:prstGeom prst="rect">
            <a:avLst/>
          </a:prstGeom>
          <a:noFill/>
        </p:spPr>
        <p:txBody>
          <a:bodyPr wrap="square" lIns="0" tIns="0" rIns="0" bIns="0" anchor="t">
            <a:spAutoFit/>
          </a:bodyPr>
          <a:lstStyle/>
          <a:p>
            <a:pPr algn="l">
              <a:lnSpc>
                <a:spcPct val="115000"/>
              </a:lnSpc>
              <a:spcAft>
                <a:spcPts val="600"/>
              </a:spcAft>
            </a:pPr>
            <a:r>
              <a:rPr sz="1250" b="1">
                <a:solidFill>
                  <a:srgbClr val="59257B"/>
                </a:solidFill>
                <a:latin typeface="Open Sans"/>
              </a:rPr>
              <a:t>Direct is now the #1 channel</a:t>
            </a:r>
          </a:p>
          <a:p>
            <a:pPr algn="l">
              <a:lnSpc>
                <a:spcPct val="126000"/>
              </a:lnSpc>
              <a:spcAft>
                <a:spcPts val="0"/>
              </a:spcAft>
            </a:pPr>
            <a:r>
              <a:rPr sz="1100" b="0">
                <a:solidFill>
                  <a:srgbClr val="595A5B"/>
                </a:solidFill>
                <a:latin typeface="Open Sans"/>
              </a:rPr>
              <a:t>Direct grew from 41% of sessions in Q1 to 52% in Q2 while organic search fell. People are reading the answer in an AI or search result, then arriving by typing Komprise in.</a:t>
            </a:r>
          </a:p>
        </p:txBody>
      </p:sp>
      <p:sp>
        <p:nvSpPr>
          <p:cNvPr id="13" name="Rectangle 12"/>
          <p:cNvSpPr/>
          <p:nvPr/>
        </p:nvSpPr>
        <p:spPr>
          <a:xfrm>
            <a:off x="7680960" y="3675887"/>
            <a:ext cx="4005072" cy="2066543"/>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80960" y="3675887"/>
            <a:ext cx="54864" cy="2066543"/>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36992" y="3877056"/>
            <a:ext cx="3584448" cy="1737360"/>
          </a:xfrm>
          <a:prstGeom prst="rect">
            <a:avLst/>
          </a:prstGeom>
          <a:noFill/>
        </p:spPr>
        <p:txBody>
          <a:bodyPr wrap="square" lIns="0" tIns="0" rIns="0" bIns="0" anchor="t">
            <a:spAutoFit/>
          </a:bodyPr>
          <a:lstStyle/>
          <a:p>
            <a:pPr algn="l">
              <a:lnSpc>
                <a:spcPct val="115000"/>
              </a:lnSpc>
              <a:spcAft>
                <a:spcPts val="600"/>
              </a:spcAft>
            </a:pPr>
            <a:r>
              <a:rPr sz="1250" b="1">
                <a:solidFill>
                  <a:srgbClr val="59257B"/>
                </a:solidFill>
                <a:latin typeface="Open Sans"/>
              </a:rPr>
              <a:t>Why this is the right read</a:t>
            </a:r>
          </a:p>
          <a:p>
            <a:pPr algn="l">
              <a:lnSpc>
                <a:spcPct val="126000"/>
              </a:lnSpc>
              <a:spcAft>
                <a:spcPts val="0"/>
              </a:spcAft>
            </a:pPr>
            <a:r>
              <a:rPr sz="1100" b="0">
                <a:solidFill>
                  <a:srgbClr val="595A5B"/>
                </a:solidFill>
                <a:latin typeface="Open Sans"/>
              </a:rPr>
              <a:t>A falling click count is not a falling audience. AI answers resolve the question on the results page, so the visit only happens once someone decides they want Komprise specifically. That is brand showing up in the data.</a:t>
            </a:r>
          </a:p>
        </p:txBody>
      </p:sp>
      <p:sp>
        <p:nvSpPr>
          <p:cNvPr id="17" name="TextBox 16"/>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COMPETITIVE POSITION</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nSpc>
                <a:spcPct val="115000"/>
              </a:lnSpc>
            </a:pPr>
            <a:r>
              <a:rPr lang="en-GB" sz="2500" b="1" dirty="0">
                <a:solidFill>
                  <a:srgbClr val="59257B"/>
                </a:solidFill>
                <a:latin typeface="Open Sans"/>
              </a:rPr>
              <a:t>We Lead the Authority in SEO amongst competitors</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nSpc>
                <a:spcPct val="115000"/>
              </a:lnSpc>
            </a:pPr>
            <a:r>
              <a:rPr lang="en-GB" sz="1250" dirty="0">
                <a:solidFill>
                  <a:srgbClr val="595A5B"/>
                </a:solidFill>
                <a:latin typeface="Open Sans"/>
              </a:rPr>
              <a:t>Organic footprint and domain authority across the tracked competitive set</a:t>
            </a:r>
          </a:p>
        </p:txBody>
      </p:sp>
      <p:sp>
        <p:nvSpPr>
          <p:cNvPr id="8" name="Rectangle 7"/>
          <p:cNvSpPr/>
          <p:nvPr/>
        </p:nvSpPr>
        <p:spPr>
          <a:xfrm>
            <a:off x="502920" y="1481328"/>
            <a:ext cx="11183112" cy="4754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72768"/>
            <a:ext cx="2606040" cy="329184"/>
          </a:xfrm>
          <a:prstGeom prst="rect">
            <a:avLst/>
          </a:prstGeom>
          <a:noFill/>
        </p:spPr>
        <p:txBody>
          <a:bodyPr wrap="square" lIns="0" tIns="0" rIns="0" bIns="0" anchor="t">
            <a:spAutoFit/>
          </a:bodyPr>
          <a:lstStyle/>
          <a:p>
            <a:pPr algn="l">
              <a:lnSpc>
                <a:spcPct val="108000"/>
              </a:lnSpc>
              <a:spcAft>
                <a:spcPts val="0"/>
              </a:spcAft>
            </a:pPr>
            <a:r>
              <a:rPr sz="950" b="1">
                <a:solidFill>
                  <a:srgbClr val="FFFFFF"/>
                </a:solidFill>
                <a:latin typeface="Open Sans"/>
              </a:rPr>
              <a:t>Domain</a:t>
            </a:r>
          </a:p>
        </p:txBody>
      </p:sp>
      <p:sp>
        <p:nvSpPr>
          <p:cNvPr id="10" name="TextBox 9"/>
          <p:cNvSpPr txBox="1"/>
          <p:nvPr/>
        </p:nvSpPr>
        <p:spPr>
          <a:xfrm>
            <a:off x="3383280" y="1572768"/>
            <a:ext cx="150876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Ranking Keywords</a:t>
            </a:r>
          </a:p>
        </p:txBody>
      </p:sp>
      <p:sp>
        <p:nvSpPr>
          <p:cNvPr id="11" name="TextBox 10"/>
          <p:cNvSpPr txBox="1"/>
          <p:nvPr/>
        </p:nvSpPr>
        <p:spPr>
          <a:xfrm>
            <a:off x="4937760" y="1572768"/>
            <a:ext cx="14630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Monthly Traffic</a:t>
            </a:r>
          </a:p>
        </p:txBody>
      </p:sp>
      <p:sp>
        <p:nvSpPr>
          <p:cNvPr id="12" name="TextBox 11"/>
          <p:cNvSpPr txBox="1"/>
          <p:nvPr/>
        </p:nvSpPr>
        <p:spPr>
          <a:xfrm>
            <a:off x="6446520" y="1572768"/>
            <a:ext cx="19202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Keywords in AI Answers</a:t>
            </a:r>
          </a:p>
        </p:txBody>
      </p:sp>
      <p:sp>
        <p:nvSpPr>
          <p:cNvPr id="13" name="TextBox 12"/>
          <p:cNvSpPr txBox="1"/>
          <p:nvPr/>
        </p:nvSpPr>
        <p:spPr>
          <a:xfrm>
            <a:off x="8412480" y="1572768"/>
            <a:ext cx="178308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Referring Domains</a:t>
            </a:r>
          </a:p>
        </p:txBody>
      </p:sp>
      <p:sp>
        <p:nvSpPr>
          <p:cNvPr id="14" name="TextBox 13"/>
          <p:cNvSpPr txBox="1"/>
          <p:nvPr/>
        </p:nvSpPr>
        <p:spPr>
          <a:xfrm>
            <a:off x="10241280" y="1572768"/>
            <a:ext cx="12344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Authority</a:t>
            </a:r>
          </a:p>
        </p:txBody>
      </p:sp>
      <p:sp>
        <p:nvSpPr>
          <p:cNvPr id="15" name="Rectangle 14"/>
          <p:cNvSpPr/>
          <p:nvPr/>
        </p:nvSpPr>
        <p:spPr>
          <a:xfrm>
            <a:off x="502920" y="1975104"/>
            <a:ext cx="11183112" cy="356616"/>
          </a:xfrm>
          <a:prstGeom prst="rect">
            <a:avLst/>
          </a:prstGeom>
          <a:solidFill>
            <a:srgbClr val="E9E2F0"/>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1975104"/>
            <a:ext cx="54864" cy="35661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066544"/>
            <a:ext cx="2606040" cy="219456"/>
          </a:xfrm>
          <a:prstGeom prst="rect">
            <a:avLst/>
          </a:prstGeom>
          <a:noFill/>
        </p:spPr>
        <p:txBody>
          <a:bodyPr wrap="square" lIns="0" tIns="0" rIns="0" bIns="0" anchor="t">
            <a:spAutoFit/>
          </a:bodyPr>
          <a:lstStyle/>
          <a:p>
            <a:pPr algn="l">
              <a:lnSpc>
                <a:spcPct val="115000"/>
              </a:lnSpc>
              <a:spcAft>
                <a:spcPts val="0"/>
              </a:spcAft>
            </a:pPr>
            <a:r>
              <a:rPr sz="1100" b="1">
                <a:solidFill>
                  <a:srgbClr val="59257B"/>
                </a:solidFill>
                <a:latin typeface="Open Sans"/>
              </a:rPr>
              <a:t>komprise.com</a:t>
            </a:r>
          </a:p>
        </p:txBody>
      </p:sp>
      <p:sp>
        <p:nvSpPr>
          <p:cNvPr id="18" name="TextBox 17"/>
          <p:cNvSpPr txBox="1"/>
          <p:nvPr/>
        </p:nvSpPr>
        <p:spPr>
          <a:xfrm>
            <a:off x="3383280" y="2066544"/>
            <a:ext cx="150876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6,139</a:t>
            </a:r>
          </a:p>
        </p:txBody>
      </p:sp>
      <p:sp>
        <p:nvSpPr>
          <p:cNvPr id="19" name="TextBox 18"/>
          <p:cNvSpPr txBox="1"/>
          <p:nvPr/>
        </p:nvSpPr>
        <p:spPr>
          <a:xfrm>
            <a:off x="4937760" y="2066544"/>
            <a:ext cx="14630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4,600 *</a:t>
            </a:r>
          </a:p>
        </p:txBody>
      </p:sp>
      <p:sp>
        <p:nvSpPr>
          <p:cNvPr id="20" name="TextBox 19"/>
          <p:cNvSpPr txBox="1"/>
          <p:nvPr/>
        </p:nvSpPr>
        <p:spPr>
          <a:xfrm>
            <a:off x="6446520" y="2066544"/>
            <a:ext cx="19202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5,464</a:t>
            </a:r>
          </a:p>
        </p:txBody>
      </p:sp>
      <p:sp>
        <p:nvSpPr>
          <p:cNvPr id="21" name="TextBox 20"/>
          <p:cNvSpPr txBox="1"/>
          <p:nvPr/>
        </p:nvSpPr>
        <p:spPr>
          <a:xfrm>
            <a:off x="8412480" y="2066544"/>
            <a:ext cx="178308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1,944</a:t>
            </a:r>
          </a:p>
        </p:txBody>
      </p:sp>
      <p:sp>
        <p:nvSpPr>
          <p:cNvPr id="22" name="TextBox 21"/>
          <p:cNvSpPr txBox="1"/>
          <p:nvPr/>
        </p:nvSpPr>
        <p:spPr>
          <a:xfrm>
            <a:off x="10241280" y="2066544"/>
            <a:ext cx="12344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43</a:t>
            </a:r>
          </a:p>
        </p:txBody>
      </p:sp>
      <p:sp>
        <p:nvSpPr>
          <p:cNvPr id="23" name="Rectangle 22"/>
          <p:cNvSpPr/>
          <p:nvPr/>
        </p:nvSpPr>
        <p:spPr>
          <a:xfrm>
            <a:off x="502920" y="2359152"/>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2450592"/>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unstructured.io</a:t>
            </a:r>
          </a:p>
        </p:txBody>
      </p:sp>
      <p:sp>
        <p:nvSpPr>
          <p:cNvPr id="25" name="TextBox 24"/>
          <p:cNvSpPr txBox="1"/>
          <p:nvPr/>
        </p:nvSpPr>
        <p:spPr>
          <a:xfrm>
            <a:off x="3383280" y="2450592"/>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2,221</a:t>
            </a:r>
          </a:p>
        </p:txBody>
      </p:sp>
      <p:sp>
        <p:nvSpPr>
          <p:cNvPr id="26" name="TextBox 25"/>
          <p:cNvSpPr txBox="1"/>
          <p:nvPr/>
        </p:nvSpPr>
        <p:spPr>
          <a:xfrm>
            <a:off x="4937760" y="2450592"/>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4,397</a:t>
            </a:r>
          </a:p>
        </p:txBody>
      </p:sp>
      <p:sp>
        <p:nvSpPr>
          <p:cNvPr id="27" name="TextBox 26"/>
          <p:cNvSpPr txBox="1"/>
          <p:nvPr/>
        </p:nvSpPr>
        <p:spPr>
          <a:xfrm>
            <a:off x="6446520" y="2450592"/>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1,789</a:t>
            </a:r>
          </a:p>
        </p:txBody>
      </p:sp>
      <p:sp>
        <p:nvSpPr>
          <p:cNvPr id="28" name="TextBox 27"/>
          <p:cNvSpPr txBox="1"/>
          <p:nvPr/>
        </p:nvSpPr>
        <p:spPr>
          <a:xfrm>
            <a:off x="8412480" y="2450592"/>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2,764</a:t>
            </a:r>
          </a:p>
        </p:txBody>
      </p:sp>
      <p:sp>
        <p:nvSpPr>
          <p:cNvPr id="29" name="TextBox 28"/>
          <p:cNvSpPr txBox="1"/>
          <p:nvPr/>
        </p:nvSpPr>
        <p:spPr>
          <a:xfrm>
            <a:off x="10241280" y="2450592"/>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36</a:t>
            </a:r>
          </a:p>
        </p:txBody>
      </p:sp>
      <p:sp>
        <p:nvSpPr>
          <p:cNvPr id="30" name="Rectangle 29"/>
          <p:cNvSpPr/>
          <p:nvPr/>
        </p:nvSpPr>
        <p:spPr>
          <a:xfrm>
            <a:off x="502920" y="2743200"/>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2834640"/>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datadynamicsinc.com</a:t>
            </a:r>
          </a:p>
        </p:txBody>
      </p:sp>
      <p:sp>
        <p:nvSpPr>
          <p:cNvPr id="32" name="TextBox 31"/>
          <p:cNvSpPr txBox="1"/>
          <p:nvPr/>
        </p:nvSpPr>
        <p:spPr>
          <a:xfrm>
            <a:off x="3383280" y="2834640"/>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1,421</a:t>
            </a:r>
          </a:p>
        </p:txBody>
      </p:sp>
      <p:sp>
        <p:nvSpPr>
          <p:cNvPr id="33" name="TextBox 32"/>
          <p:cNvSpPr txBox="1"/>
          <p:nvPr/>
        </p:nvSpPr>
        <p:spPr>
          <a:xfrm>
            <a:off x="4937760" y="2834640"/>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1,128</a:t>
            </a:r>
          </a:p>
        </p:txBody>
      </p:sp>
      <p:sp>
        <p:nvSpPr>
          <p:cNvPr id="34" name="TextBox 33"/>
          <p:cNvSpPr txBox="1"/>
          <p:nvPr/>
        </p:nvSpPr>
        <p:spPr>
          <a:xfrm>
            <a:off x="6446520" y="2834640"/>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1,313</a:t>
            </a:r>
          </a:p>
        </p:txBody>
      </p:sp>
      <p:sp>
        <p:nvSpPr>
          <p:cNvPr id="35" name="TextBox 34"/>
          <p:cNvSpPr txBox="1"/>
          <p:nvPr/>
        </p:nvSpPr>
        <p:spPr>
          <a:xfrm>
            <a:off x="8412480" y="2834640"/>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976</a:t>
            </a:r>
          </a:p>
        </p:txBody>
      </p:sp>
      <p:sp>
        <p:nvSpPr>
          <p:cNvPr id="36" name="TextBox 35"/>
          <p:cNvSpPr txBox="1"/>
          <p:nvPr/>
        </p:nvSpPr>
        <p:spPr>
          <a:xfrm>
            <a:off x="10241280" y="2834640"/>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30</a:t>
            </a:r>
          </a:p>
        </p:txBody>
      </p:sp>
      <p:sp>
        <p:nvSpPr>
          <p:cNvPr id="37" name="Rectangle 36"/>
          <p:cNvSpPr/>
          <p:nvPr/>
        </p:nvSpPr>
        <p:spPr>
          <a:xfrm>
            <a:off x="502920" y="3127248"/>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218688"/>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hammerspace.com</a:t>
            </a:r>
          </a:p>
        </p:txBody>
      </p:sp>
      <p:sp>
        <p:nvSpPr>
          <p:cNvPr id="39" name="TextBox 38"/>
          <p:cNvSpPr txBox="1"/>
          <p:nvPr/>
        </p:nvSpPr>
        <p:spPr>
          <a:xfrm>
            <a:off x="3383280" y="3218688"/>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853</a:t>
            </a:r>
          </a:p>
        </p:txBody>
      </p:sp>
      <p:sp>
        <p:nvSpPr>
          <p:cNvPr id="40" name="TextBox 39"/>
          <p:cNvSpPr txBox="1"/>
          <p:nvPr/>
        </p:nvSpPr>
        <p:spPr>
          <a:xfrm>
            <a:off x="4937760" y="3218688"/>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2,508</a:t>
            </a:r>
          </a:p>
        </p:txBody>
      </p:sp>
      <p:sp>
        <p:nvSpPr>
          <p:cNvPr id="41" name="TextBox 40"/>
          <p:cNvSpPr txBox="1"/>
          <p:nvPr/>
        </p:nvSpPr>
        <p:spPr>
          <a:xfrm>
            <a:off x="6446520" y="3218688"/>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528</a:t>
            </a:r>
          </a:p>
        </p:txBody>
      </p:sp>
      <p:sp>
        <p:nvSpPr>
          <p:cNvPr id="42" name="TextBox 41"/>
          <p:cNvSpPr txBox="1"/>
          <p:nvPr/>
        </p:nvSpPr>
        <p:spPr>
          <a:xfrm>
            <a:off x="8412480" y="3218688"/>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1,511</a:t>
            </a:r>
          </a:p>
        </p:txBody>
      </p:sp>
      <p:sp>
        <p:nvSpPr>
          <p:cNvPr id="43" name="TextBox 42"/>
          <p:cNvSpPr txBox="1"/>
          <p:nvPr/>
        </p:nvSpPr>
        <p:spPr>
          <a:xfrm>
            <a:off x="10241280" y="3218688"/>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33</a:t>
            </a:r>
          </a:p>
        </p:txBody>
      </p:sp>
      <p:sp>
        <p:nvSpPr>
          <p:cNvPr id="44" name="Rectangle 43"/>
          <p:cNvSpPr/>
          <p:nvPr/>
        </p:nvSpPr>
        <p:spPr>
          <a:xfrm>
            <a:off x="502920" y="3511296"/>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5800" y="3602736"/>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atempo.com</a:t>
            </a:r>
          </a:p>
        </p:txBody>
      </p:sp>
      <p:sp>
        <p:nvSpPr>
          <p:cNvPr id="46" name="TextBox 45"/>
          <p:cNvSpPr txBox="1"/>
          <p:nvPr/>
        </p:nvSpPr>
        <p:spPr>
          <a:xfrm>
            <a:off x="3383280" y="3602736"/>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219</a:t>
            </a:r>
          </a:p>
        </p:txBody>
      </p:sp>
      <p:sp>
        <p:nvSpPr>
          <p:cNvPr id="47" name="TextBox 46"/>
          <p:cNvSpPr txBox="1"/>
          <p:nvPr/>
        </p:nvSpPr>
        <p:spPr>
          <a:xfrm>
            <a:off x="4937760" y="3602736"/>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472</a:t>
            </a:r>
          </a:p>
        </p:txBody>
      </p:sp>
      <p:sp>
        <p:nvSpPr>
          <p:cNvPr id="48" name="TextBox 47"/>
          <p:cNvSpPr txBox="1"/>
          <p:nvPr/>
        </p:nvSpPr>
        <p:spPr>
          <a:xfrm>
            <a:off x="6446520" y="3602736"/>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167</a:t>
            </a:r>
          </a:p>
        </p:txBody>
      </p:sp>
      <p:sp>
        <p:nvSpPr>
          <p:cNvPr id="49" name="TextBox 48"/>
          <p:cNvSpPr txBox="1"/>
          <p:nvPr/>
        </p:nvSpPr>
        <p:spPr>
          <a:xfrm>
            <a:off x="8412480" y="3602736"/>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1,021</a:t>
            </a:r>
          </a:p>
        </p:txBody>
      </p:sp>
      <p:sp>
        <p:nvSpPr>
          <p:cNvPr id="50" name="TextBox 49"/>
          <p:cNvSpPr txBox="1"/>
          <p:nvPr/>
        </p:nvSpPr>
        <p:spPr>
          <a:xfrm>
            <a:off x="10241280" y="3602736"/>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33</a:t>
            </a:r>
          </a:p>
        </p:txBody>
      </p:sp>
      <p:sp>
        <p:nvSpPr>
          <p:cNvPr id="51" name="Rectangle 50"/>
          <p:cNvSpPr/>
          <p:nvPr/>
        </p:nvSpPr>
        <p:spPr>
          <a:xfrm>
            <a:off x="502920" y="3895344"/>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5800" y="3986783"/>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datadobi.com</a:t>
            </a:r>
          </a:p>
        </p:txBody>
      </p:sp>
      <p:sp>
        <p:nvSpPr>
          <p:cNvPr id="53" name="TextBox 52"/>
          <p:cNvSpPr txBox="1"/>
          <p:nvPr/>
        </p:nvSpPr>
        <p:spPr>
          <a:xfrm>
            <a:off x="3383280" y="3986783"/>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115</a:t>
            </a:r>
          </a:p>
        </p:txBody>
      </p:sp>
      <p:sp>
        <p:nvSpPr>
          <p:cNvPr id="54" name="TextBox 53"/>
          <p:cNvSpPr txBox="1"/>
          <p:nvPr/>
        </p:nvSpPr>
        <p:spPr>
          <a:xfrm>
            <a:off x="4937760" y="3986783"/>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220</a:t>
            </a:r>
          </a:p>
        </p:txBody>
      </p:sp>
      <p:sp>
        <p:nvSpPr>
          <p:cNvPr id="55" name="TextBox 54"/>
          <p:cNvSpPr txBox="1"/>
          <p:nvPr/>
        </p:nvSpPr>
        <p:spPr>
          <a:xfrm>
            <a:off x="6446520" y="3986783"/>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95</a:t>
            </a:r>
          </a:p>
        </p:txBody>
      </p:sp>
      <p:sp>
        <p:nvSpPr>
          <p:cNvPr id="56" name="TextBox 55"/>
          <p:cNvSpPr txBox="1"/>
          <p:nvPr/>
        </p:nvSpPr>
        <p:spPr>
          <a:xfrm>
            <a:off x="8412480" y="3986783"/>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755</a:t>
            </a:r>
          </a:p>
        </p:txBody>
      </p:sp>
      <p:sp>
        <p:nvSpPr>
          <p:cNvPr id="57" name="TextBox 56"/>
          <p:cNvSpPr txBox="1"/>
          <p:nvPr/>
        </p:nvSpPr>
        <p:spPr>
          <a:xfrm>
            <a:off x="10241280" y="3986783"/>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23</a:t>
            </a:r>
          </a:p>
        </p:txBody>
      </p:sp>
      <p:sp>
        <p:nvSpPr>
          <p:cNvPr id="58" name="Rectangle 57"/>
          <p:cNvSpPr/>
          <p:nvPr/>
        </p:nvSpPr>
        <p:spPr>
          <a:xfrm>
            <a:off x="502920" y="4279392"/>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85800" y="4370831"/>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diskoverdata.com</a:t>
            </a:r>
          </a:p>
        </p:txBody>
      </p:sp>
      <p:sp>
        <p:nvSpPr>
          <p:cNvPr id="60" name="TextBox 59"/>
          <p:cNvSpPr txBox="1"/>
          <p:nvPr/>
        </p:nvSpPr>
        <p:spPr>
          <a:xfrm>
            <a:off x="3383280" y="4370831"/>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82</a:t>
            </a:r>
          </a:p>
        </p:txBody>
      </p:sp>
      <p:sp>
        <p:nvSpPr>
          <p:cNvPr id="61" name="TextBox 60"/>
          <p:cNvSpPr txBox="1"/>
          <p:nvPr/>
        </p:nvSpPr>
        <p:spPr>
          <a:xfrm>
            <a:off x="4937760" y="4370831"/>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413</a:t>
            </a:r>
          </a:p>
        </p:txBody>
      </p:sp>
      <p:sp>
        <p:nvSpPr>
          <p:cNvPr id="62" name="TextBox 61"/>
          <p:cNvSpPr txBox="1"/>
          <p:nvPr/>
        </p:nvSpPr>
        <p:spPr>
          <a:xfrm>
            <a:off x="6446520" y="4370831"/>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49</a:t>
            </a:r>
          </a:p>
        </p:txBody>
      </p:sp>
      <p:sp>
        <p:nvSpPr>
          <p:cNvPr id="63" name="TextBox 62"/>
          <p:cNvSpPr txBox="1"/>
          <p:nvPr/>
        </p:nvSpPr>
        <p:spPr>
          <a:xfrm>
            <a:off x="8412480" y="4370831"/>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469</a:t>
            </a:r>
          </a:p>
        </p:txBody>
      </p:sp>
      <p:sp>
        <p:nvSpPr>
          <p:cNvPr id="64" name="TextBox 63"/>
          <p:cNvSpPr txBox="1"/>
          <p:nvPr/>
        </p:nvSpPr>
        <p:spPr>
          <a:xfrm>
            <a:off x="10241280" y="4370831"/>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25</a:t>
            </a:r>
          </a:p>
        </p:txBody>
      </p:sp>
      <p:sp>
        <p:nvSpPr>
          <p:cNvPr id="65" name="TextBox 64"/>
          <p:cNvSpPr txBox="1"/>
          <p:nvPr/>
        </p:nvSpPr>
        <p:spPr>
          <a:xfrm>
            <a:off x="557784" y="4709160"/>
            <a:ext cx="11064240" cy="329184"/>
          </a:xfrm>
          <a:prstGeom prst="rect">
            <a:avLst/>
          </a:prstGeom>
          <a:noFill/>
        </p:spPr>
        <p:txBody>
          <a:bodyPr wrap="square" lIns="0" tIns="0" rIns="0" bIns="0" anchor="t">
            <a:spAutoFit/>
          </a:bodyPr>
          <a:lstStyle/>
          <a:p>
            <a:pPr>
              <a:lnSpc>
                <a:spcPct val="120000"/>
              </a:lnSpc>
            </a:pPr>
            <a:r>
              <a:rPr lang="en-GB" sz="900" dirty="0">
                <a:solidFill>
                  <a:srgbClr val="8A8A8D"/>
                </a:solidFill>
                <a:latin typeface="Open Sans"/>
              </a:rPr>
              <a:t>* </a:t>
            </a:r>
            <a:r>
              <a:rPr lang="en-GB" sz="900" dirty="0" err="1">
                <a:solidFill>
                  <a:srgbClr val="8A8A8D"/>
                </a:solidFill>
                <a:latin typeface="Open Sans"/>
              </a:rPr>
              <a:t>Komprise</a:t>
            </a:r>
            <a:r>
              <a:rPr lang="en-GB" sz="900" dirty="0">
                <a:solidFill>
                  <a:srgbClr val="8A8A8D"/>
                </a:solidFill>
                <a:latin typeface="Open Sans"/>
              </a:rPr>
              <a:t> traffic is actual based on our Google Analytics. The other four are SEMrush estimates, which model clicks from ranking position and expected CTRs from those specific positions. </a:t>
            </a:r>
            <a:br>
              <a:rPr lang="en-GB" sz="900" dirty="0">
                <a:solidFill>
                  <a:srgbClr val="8A8A8D"/>
                </a:solidFill>
                <a:latin typeface="Open Sans"/>
              </a:rPr>
            </a:br>
            <a:r>
              <a:rPr lang="en-GB" sz="900" dirty="0">
                <a:solidFill>
                  <a:srgbClr val="8A8A8D"/>
                </a:solidFill>
                <a:latin typeface="Open Sans"/>
              </a:rPr>
              <a:t>   Page counts are Google Search estimates and include subdomains.</a:t>
            </a:r>
          </a:p>
        </p:txBody>
      </p:sp>
      <p:sp>
        <p:nvSpPr>
          <p:cNvPr id="66" name="Rectangle 65"/>
          <p:cNvSpPr/>
          <p:nvPr/>
        </p:nvSpPr>
        <p:spPr>
          <a:xfrm>
            <a:off x="502920" y="5074920"/>
            <a:ext cx="5504688" cy="96012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02920" y="5074920"/>
            <a:ext cx="54864" cy="96012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58952" y="5212080"/>
            <a:ext cx="5074920" cy="625299"/>
          </a:xfrm>
          <a:prstGeom prst="rect">
            <a:avLst/>
          </a:prstGeom>
          <a:noFill/>
        </p:spPr>
        <p:txBody>
          <a:bodyPr wrap="square" lIns="0" tIns="0" rIns="0" bIns="0" anchor="t">
            <a:spAutoFit/>
          </a:bodyPr>
          <a:lstStyle/>
          <a:p>
            <a:pPr algn="l">
              <a:lnSpc>
                <a:spcPct val="115000"/>
              </a:lnSpc>
              <a:spcAft>
                <a:spcPts val="400"/>
              </a:spcAft>
            </a:pPr>
            <a:r>
              <a:rPr sz="1200" b="1" dirty="0">
                <a:solidFill>
                  <a:srgbClr val="59257B"/>
                </a:solidFill>
                <a:latin typeface="Open Sans"/>
              </a:rPr>
              <a:t>A clear lead across the set</a:t>
            </a:r>
          </a:p>
          <a:p>
            <a:pPr algn="l">
              <a:lnSpc>
                <a:spcPct val="122000"/>
              </a:lnSpc>
              <a:spcAft>
                <a:spcPts val="0"/>
              </a:spcAft>
            </a:pPr>
            <a:r>
              <a:rPr sz="1000" b="0" dirty="0">
                <a:solidFill>
                  <a:srgbClr val="595A5B"/>
                </a:solidFill>
                <a:latin typeface="Open Sans"/>
              </a:rPr>
              <a:t>Close to </a:t>
            </a:r>
            <a:r>
              <a:rPr lang="en-US" sz="1000" dirty="0">
                <a:solidFill>
                  <a:srgbClr val="595A5B"/>
                </a:solidFill>
                <a:latin typeface="Open Sans"/>
              </a:rPr>
              <a:t>3X </a:t>
            </a:r>
            <a:r>
              <a:rPr sz="1000" b="0" dirty="0">
                <a:solidFill>
                  <a:srgbClr val="595A5B"/>
                </a:solidFill>
                <a:latin typeface="Open Sans"/>
              </a:rPr>
              <a:t>keywords of the nearest </a:t>
            </a:r>
            <a:r>
              <a:rPr lang="en-US" sz="1000" b="0" dirty="0">
                <a:solidFill>
                  <a:srgbClr val="595A5B"/>
                </a:solidFill>
                <a:latin typeface="Open Sans"/>
              </a:rPr>
              <a:t>competitor</a:t>
            </a:r>
            <a:r>
              <a:rPr sz="1000" b="0" dirty="0">
                <a:solidFill>
                  <a:srgbClr val="595A5B"/>
                </a:solidFill>
                <a:latin typeface="Open Sans"/>
              </a:rPr>
              <a:t> and </a:t>
            </a:r>
            <a:r>
              <a:rPr lang="en-US" sz="1000" b="0" dirty="0">
                <a:solidFill>
                  <a:srgbClr val="595A5B"/>
                </a:solidFill>
                <a:latin typeface="Open Sans"/>
              </a:rPr>
              <a:t>3</a:t>
            </a:r>
            <a:r>
              <a:rPr sz="1000" b="0" dirty="0">
                <a:solidFill>
                  <a:srgbClr val="595A5B"/>
                </a:solidFill>
                <a:latin typeface="Open Sans"/>
              </a:rPr>
              <a:t> times the presence in AI answers.</a:t>
            </a:r>
          </a:p>
        </p:txBody>
      </p:sp>
      <p:sp>
        <p:nvSpPr>
          <p:cNvPr id="69" name="Rectangle 68"/>
          <p:cNvSpPr/>
          <p:nvPr/>
        </p:nvSpPr>
        <p:spPr>
          <a:xfrm>
            <a:off x="6181344" y="5074920"/>
            <a:ext cx="5504688" cy="96012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6181344" y="5074920"/>
            <a:ext cx="54864" cy="960120"/>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437376" y="5212080"/>
            <a:ext cx="5074920" cy="813043"/>
          </a:xfrm>
          <a:prstGeom prst="rect">
            <a:avLst/>
          </a:prstGeom>
          <a:noFill/>
        </p:spPr>
        <p:txBody>
          <a:bodyPr wrap="square" lIns="0" tIns="0" rIns="0" bIns="0" anchor="t">
            <a:spAutoFit/>
          </a:bodyPr>
          <a:lstStyle/>
          <a:p>
            <a:pPr algn="l">
              <a:lnSpc>
                <a:spcPct val="115000"/>
              </a:lnSpc>
              <a:spcAft>
                <a:spcPts val="400"/>
              </a:spcAft>
            </a:pPr>
            <a:r>
              <a:rPr sz="1200" b="1" dirty="0">
                <a:solidFill>
                  <a:srgbClr val="59257B"/>
                </a:solidFill>
                <a:latin typeface="Open Sans"/>
              </a:rPr>
              <a:t>Where the gap is closing</a:t>
            </a:r>
            <a:endParaRPr lang="en-IN" sz="1200" b="1" dirty="0">
              <a:solidFill>
                <a:srgbClr val="59257B"/>
              </a:solidFill>
              <a:latin typeface="Open Sans"/>
            </a:endParaRPr>
          </a:p>
          <a:p>
            <a:pPr>
              <a:lnSpc>
                <a:spcPct val="122000"/>
              </a:lnSpc>
            </a:pPr>
            <a:r>
              <a:rPr lang="en-GB" sz="1000" dirty="0" err="1">
                <a:solidFill>
                  <a:srgbClr val="595A5B"/>
                </a:solidFill>
                <a:latin typeface="Open Sans"/>
              </a:rPr>
              <a:t>Hammerspace</a:t>
            </a:r>
            <a:r>
              <a:rPr lang="en-GB" sz="1000" dirty="0">
                <a:solidFill>
                  <a:srgbClr val="595A5B"/>
                </a:solidFill>
                <a:latin typeface="Open Sans"/>
              </a:rPr>
              <a:t> and Unstructured.io grew AI answer presence by over a third between July and August while ours held flat. Mainly because much of our technical work landed late in the quarter, so the effect should show in the months ahead.</a:t>
            </a:r>
            <a:endParaRPr lang="en-GB" sz="1000" b="0" dirty="0">
              <a:solidFill>
                <a:srgbClr val="595A5B"/>
              </a:solidFill>
              <a:latin typeface="Open Sans"/>
            </a:endParaRPr>
          </a:p>
        </p:txBody>
      </p:sp>
      <p:sp>
        <p:nvSpPr>
          <p:cNvPr id="72" name="Rectangle 71"/>
          <p:cNvSpPr/>
          <p:nvPr/>
        </p:nvSpPr>
        <p:spPr>
          <a:xfrm>
            <a:off x="502920" y="6108192"/>
            <a:ext cx="11183112" cy="32918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02920" y="6108192"/>
            <a:ext cx="54864" cy="329184"/>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58952" y="6181344"/>
            <a:ext cx="10789920" cy="165815"/>
          </a:xfrm>
          <a:prstGeom prst="rect">
            <a:avLst/>
          </a:prstGeom>
          <a:noFill/>
        </p:spPr>
        <p:txBody>
          <a:bodyPr wrap="square" lIns="0" tIns="0" rIns="0" bIns="0" anchor="t">
            <a:spAutoFit/>
          </a:bodyPr>
          <a:lstStyle/>
          <a:p>
            <a:pPr algn="l">
              <a:lnSpc>
                <a:spcPct val="115000"/>
              </a:lnSpc>
              <a:spcAft>
                <a:spcPts val="0"/>
              </a:spcAft>
            </a:pPr>
            <a:r>
              <a:rPr sz="1000" b="1" dirty="0">
                <a:solidFill>
                  <a:srgbClr val="59257B"/>
                </a:solidFill>
                <a:latin typeface="Open Sans"/>
              </a:rPr>
              <a:t>Authority is the compounding asset here. At 43</a:t>
            </a:r>
            <a:r>
              <a:rPr lang="en-US" sz="1000" b="1" dirty="0">
                <a:solidFill>
                  <a:srgbClr val="59257B"/>
                </a:solidFill>
                <a:latin typeface="Open Sans"/>
              </a:rPr>
              <a:t>,</a:t>
            </a:r>
            <a:r>
              <a:rPr sz="1000" b="1" dirty="0">
                <a:solidFill>
                  <a:srgbClr val="59257B"/>
                </a:solidFill>
                <a:latin typeface="Open Sans"/>
              </a:rPr>
              <a:t> we sit seven points clear of the next </a:t>
            </a:r>
            <a:r>
              <a:rPr lang="en-US" sz="1000" b="1" dirty="0">
                <a:solidFill>
                  <a:srgbClr val="59257B"/>
                </a:solidFill>
                <a:latin typeface="Open Sans"/>
              </a:rPr>
              <a:t>competitor</a:t>
            </a:r>
            <a:r>
              <a:rPr sz="1000" b="1" dirty="0">
                <a:solidFill>
                  <a:srgbClr val="59257B"/>
                </a:solidFill>
                <a:latin typeface="Open Sans"/>
              </a:rPr>
              <a:t> and level with Cohesity, a far larger company.</a:t>
            </a:r>
          </a:p>
        </p:txBody>
      </p:sp>
      <p:sp>
        <p:nvSpPr>
          <p:cNvPr id="76" name="TextBox 7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COMPETITIVE POSITION</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How Komprise Compares to the Broader Vendor Set</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Organic search footprint and domain authority across the vendor set the board asked about.</a:t>
            </a:r>
          </a:p>
        </p:txBody>
      </p:sp>
      <p:sp>
        <p:nvSpPr>
          <p:cNvPr id="8" name="Rectangle 7"/>
          <p:cNvSpPr/>
          <p:nvPr/>
        </p:nvSpPr>
        <p:spPr>
          <a:xfrm>
            <a:off x="502920" y="1481328"/>
            <a:ext cx="11183112" cy="4754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632907"/>
            <a:ext cx="2697480" cy="149913"/>
          </a:xfrm>
          <a:prstGeom prst="rect">
            <a:avLst/>
          </a:prstGeom>
          <a:noFill/>
        </p:spPr>
        <p:txBody>
          <a:bodyPr wrap="square" lIns="0" tIns="0" rIns="0" bIns="0" anchor="ctr" anchorCtr="0">
            <a:spAutoFit/>
          </a:bodyPr>
          <a:lstStyle/>
          <a:p>
            <a:pPr algn="l">
              <a:lnSpc>
                <a:spcPct val="108000"/>
              </a:lnSpc>
              <a:spcAft>
                <a:spcPts val="0"/>
              </a:spcAft>
            </a:pPr>
            <a:r>
              <a:rPr lang="en-US" sz="950" b="1" dirty="0">
                <a:solidFill>
                  <a:srgbClr val="FFFFFF"/>
                </a:solidFill>
                <a:latin typeface="Open Sans"/>
              </a:rPr>
              <a:t>Vendor</a:t>
            </a:r>
            <a:endParaRPr sz="950" b="1" dirty="0">
              <a:solidFill>
                <a:srgbClr val="FFFFFF"/>
              </a:solidFill>
              <a:latin typeface="Open Sans"/>
            </a:endParaRPr>
          </a:p>
        </p:txBody>
      </p:sp>
      <p:sp>
        <p:nvSpPr>
          <p:cNvPr id="10" name="TextBox 9"/>
          <p:cNvSpPr txBox="1"/>
          <p:nvPr/>
        </p:nvSpPr>
        <p:spPr>
          <a:xfrm>
            <a:off x="3474720" y="1642739"/>
            <a:ext cx="155448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Ranking Keywords</a:t>
            </a:r>
          </a:p>
        </p:txBody>
      </p:sp>
      <p:sp>
        <p:nvSpPr>
          <p:cNvPr id="11" name="TextBox 10"/>
          <p:cNvSpPr txBox="1"/>
          <p:nvPr/>
        </p:nvSpPr>
        <p:spPr>
          <a:xfrm>
            <a:off x="5074920" y="1642739"/>
            <a:ext cx="146304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Pages Indexed</a:t>
            </a:r>
          </a:p>
        </p:txBody>
      </p:sp>
      <p:sp>
        <p:nvSpPr>
          <p:cNvPr id="12" name="TextBox 11"/>
          <p:cNvSpPr txBox="1"/>
          <p:nvPr/>
        </p:nvSpPr>
        <p:spPr>
          <a:xfrm>
            <a:off x="6583680" y="1642739"/>
            <a:ext cx="155448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Monthly Traffic</a:t>
            </a:r>
          </a:p>
        </p:txBody>
      </p:sp>
      <p:sp>
        <p:nvSpPr>
          <p:cNvPr id="13" name="TextBox 12"/>
          <p:cNvSpPr txBox="1"/>
          <p:nvPr/>
        </p:nvSpPr>
        <p:spPr>
          <a:xfrm>
            <a:off x="8183879" y="1642739"/>
            <a:ext cx="196596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Keywords in AI Answers</a:t>
            </a:r>
          </a:p>
        </p:txBody>
      </p:sp>
      <p:sp>
        <p:nvSpPr>
          <p:cNvPr id="14" name="TextBox 13"/>
          <p:cNvSpPr txBox="1"/>
          <p:nvPr/>
        </p:nvSpPr>
        <p:spPr>
          <a:xfrm>
            <a:off x="10195560" y="1641592"/>
            <a:ext cx="128016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Authority</a:t>
            </a:r>
            <a:r>
              <a:rPr lang="en-US" sz="950" b="1" dirty="0">
                <a:solidFill>
                  <a:srgbClr val="FFFFFF"/>
                </a:solidFill>
                <a:latin typeface="Open Sans"/>
              </a:rPr>
              <a:t> Score</a:t>
            </a:r>
            <a:endParaRPr sz="950" b="1" dirty="0">
              <a:solidFill>
                <a:srgbClr val="FFFFFF"/>
              </a:solidFill>
              <a:latin typeface="Open Sans"/>
            </a:endParaRPr>
          </a:p>
        </p:txBody>
      </p:sp>
      <p:sp>
        <p:nvSpPr>
          <p:cNvPr id="15" name="Rectangle 14"/>
          <p:cNvSpPr/>
          <p:nvPr/>
        </p:nvSpPr>
        <p:spPr>
          <a:xfrm>
            <a:off x="502920" y="2029968"/>
            <a:ext cx="11183112" cy="420624"/>
          </a:xfrm>
          <a:prstGeom prst="rect">
            <a:avLst/>
          </a:prstGeom>
          <a:solidFill>
            <a:srgbClr val="E9E2F0"/>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2029968"/>
            <a:ext cx="54864" cy="420624"/>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139696"/>
            <a:ext cx="2697480" cy="237744"/>
          </a:xfrm>
          <a:prstGeom prst="rect">
            <a:avLst/>
          </a:prstGeom>
          <a:noFill/>
        </p:spPr>
        <p:txBody>
          <a:bodyPr wrap="square" lIns="0" tIns="0" rIns="0" bIns="0" anchor="t">
            <a:spAutoFit/>
          </a:bodyPr>
          <a:lstStyle/>
          <a:p>
            <a:pPr algn="l">
              <a:lnSpc>
                <a:spcPct val="115000"/>
              </a:lnSpc>
              <a:spcAft>
                <a:spcPts val="0"/>
              </a:spcAft>
            </a:pPr>
            <a:r>
              <a:rPr sz="1150" b="1">
                <a:solidFill>
                  <a:srgbClr val="59257B"/>
                </a:solidFill>
                <a:latin typeface="Open Sans"/>
              </a:rPr>
              <a:t>Komprise</a:t>
            </a:r>
          </a:p>
        </p:txBody>
      </p:sp>
      <p:sp>
        <p:nvSpPr>
          <p:cNvPr id="18" name="TextBox 17"/>
          <p:cNvSpPr txBox="1"/>
          <p:nvPr/>
        </p:nvSpPr>
        <p:spPr>
          <a:xfrm>
            <a:off x="3474720" y="2139696"/>
            <a:ext cx="155448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6,139</a:t>
            </a:r>
          </a:p>
        </p:txBody>
      </p:sp>
      <p:sp>
        <p:nvSpPr>
          <p:cNvPr id="19" name="TextBox 18"/>
          <p:cNvSpPr txBox="1"/>
          <p:nvPr/>
        </p:nvSpPr>
        <p:spPr>
          <a:xfrm>
            <a:off x="5074920" y="2139696"/>
            <a:ext cx="146304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1,610</a:t>
            </a:r>
          </a:p>
        </p:txBody>
      </p:sp>
      <p:sp>
        <p:nvSpPr>
          <p:cNvPr id="20" name="TextBox 19"/>
          <p:cNvSpPr txBox="1"/>
          <p:nvPr/>
        </p:nvSpPr>
        <p:spPr>
          <a:xfrm>
            <a:off x="6583680" y="2139696"/>
            <a:ext cx="155448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4,600 *</a:t>
            </a:r>
          </a:p>
        </p:txBody>
      </p:sp>
      <p:sp>
        <p:nvSpPr>
          <p:cNvPr id="21" name="TextBox 20"/>
          <p:cNvSpPr txBox="1"/>
          <p:nvPr/>
        </p:nvSpPr>
        <p:spPr>
          <a:xfrm>
            <a:off x="8183879" y="2139696"/>
            <a:ext cx="196596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5,464</a:t>
            </a:r>
          </a:p>
        </p:txBody>
      </p:sp>
      <p:sp>
        <p:nvSpPr>
          <p:cNvPr id="22" name="TextBox 21"/>
          <p:cNvSpPr txBox="1"/>
          <p:nvPr/>
        </p:nvSpPr>
        <p:spPr>
          <a:xfrm>
            <a:off x="10195560" y="2139696"/>
            <a:ext cx="128016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43</a:t>
            </a:r>
          </a:p>
        </p:txBody>
      </p:sp>
      <p:sp>
        <p:nvSpPr>
          <p:cNvPr id="23" name="Rectangle 22"/>
          <p:cNvSpPr/>
          <p:nvPr/>
        </p:nvSpPr>
        <p:spPr>
          <a:xfrm>
            <a:off x="502920" y="2487168"/>
            <a:ext cx="11183112" cy="42062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25968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NetApp</a:t>
            </a:r>
          </a:p>
        </p:txBody>
      </p:sp>
      <p:sp>
        <p:nvSpPr>
          <p:cNvPr id="25" name="TextBox 24"/>
          <p:cNvSpPr txBox="1"/>
          <p:nvPr/>
        </p:nvSpPr>
        <p:spPr>
          <a:xfrm>
            <a:off x="3474720" y="25968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39,118</a:t>
            </a:r>
          </a:p>
        </p:txBody>
      </p:sp>
      <p:sp>
        <p:nvSpPr>
          <p:cNvPr id="26" name="TextBox 25"/>
          <p:cNvSpPr txBox="1"/>
          <p:nvPr/>
        </p:nvSpPr>
        <p:spPr>
          <a:xfrm>
            <a:off x="5074920" y="25968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621,000</a:t>
            </a:r>
          </a:p>
        </p:txBody>
      </p:sp>
      <p:sp>
        <p:nvSpPr>
          <p:cNvPr id="27" name="TextBox 26"/>
          <p:cNvSpPr txBox="1"/>
          <p:nvPr/>
        </p:nvSpPr>
        <p:spPr>
          <a:xfrm>
            <a:off x="6583680" y="25968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75,742</a:t>
            </a:r>
          </a:p>
        </p:txBody>
      </p:sp>
      <p:sp>
        <p:nvSpPr>
          <p:cNvPr id="28" name="TextBox 27"/>
          <p:cNvSpPr txBox="1"/>
          <p:nvPr/>
        </p:nvSpPr>
        <p:spPr>
          <a:xfrm>
            <a:off x="8183879" y="25968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32,473</a:t>
            </a:r>
          </a:p>
        </p:txBody>
      </p:sp>
      <p:sp>
        <p:nvSpPr>
          <p:cNvPr id="29" name="TextBox 28"/>
          <p:cNvSpPr txBox="1"/>
          <p:nvPr/>
        </p:nvSpPr>
        <p:spPr>
          <a:xfrm>
            <a:off x="10195560" y="25968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51</a:t>
            </a:r>
          </a:p>
        </p:txBody>
      </p:sp>
      <p:sp>
        <p:nvSpPr>
          <p:cNvPr id="30" name="Rectangle 29"/>
          <p:cNvSpPr/>
          <p:nvPr/>
        </p:nvSpPr>
        <p:spPr>
          <a:xfrm>
            <a:off x="502920" y="2944368"/>
            <a:ext cx="11183112" cy="420624"/>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0540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Everpure (Pure)</a:t>
            </a:r>
          </a:p>
        </p:txBody>
      </p:sp>
      <p:sp>
        <p:nvSpPr>
          <p:cNvPr id="32" name="TextBox 31"/>
          <p:cNvSpPr txBox="1"/>
          <p:nvPr/>
        </p:nvSpPr>
        <p:spPr>
          <a:xfrm>
            <a:off x="3474720" y="30540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20,134</a:t>
            </a:r>
          </a:p>
        </p:txBody>
      </p:sp>
      <p:sp>
        <p:nvSpPr>
          <p:cNvPr id="33" name="TextBox 32"/>
          <p:cNvSpPr txBox="1"/>
          <p:nvPr/>
        </p:nvSpPr>
        <p:spPr>
          <a:xfrm>
            <a:off x="5074920" y="30540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32,900</a:t>
            </a:r>
          </a:p>
        </p:txBody>
      </p:sp>
      <p:sp>
        <p:nvSpPr>
          <p:cNvPr id="34" name="TextBox 33"/>
          <p:cNvSpPr txBox="1"/>
          <p:nvPr/>
        </p:nvSpPr>
        <p:spPr>
          <a:xfrm>
            <a:off x="6583680" y="30540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42,990</a:t>
            </a:r>
          </a:p>
        </p:txBody>
      </p:sp>
      <p:sp>
        <p:nvSpPr>
          <p:cNvPr id="35" name="TextBox 34"/>
          <p:cNvSpPr txBox="1"/>
          <p:nvPr/>
        </p:nvSpPr>
        <p:spPr>
          <a:xfrm>
            <a:off x="8183879" y="30540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17,968</a:t>
            </a:r>
          </a:p>
        </p:txBody>
      </p:sp>
      <p:sp>
        <p:nvSpPr>
          <p:cNvPr id="36" name="TextBox 35"/>
          <p:cNvSpPr txBox="1"/>
          <p:nvPr/>
        </p:nvSpPr>
        <p:spPr>
          <a:xfrm>
            <a:off x="10195560" y="30540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51</a:t>
            </a:r>
          </a:p>
        </p:txBody>
      </p:sp>
      <p:sp>
        <p:nvSpPr>
          <p:cNvPr id="37" name="Rectangle 36"/>
          <p:cNvSpPr/>
          <p:nvPr/>
        </p:nvSpPr>
        <p:spPr>
          <a:xfrm>
            <a:off x="502920" y="3401568"/>
            <a:ext cx="11183112" cy="42062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5112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Cohesity</a:t>
            </a:r>
          </a:p>
        </p:txBody>
      </p:sp>
      <p:sp>
        <p:nvSpPr>
          <p:cNvPr id="39" name="TextBox 38"/>
          <p:cNvSpPr txBox="1"/>
          <p:nvPr/>
        </p:nvSpPr>
        <p:spPr>
          <a:xfrm>
            <a:off x="3474720" y="35112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13,381</a:t>
            </a:r>
          </a:p>
        </p:txBody>
      </p:sp>
      <p:sp>
        <p:nvSpPr>
          <p:cNvPr id="40" name="TextBox 39"/>
          <p:cNvSpPr txBox="1"/>
          <p:nvPr/>
        </p:nvSpPr>
        <p:spPr>
          <a:xfrm>
            <a:off x="5074920" y="35112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310,000</a:t>
            </a:r>
          </a:p>
        </p:txBody>
      </p:sp>
      <p:sp>
        <p:nvSpPr>
          <p:cNvPr id="41" name="TextBox 40"/>
          <p:cNvSpPr txBox="1"/>
          <p:nvPr/>
        </p:nvSpPr>
        <p:spPr>
          <a:xfrm>
            <a:off x="6583680" y="35112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36,773</a:t>
            </a:r>
          </a:p>
        </p:txBody>
      </p:sp>
      <p:sp>
        <p:nvSpPr>
          <p:cNvPr id="42" name="TextBox 41"/>
          <p:cNvSpPr txBox="1"/>
          <p:nvPr/>
        </p:nvSpPr>
        <p:spPr>
          <a:xfrm>
            <a:off x="8183879" y="35112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11,136</a:t>
            </a:r>
          </a:p>
        </p:txBody>
      </p:sp>
      <p:sp>
        <p:nvSpPr>
          <p:cNvPr id="43" name="TextBox 42"/>
          <p:cNvSpPr txBox="1"/>
          <p:nvPr/>
        </p:nvSpPr>
        <p:spPr>
          <a:xfrm>
            <a:off x="10195560" y="35112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43</a:t>
            </a:r>
          </a:p>
        </p:txBody>
      </p:sp>
      <p:sp>
        <p:nvSpPr>
          <p:cNvPr id="44" name="Rectangle 43"/>
          <p:cNvSpPr/>
          <p:nvPr/>
        </p:nvSpPr>
        <p:spPr>
          <a:xfrm>
            <a:off x="502920" y="3858768"/>
            <a:ext cx="11183112" cy="420624"/>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5800" y="39684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Commvault</a:t>
            </a:r>
          </a:p>
        </p:txBody>
      </p:sp>
      <p:sp>
        <p:nvSpPr>
          <p:cNvPr id="46" name="TextBox 45"/>
          <p:cNvSpPr txBox="1"/>
          <p:nvPr/>
        </p:nvSpPr>
        <p:spPr>
          <a:xfrm>
            <a:off x="3474720" y="39684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18,472</a:t>
            </a:r>
          </a:p>
        </p:txBody>
      </p:sp>
      <p:sp>
        <p:nvSpPr>
          <p:cNvPr id="47" name="TextBox 46"/>
          <p:cNvSpPr txBox="1"/>
          <p:nvPr/>
        </p:nvSpPr>
        <p:spPr>
          <a:xfrm>
            <a:off x="5074920" y="39684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172,000</a:t>
            </a:r>
          </a:p>
        </p:txBody>
      </p:sp>
      <p:sp>
        <p:nvSpPr>
          <p:cNvPr id="48" name="TextBox 47"/>
          <p:cNvSpPr txBox="1"/>
          <p:nvPr/>
        </p:nvSpPr>
        <p:spPr>
          <a:xfrm>
            <a:off x="6583680" y="39684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33,189</a:t>
            </a:r>
          </a:p>
        </p:txBody>
      </p:sp>
      <p:sp>
        <p:nvSpPr>
          <p:cNvPr id="49" name="TextBox 48"/>
          <p:cNvSpPr txBox="1"/>
          <p:nvPr/>
        </p:nvSpPr>
        <p:spPr>
          <a:xfrm>
            <a:off x="8183879" y="39684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14,773</a:t>
            </a:r>
          </a:p>
        </p:txBody>
      </p:sp>
      <p:sp>
        <p:nvSpPr>
          <p:cNvPr id="50" name="TextBox 49"/>
          <p:cNvSpPr txBox="1"/>
          <p:nvPr/>
        </p:nvSpPr>
        <p:spPr>
          <a:xfrm>
            <a:off x="10195560" y="39684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47</a:t>
            </a:r>
          </a:p>
        </p:txBody>
      </p:sp>
      <p:sp>
        <p:nvSpPr>
          <p:cNvPr id="51" name="TextBox 50"/>
          <p:cNvSpPr txBox="1"/>
          <p:nvPr/>
        </p:nvSpPr>
        <p:spPr>
          <a:xfrm>
            <a:off x="557784" y="4389120"/>
            <a:ext cx="11064240"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8A8A8D"/>
                </a:solidFill>
                <a:latin typeface="Open Sans"/>
              </a:rPr>
              <a:t>* Komprise </a:t>
            </a:r>
            <a:r>
              <a:rPr lang="en-US" sz="900" b="0" dirty="0">
                <a:solidFill>
                  <a:srgbClr val="8A8A8D"/>
                </a:solidFill>
                <a:latin typeface="Open Sans"/>
              </a:rPr>
              <a:t>traffic is actual based on our Google Analytics.</a:t>
            </a:r>
            <a:r>
              <a:rPr sz="900" b="0" dirty="0">
                <a:solidFill>
                  <a:srgbClr val="8A8A8D"/>
                </a:solidFill>
                <a:latin typeface="Open Sans"/>
              </a:rPr>
              <a:t> The other four are S</a:t>
            </a:r>
            <a:r>
              <a:rPr lang="en-US" sz="900" b="0" dirty="0">
                <a:solidFill>
                  <a:srgbClr val="8A8A8D"/>
                </a:solidFill>
                <a:latin typeface="Open Sans"/>
              </a:rPr>
              <a:t>EM</a:t>
            </a:r>
            <a:r>
              <a:rPr sz="900" b="0" dirty="0">
                <a:solidFill>
                  <a:srgbClr val="8A8A8D"/>
                </a:solidFill>
                <a:latin typeface="Open Sans"/>
              </a:rPr>
              <a:t>rush estimates, which model clicks from ranking position and </a:t>
            </a:r>
            <a:r>
              <a:rPr lang="en-US" sz="900" dirty="0">
                <a:solidFill>
                  <a:srgbClr val="8A8A8D"/>
                </a:solidFill>
                <a:latin typeface="Open Sans"/>
              </a:rPr>
              <a:t>expected</a:t>
            </a:r>
            <a:r>
              <a:rPr lang="en-US" sz="900" b="0" dirty="0">
                <a:solidFill>
                  <a:srgbClr val="8A8A8D"/>
                </a:solidFill>
                <a:latin typeface="Open Sans"/>
              </a:rPr>
              <a:t> CTRs from those specific positions</a:t>
            </a:r>
            <a:r>
              <a:rPr sz="900" b="0" dirty="0">
                <a:solidFill>
                  <a:srgbClr val="8A8A8D"/>
                </a:solidFill>
                <a:latin typeface="Open Sans"/>
              </a:rPr>
              <a:t>. </a:t>
            </a:r>
            <a:br>
              <a:rPr lang="en-US" sz="900" dirty="0">
                <a:solidFill>
                  <a:srgbClr val="8A8A8D"/>
                </a:solidFill>
                <a:latin typeface="Open Sans"/>
              </a:rPr>
            </a:br>
            <a:r>
              <a:rPr lang="en-US" sz="900" dirty="0">
                <a:solidFill>
                  <a:srgbClr val="8A8A8D"/>
                </a:solidFill>
                <a:latin typeface="Open Sans"/>
              </a:rPr>
              <a:t>   </a:t>
            </a:r>
            <a:r>
              <a:rPr sz="900" b="0" dirty="0">
                <a:solidFill>
                  <a:srgbClr val="8A8A8D"/>
                </a:solidFill>
                <a:latin typeface="Open Sans"/>
              </a:rPr>
              <a:t>Page counts are Google</a:t>
            </a:r>
            <a:r>
              <a:rPr lang="en-US" sz="900" b="0" dirty="0">
                <a:solidFill>
                  <a:srgbClr val="8A8A8D"/>
                </a:solidFill>
                <a:latin typeface="Open Sans"/>
              </a:rPr>
              <a:t> Search</a:t>
            </a:r>
            <a:r>
              <a:rPr sz="900" b="0" dirty="0">
                <a:solidFill>
                  <a:srgbClr val="8A8A8D"/>
                </a:solidFill>
                <a:latin typeface="Open Sans"/>
              </a:rPr>
              <a:t> estimates and include subdomains.</a:t>
            </a:r>
          </a:p>
        </p:txBody>
      </p:sp>
      <p:sp>
        <p:nvSpPr>
          <p:cNvPr id="52" name="Rectangle 51"/>
          <p:cNvSpPr/>
          <p:nvPr/>
        </p:nvSpPr>
        <p:spPr>
          <a:xfrm>
            <a:off x="502920" y="4919472"/>
            <a:ext cx="11183112" cy="95097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2920" y="4919472"/>
            <a:ext cx="54864" cy="95097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91398" y="5056331"/>
            <a:ext cx="10419146" cy="670761"/>
          </a:xfrm>
          <a:prstGeom prst="rect">
            <a:avLst/>
          </a:prstGeom>
          <a:noFill/>
        </p:spPr>
        <p:txBody>
          <a:bodyPr wrap="square" lIns="0" tIns="0" rIns="0" bIns="0" anchor="t">
            <a:spAutoFit/>
          </a:bodyPr>
          <a:lstStyle/>
          <a:p>
            <a:pPr algn="l">
              <a:lnSpc>
                <a:spcPct val="115000"/>
              </a:lnSpc>
              <a:spcAft>
                <a:spcPts val="500"/>
              </a:spcAft>
            </a:pPr>
            <a:r>
              <a:rPr sz="1250" b="1" dirty="0">
                <a:solidFill>
                  <a:srgbClr val="59257B"/>
                </a:solidFill>
                <a:latin typeface="Open Sans"/>
              </a:rPr>
              <a:t>Smallest footprint, best conversion</a:t>
            </a:r>
          </a:p>
          <a:p>
            <a:pPr algn="l">
              <a:lnSpc>
                <a:spcPct val="124000"/>
              </a:lnSpc>
              <a:spcAft>
                <a:spcPts val="0"/>
              </a:spcAft>
            </a:pPr>
            <a:r>
              <a:rPr sz="1050" b="0" dirty="0">
                <a:solidFill>
                  <a:srgbClr val="595A5B"/>
                </a:solidFill>
                <a:latin typeface="Open Sans"/>
              </a:rPr>
              <a:t>Komprise ranks for 6,139 keywords from around 1,610 indexed pages. NetApp needs roughly 621,000 pages to rank for 39,118. Far more of what we publish is</a:t>
            </a:r>
            <a:r>
              <a:rPr lang="en-US" sz="1050" b="0" dirty="0">
                <a:solidFill>
                  <a:srgbClr val="595A5B"/>
                </a:solidFill>
                <a:latin typeface="Open Sans"/>
              </a:rPr>
              <a:t> quality publishing</a:t>
            </a:r>
            <a:r>
              <a:rPr sz="1050" b="0" dirty="0">
                <a:solidFill>
                  <a:srgbClr val="595A5B"/>
                </a:solidFill>
                <a:latin typeface="Open Sans"/>
              </a:rPr>
              <a:t>. Our authority matches Cohesity on a quarter of the referring domains.</a:t>
            </a:r>
          </a:p>
        </p:txBody>
      </p:sp>
      <p:sp>
        <p:nvSpPr>
          <p:cNvPr id="62" name="TextBox 6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WHAT'S NEXT</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Where the Effort Goes</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Five priorities, weighted to what the data now shows</a:t>
            </a:r>
          </a:p>
        </p:txBody>
      </p:sp>
      <p:sp>
        <p:nvSpPr>
          <p:cNvPr id="8" name="Rectangle 7"/>
          <p:cNvSpPr/>
          <p:nvPr/>
        </p:nvSpPr>
        <p:spPr>
          <a:xfrm>
            <a:off x="502920" y="157276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572768"/>
            <a:ext cx="54864" cy="8046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179222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87909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1</a:t>
            </a:r>
          </a:p>
        </p:txBody>
      </p:sp>
      <p:sp>
        <p:nvSpPr>
          <p:cNvPr id="12" name="TextBox 11"/>
          <p:cNvSpPr txBox="1"/>
          <p:nvPr/>
        </p:nvSpPr>
        <p:spPr>
          <a:xfrm>
            <a:off x="1325880" y="1682495"/>
            <a:ext cx="10149840" cy="207301"/>
          </a:xfrm>
          <a:prstGeom prst="rect">
            <a:avLst/>
          </a:prstGeom>
          <a:noFill/>
        </p:spPr>
        <p:txBody>
          <a:bodyPr wrap="square" lIns="0" tIns="0" rIns="0" bIns="0" anchor="t">
            <a:spAutoFit/>
          </a:bodyPr>
          <a:lstStyle/>
          <a:p>
            <a:pPr algn="l">
              <a:lnSpc>
                <a:spcPct val="115000"/>
              </a:lnSpc>
              <a:spcAft>
                <a:spcPts val="0"/>
              </a:spcAft>
            </a:pPr>
            <a:r>
              <a:rPr sz="1250" b="1" dirty="0">
                <a:solidFill>
                  <a:srgbClr val="59257B"/>
                </a:solidFill>
                <a:latin typeface="Open Sans"/>
              </a:rPr>
              <a:t>Win the category terms in the AI</a:t>
            </a:r>
          </a:p>
        </p:txBody>
      </p:sp>
      <p:sp>
        <p:nvSpPr>
          <p:cNvPr id="13" name="TextBox 12"/>
          <p:cNvSpPr txBox="1"/>
          <p:nvPr/>
        </p:nvSpPr>
        <p:spPr>
          <a:xfrm>
            <a:off x="1325880" y="1975104"/>
            <a:ext cx="10149840" cy="374077"/>
          </a:xfrm>
          <a:prstGeom prst="rect">
            <a:avLst/>
          </a:prstGeom>
          <a:noFill/>
        </p:spPr>
        <p:txBody>
          <a:bodyPr wrap="square" lIns="0" tIns="0" rIns="0" bIns="0" anchor="t">
            <a:spAutoFit/>
          </a:bodyPr>
          <a:lstStyle/>
          <a:p>
            <a:pPr algn="l">
              <a:lnSpc>
                <a:spcPct val="120000"/>
              </a:lnSpc>
              <a:spcAft>
                <a:spcPts val="0"/>
              </a:spcAft>
            </a:pPr>
            <a:r>
              <a:rPr sz="1050" b="0" dirty="0">
                <a:solidFill>
                  <a:srgbClr val="595A5B"/>
                </a:solidFill>
                <a:latin typeface="Open Sans"/>
              </a:rPr>
              <a:t>Komprise holds the specific technical questions while the broad ones are still open. Getting AI data management, AI data platform and AI data preparation into the AI answer is the highest</a:t>
            </a:r>
            <a:r>
              <a:rPr lang="en-US" sz="1050" b="0" dirty="0">
                <a:solidFill>
                  <a:srgbClr val="595A5B"/>
                </a:solidFill>
                <a:latin typeface="Open Sans"/>
              </a:rPr>
              <a:t> </a:t>
            </a:r>
            <a:r>
              <a:rPr sz="1050" b="0" dirty="0">
                <a:solidFill>
                  <a:srgbClr val="595A5B"/>
                </a:solidFill>
                <a:latin typeface="Open Sans"/>
              </a:rPr>
              <a:t>value work available.</a:t>
            </a:r>
          </a:p>
        </p:txBody>
      </p:sp>
      <p:sp>
        <p:nvSpPr>
          <p:cNvPr id="14" name="Rectangle 13"/>
          <p:cNvSpPr/>
          <p:nvPr/>
        </p:nvSpPr>
        <p:spPr>
          <a:xfrm>
            <a:off x="502920" y="244144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441448"/>
            <a:ext cx="54864" cy="80467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2660904"/>
            <a:ext cx="365760" cy="36576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74777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2</a:t>
            </a:r>
          </a:p>
        </p:txBody>
      </p:sp>
      <p:sp>
        <p:nvSpPr>
          <p:cNvPr id="18" name="TextBox 17"/>
          <p:cNvSpPr txBox="1"/>
          <p:nvPr/>
        </p:nvSpPr>
        <p:spPr>
          <a:xfrm>
            <a:off x="1325880" y="2551176"/>
            <a:ext cx="10149840" cy="256032"/>
          </a:xfrm>
          <a:prstGeom prst="rect">
            <a:avLst/>
          </a:prstGeom>
          <a:noFill/>
        </p:spPr>
        <p:txBody>
          <a:bodyPr wrap="square" lIns="0" tIns="0" rIns="0" bIns="0" anchor="t">
            <a:spAutoFit/>
          </a:bodyPr>
          <a:lstStyle/>
          <a:p>
            <a:pPr algn="l">
              <a:lnSpc>
                <a:spcPct val="115000"/>
              </a:lnSpc>
              <a:spcAft>
                <a:spcPts val="0"/>
              </a:spcAft>
            </a:pPr>
            <a:r>
              <a:rPr sz="1250" b="1">
                <a:solidFill>
                  <a:srgbClr val="59257B"/>
                </a:solidFill>
                <a:latin typeface="Open Sans"/>
              </a:rPr>
              <a:t>Turn citations into mentions</a:t>
            </a:r>
          </a:p>
        </p:txBody>
      </p:sp>
      <p:sp>
        <p:nvSpPr>
          <p:cNvPr id="19" name="TextBox 18"/>
          <p:cNvSpPr txBox="1"/>
          <p:nvPr/>
        </p:nvSpPr>
        <p:spPr>
          <a:xfrm>
            <a:off x="1325880" y="2843784"/>
            <a:ext cx="10149840" cy="365760"/>
          </a:xfrm>
          <a:prstGeom prst="rect">
            <a:avLst/>
          </a:prstGeom>
          <a:noFill/>
        </p:spPr>
        <p:txBody>
          <a:bodyPr wrap="square" lIns="0" tIns="0" rIns="0" bIns="0" anchor="t">
            <a:spAutoFit/>
          </a:bodyPr>
          <a:lstStyle/>
          <a:p>
            <a:pPr algn="l">
              <a:lnSpc>
                <a:spcPct val="120000"/>
              </a:lnSpc>
              <a:spcAft>
                <a:spcPts val="0"/>
              </a:spcAft>
            </a:pPr>
            <a:r>
              <a:rPr sz="1050" b="0">
                <a:solidFill>
                  <a:srgbClr val="595A5B"/>
                </a:solidFill>
                <a:latin typeface="Open Sans"/>
              </a:rPr>
              <a:t>Content has taken citations a long way. Independent coverage from analysts and trade press is what makes a model say the name. That programme is now getting underway.</a:t>
            </a:r>
          </a:p>
        </p:txBody>
      </p:sp>
      <p:sp>
        <p:nvSpPr>
          <p:cNvPr id="20" name="Rectangle 19"/>
          <p:cNvSpPr/>
          <p:nvPr/>
        </p:nvSpPr>
        <p:spPr>
          <a:xfrm>
            <a:off x="502920" y="331012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3310128"/>
            <a:ext cx="54864" cy="8046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3529584"/>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61645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3</a:t>
            </a:r>
          </a:p>
        </p:txBody>
      </p:sp>
      <p:sp>
        <p:nvSpPr>
          <p:cNvPr id="26" name="Rectangle 25"/>
          <p:cNvSpPr/>
          <p:nvPr/>
        </p:nvSpPr>
        <p:spPr>
          <a:xfrm>
            <a:off x="502920" y="417880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4178808"/>
            <a:ext cx="54864" cy="8046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77240" y="439826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448513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4</a:t>
            </a:r>
          </a:p>
        </p:txBody>
      </p:sp>
      <p:sp>
        <p:nvSpPr>
          <p:cNvPr id="30" name="TextBox 29"/>
          <p:cNvSpPr txBox="1"/>
          <p:nvPr/>
        </p:nvSpPr>
        <p:spPr>
          <a:xfrm>
            <a:off x="1325880" y="3444536"/>
            <a:ext cx="10149840" cy="207301"/>
          </a:xfrm>
          <a:prstGeom prst="rect">
            <a:avLst/>
          </a:prstGeom>
          <a:noFill/>
        </p:spPr>
        <p:txBody>
          <a:bodyPr wrap="square" lIns="0" tIns="0" rIns="0" bIns="0" anchor="t">
            <a:spAutoFit/>
          </a:bodyPr>
          <a:lstStyle/>
          <a:p>
            <a:pPr algn="l">
              <a:lnSpc>
                <a:spcPct val="115000"/>
              </a:lnSpc>
              <a:spcAft>
                <a:spcPts val="0"/>
              </a:spcAft>
            </a:pPr>
            <a:r>
              <a:rPr sz="1250" b="1" dirty="0">
                <a:solidFill>
                  <a:srgbClr val="59257B"/>
                </a:solidFill>
                <a:latin typeface="Open Sans"/>
              </a:rPr>
              <a:t>Defend the storage</a:t>
            </a:r>
            <a:r>
              <a:rPr lang="en-US" sz="1250" b="1" dirty="0">
                <a:solidFill>
                  <a:srgbClr val="59257B"/>
                </a:solidFill>
                <a:latin typeface="Open Sans"/>
              </a:rPr>
              <a:t> </a:t>
            </a:r>
            <a:r>
              <a:rPr sz="1250" b="1" dirty="0">
                <a:solidFill>
                  <a:srgbClr val="59257B"/>
                </a:solidFill>
                <a:latin typeface="Open Sans"/>
              </a:rPr>
              <a:t>cost </a:t>
            </a:r>
            <a:r>
              <a:rPr lang="en-US" sz="1250" b="1" dirty="0">
                <a:solidFill>
                  <a:srgbClr val="59257B"/>
                </a:solidFill>
                <a:latin typeface="Open Sans"/>
              </a:rPr>
              <a:t>category</a:t>
            </a:r>
            <a:endParaRPr sz="1250" b="1" dirty="0">
              <a:solidFill>
                <a:srgbClr val="59257B"/>
              </a:solidFill>
              <a:latin typeface="Open Sans"/>
            </a:endParaRPr>
          </a:p>
        </p:txBody>
      </p:sp>
      <p:sp>
        <p:nvSpPr>
          <p:cNvPr id="31" name="TextBox 30"/>
          <p:cNvSpPr txBox="1"/>
          <p:nvPr/>
        </p:nvSpPr>
        <p:spPr>
          <a:xfrm>
            <a:off x="1325880" y="3713152"/>
            <a:ext cx="10149840" cy="365760"/>
          </a:xfrm>
          <a:prstGeom prst="rect">
            <a:avLst/>
          </a:prstGeom>
          <a:noFill/>
        </p:spPr>
        <p:txBody>
          <a:bodyPr wrap="square" lIns="0" tIns="0" rIns="0" bIns="0" anchor="t">
            <a:spAutoFit/>
          </a:bodyPr>
          <a:lstStyle/>
          <a:p>
            <a:pPr algn="l">
              <a:lnSpc>
                <a:spcPct val="120000"/>
              </a:lnSpc>
              <a:spcAft>
                <a:spcPts val="0"/>
              </a:spcAft>
            </a:pPr>
            <a:r>
              <a:rPr sz="1050" b="0" dirty="0">
                <a:solidFill>
                  <a:srgbClr val="595A5B"/>
                </a:solidFill>
                <a:latin typeface="Open Sans"/>
              </a:rPr>
              <a:t>This is the strongest position Komprise holds in AI answers and a much larger rebranded competitor is now contesting it. Holding it protects the pipeline story.</a:t>
            </a:r>
          </a:p>
        </p:txBody>
      </p:sp>
      <p:sp>
        <p:nvSpPr>
          <p:cNvPr id="32" name="Rectangle 31"/>
          <p:cNvSpPr/>
          <p:nvPr/>
        </p:nvSpPr>
        <p:spPr>
          <a:xfrm>
            <a:off x="502920" y="504748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5047488"/>
            <a:ext cx="54864" cy="8046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77240" y="5266944"/>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535381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5</a:t>
            </a:r>
          </a:p>
        </p:txBody>
      </p:sp>
      <p:sp>
        <p:nvSpPr>
          <p:cNvPr id="36" name="TextBox 35"/>
          <p:cNvSpPr txBox="1"/>
          <p:nvPr/>
        </p:nvSpPr>
        <p:spPr>
          <a:xfrm>
            <a:off x="1325880" y="4341140"/>
            <a:ext cx="10149840" cy="207301"/>
          </a:xfrm>
          <a:prstGeom prst="rect">
            <a:avLst/>
          </a:prstGeom>
          <a:noFill/>
        </p:spPr>
        <p:txBody>
          <a:bodyPr wrap="square" lIns="0" tIns="0" rIns="0" bIns="0" anchor="t">
            <a:spAutoFit/>
          </a:bodyPr>
          <a:lstStyle/>
          <a:p>
            <a:pPr algn="l">
              <a:lnSpc>
                <a:spcPct val="115000"/>
              </a:lnSpc>
              <a:spcAft>
                <a:spcPts val="0"/>
              </a:spcAft>
            </a:pPr>
            <a:r>
              <a:rPr lang="en-GB" sz="1250" b="1" dirty="0">
                <a:solidFill>
                  <a:srgbClr val="59257B"/>
                </a:solidFill>
                <a:latin typeface="Open Sans"/>
              </a:rPr>
              <a:t>Finish the third-party profile clean up</a:t>
            </a:r>
            <a:endParaRPr sz="1250" b="1" dirty="0">
              <a:solidFill>
                <a:srgbClr val="59257B"/>
              </a:solidFill>
              <a:latin typeface="Open Sans"/>
            </a:endParaRPr>
          </a:p>
        </p:txBody>
      </p:sp>
      <p:sp>
        <p:nvSpPr>
          <p:cNvPr id="37" name="TextBox 36"/>
          <p:cNvSpPr txBox="1"/>
          <p:nvPr/>
        </p:nvSpPr>
        <p:spPr>
          <a:xfrm>
            <a:off x="1325880" y="4594422"/>
            <a:ext cx="10149840" cy="374077"/>
          </a:xfrm>
          <a:prstGeom prst="rect">
            <a:avLst/>
          </a:prstGeom>
          <a:noFill/>
        </p:spPr>
        <p:txBody>
          <a:bodyPr wrap="square" lIns="0" tIns="0" rIns="0" bIns="0" anchor="t">
            <a:spAutoFit/>
          </a:bodyPr>
          <a:lstStyle/>
          <a:p>
            <a:pPr algn="l">
              <a:lnSpc>
                <a:spcPct val="120000"/>
              </a:lnSpc>
              <a:spcAft>
                <a:spcPts val="0"/>
              </a:spcAft>
            </a:pPr>
            <a:r>
              <a:rPr lang="en-GB" sz="1050" b="0" dirty="0">
                <a:solidFill>
                  <a:srgbClr val="595A5B"/>
                </a:solidFill>
                <a:latin typeface="Open Sans"/>
              </a:rPr>
              <a:t>Review sites, analyst directories and partner marketplaces are where models go for a consensus view. Completing the pass across </a:t>
            </a:r>
            <a:r>
              <a:rPr lang="en-GB" sz="1050" b="0" dirty="0" err="1">
                <a:solidFill>
                  <a:srgbClr val="595A5B"/>
                </a:solidFill>
                <a:latin typeface="Open Sans"/>
              </a:rPr>
              <a:t>TrustRadius</a:t>
            </a:r>
            <a:r>
              <a:rPr lang="en-GB" sz="1050" b="0" dirty="0">
                <a:solidFill>
                  <a:srgbClr val="595A5B"/>
                </a:solidFill>
                <a:latin typeface="Open Sans"/>
              </a:rPr>
              <a:t>, G2, Gartner Peer Insights and the major cloud marketplaces makes every source tell the same story.</a:t>
            </a:r>
            <a:endParaRPr sz="1050" b="0" dirty="0">
              <a:solidFill>
                <a:srgbClr val="595A5B"/>
              </a:solidFill>
              <a:latin typeface="Open Sans"/>
            </a:endParaRPr>
          </a:p>
        </p:txBody>
      </p:sp>
      <p:sp>
        <p:nvSpPr>
          <p:cNvPr id="42" name="TextBox 4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10</a:t>
            </a:r>
          </a:p>
        </p:txBody>
      </p:sp>
      <p:sp>
        <p:nvSpPr>
          <p:cNvPr id="48" name="TextBox 47">
            <a:extLst>
              <a:ext uri="{FF2B5EF4-FFF2-40B4-BE49-F238E27FC236}">
                <a16:creationId xmlns:a16="http://schemas.microsoft.com/office/drawing/2014/main" id="{84A6D05C-8465-BAF5-EA16-CE8FAD59E5F6}"/>
              </a:ext>
            </a:extLst>
          </p:cNvPr>
          <p:cNvSpPr txBox="1"/>
          <p:nvPr/>
        </p:nvSpPr>
        <p:spPr>
          <a:xfrm>
            <a:off x="1325880" y="5193790"/>
            <a:ext cx="10149840" cy="207301"/>
          </a:xfrm>
          <a:prstGeom prst="rect">
            <a:avLst/>
          </a:prstGeom>
          <a:noFill/>
        </p:spPr>
        <p:txBody>
          <a:bodyPr wrap="square" lIns="0" tIns="0" rIns="0" bIns="0" anchor="t">
            <a:spAutoFit/>
          </a:bodyPr>
          <a:lstStyle/>
          <a:p>
            <a:pPr algn="l">
              <a:lnSpc>
                <a:spcPct val="115000"/>
              </a:lnSpc>
              <a:spcAft>
                <a:spcPts val="0"/>
              </a:spcAft>
            </a:pPr>
            <a:r>
              <a:rPr lang="en-GB" sz="1250" b="1" dirty="0">
                <a:solidFill>
                  <a:srgbClr val="59257B"/>
                </a:solidFill>
                <a:latin typeface="Open Sans"/>
              </a:rPr>
              <a:t>Close the gap on Gemini specifically</a:t>
            </a:r>
            <a:endParaRPr sz="1250" b="1" dirty="0">
              <a:solidFill>
                <a:srgbClr val="59257B"/>
              </a:solidFill>
              <a:latin typeface="Open Sans"/>
            </a:endParaRPr>
          </a:p>
        </p:txBody>
      </p:sp>
      <p:sp>
        <p:nvSpPr>
          <p:cNvPr id="50" name="TextBox 49">
            <a:extLst>
              <a:ext uri="{FF2B5EF4-FFF2-40B4-BE49-F238E27FC236}">
                <a16:creationId xmlns:a16="http://schemas.microsoft.com/office/drawing/2014/main" id="{75B8F902-517A-FB60-4B66-E6EC39C09B52}"/>
              </a:ext>
            </a:extLst>
          </p:cNvPr>
          <p:cNvSpPr txBox="1"/>
          <p:nvPr/>
        </p:nvSpPr>
        <p:spPr>
          <a:xfrm>
            <a:off x="1325880" y="5456904"/>
            <a:ext cx="10149840" cy="374077"/>
          </a:xfrm>
          <a:prstGeom prst="rect">
            <a:avLst/>
          </a:prstGeom>
          <a:noFill/>
        </p:spPr>
        <p:txBody>
          <a:bodyPr wrap="square" lIns="0" tIns="0" rIns="0" bIns="0" anchor="t">
            <a:spAutoFit/>
          </a:bodyPr>
          <a:lstStyle/>
          <a:p>
            <a:pPr algn="l">
              <a:lnSpc>
                <a:spcPct val="120000"/>
              </a:lnSpc>
              <a:spcAft>
                <a:spcPts val="0"/>
              </a:spcAft>
            </a:pPr>
            <a:r>
              <a:rPr lang="en-GB" sz="1050" b="0" dirty="0">
                <a:solidFill>
                  <a:srgbClr val="595A5B"/>
                </a:solidFill>
                <a:latin typeface="Open Sans"/>
              </a:rPr>
              <a:t>Testing across the five major LLMs shows ChatGPT, Perplexity and Claude already give </a:t>
            </a:r>
            <a:r>
              <a:rPr lang="en-GB" sz="1050" b="0" dirty="0" err="1">
                <a:solidFill>
                  <a:srgbClr val="595A5B"/>
                </a:solidFill>
                <a:latin typeface="Open Sans"/>
              </a:rPr>
              <a:t>Komprise</a:t>
            </a:r>
            <a:r>
              <a:rPr lang="en-GB" sz="1050" b="0" dirty="0">
                <a:solidFill>
                  <a:srgbClr val="595A5B"/>
                </a:solidFill>
                <a:latin typeface="Open Sans"/>
              </a:rPr>
              <a:t> the AI readiness credit. Gemini is the outlier and hands it to other competitors. </a:t>
            </a:r>
            <a:endParaRPr sz="1050" b="0" dirty="0">
              <a:solidFill>
                <a:srgbClr val="595A5B"/>
              </a:solidFill>
              <a:latin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77CF5-A65E-0058-2323-54512B016E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EF74325-D08E-54AF-57B2-76F5BE267C4B}"/>
              </a:ext>
            </a:extLst>
          </p:cNvPr>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a:extLst>
              <a:ext uri="{FF2B5EF4-FFF2-40B4-BE49-F238E27FC236}">
                <a16:creationId xmlns:a16="http://schemas.microsoft.com/office/drawing/2014/main" id="{F53E2AAC-75E2-EDF9-969B-9A1C7D026C44}"/>
              </a:ext>
            </a:extLst>
          </p:cNvPr>
          <p:cNvPicPr>
            <a:picLocks noChangeAspect="1"/>
          </p:cNvPicPr>
          <p:nvPr/>
        </p:nvPicPr>
        <p:blipFill>
          <a:blip r:embed="rId2"/>
          <a:stretch>
            <a:fillRect/>
          </a:stretch>
        </p:blipFill>
        <p:spPr>
          <a:xfrm>
            <a:off x="10561320" y="274320"/>
            <a:ext cx="1298448" cy="274320"/>
          </a:xfrm>
          <a:prstGeom prst="rect">
            <a:avLst/>
          </a:prstGeom>
        </p:spPr>
      </p:pic>
      <p:sp>
        <p:nvSpPr>
          <p:cNvPr id="42" name="TextBox 41">
            <a:extLst>
              <a:ext uri="{FF2B5EF4-FFF2-40B4-BE49-F238E27FC236}">
                <a16:creationId xmlns:a16="http://schemas.microsoft.com/office/drawing/2014/main" id="{7C24C1A9-8398-AD4A-43F0-D14ED142AFDB}"/>
              </a:ext>
            </a:extLst>
          </p:cNvPr>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10</a:t>
            </a:r>
          </a:p>
        </p:txBody>
      </p:sp>
      <p:sp>
        <p:nvSpPr>
          <p:cNvPr id="25" name="TextBox 24">
            <a:extLst>
              <a:ext uri="{FF2B5EF4-FFF2-40B4-BE49-F238E27FC236}">
                <a16:creationId xmlns:a16="http://schemas.microsoft.com/office/drawing/2014/main" id="{22BA86A6-B424-888C-50A4-0EF0D89ECD91}"/>
              </a:ext>
            </a:extLst>
          </p:cNvPr>
          <p:cNvSpPr txBox="1"/>
          <p:nvPr/>
        </p:nvSpPr>
        <p:spPr>
          <a:xfrm>
            <a:off x="2529687" y="3180246"/>
            <a:ext cx="7132320" cy="596958"/>
          </a:xfrm>
          <a:prstGeom prst="rect">
            <a:avLst/>
          </a:prstGeom>
          <a:noFill/>
        </p:spPr>
        <p:txBody>
          <a:bodyPr wrap="square" lIns="0" tIns="0" rIns="0" bIns="0" anchor="t">
            <a:spAutoFit/>
          </a:bodyPr>
          <a:lstStyle/>
          <a:p>
            <a:pPr algn="ctr">
              <a:lnSpc>
                <a:spcPct val="115000"/>
              </a:lnSpc>
              <a:spcAft>
                <a:spcPts val="500"/>
              </a:spcAft>
            </a:pPr>
            <a:r>
              <a:rPr lang="en-GB" sz="36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THANK YOU</a:t>
            </a:r>
            <a:endParaRPr sz="3600" b="1" dirty="0">
              <a:solidFill>
                <a:srgbClr val="59257B"/>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7769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TotalTime>
  <Words>1980</Words>
  <Application>Microsoft Office PowerPoint</Application>
  <PresentationFormat>Widescreen</PresentationFormat>
  <Paragraphs>272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RCC</dc:creator>
  <cp:keywords/>
  <dc:description>generated using python-pptx</dc:description>
  <cp:lastModifiedBy>Office</cp:lastModifiedBy>
  <cp:revision>11</cp:revision>
  <dcterms:created xsi:type="dcterms:W3CDTF">2013-01-27T09:14:16Z</dcterms:created>
  <dcterms:modified xsi:type="dcterms:W3CDTF">2026-09-11T07:13:22Z</dcterms:modified>
  <cp:category/>
</cp:coreProperties>
</file>