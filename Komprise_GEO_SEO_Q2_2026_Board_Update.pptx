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Monthly organic traffic</c:v>
                </c:pt>
              </c:strCache>
            </c:strRef>
          </c:tx>
          <c:dPt>
            <c:idx val="0"/>
            <c:spPr>
              <a:solidFill>
                <a:srgbClr val="D6C4E3"/>
              </a:solidFill>
              <a:ln>
                <a:noFill/>
              </a:ln>
            </c:spPr>
          </c:dPt>
          <c:dPt>
            <c:idx val="1"/>
            <c:spPr>
              <a:solidFill>
                <a:srgbClr val="59257B"/>
              </a:solidFill>
              <a:ln>
                <a:noFill/>
              </a:ln>
            </c:spPr>
          </c:dPt>
          <c:dPt>
            <c:idx val="2"/>
            <c:spPr>
              <a:solidFill>
                <a:srgbClr val="59257B"/>
              </a:solidFill>
              <a:ln>
                <a:noFill/>
              </a:ln>
            </c:spPr>
          </c:dPt>
          <c:dPt>
            <c:idx val="3"/>
            <c:spPr>
              <a:solidFill>
                <a:srgbClr val="59257B"/>
              </a:solidFill>
              <a:ln>
                <a:noFill/>
              </a:ln>
            </c:spPr>
          </c:dPt>
          <c:dPt>
            <c:idx val="4"/>
            <c:spPr>
              <a:solidFill>
                <a:srgbClr val="D6C4E3"/>
              </a:solidFill>
              <a:ln>
                <a:noFill/>
              </a:ln>
            </c:spPr>
          </c:dPt>
          <c:cat>
            <c:strRef>
              <c:f>Sheet1!$A$2:$A$6</c:f>
              <c:strCache>
                <c:ptCount val="5"/>
                <c:pt idx="0">
                  <c:v>15 Mar</c:v>
                </c:pt>
                <c:pt idx="1">
                  <c:v>15 Apr</c:v>
                </c:pt>
                <c:pt idx="2">
                  <c:v>15 May</c:v>
                </c:pt>
                <c:pt idx="3">
                  <c:v>15 Jun</c:v>
                </c:pt>
                <c:pt idx="4">
                  <c:v>15 Jul</c:v>
                </c:pt>
              </c:strCache>
            </c:strRef>
          </c:cat>
          <c:val>
            <c:numRef>
              <c:f>Sheet1!$B$2:$B$6</c:f>
              <c:numCache>
                <c:formatCode>General</c:formatCode>
                <c:ptCount val="5"/>
                <c:pt idx="0">
                  <c:v>18129</c:v>
                </c:pt>
                <c:pt idx="1">
                  <c:v>16602</c:v>
                </c:pt>
                <c:pt idx="2">
                  <c:v>20440</c:v>
                </c:pt>
                <c:pt idx="3">
                  <c:v>21883</c:v>
                </c:pt>
                <c:pt idx="4">
                  <c:v>23880</c:v>
                </c:pt>
              </c:numCache>
            </c:numRef>
          </c:val>
        </c:ser>
        <c:dLbls>
          <c:numFmt formatCode="#,##0" sourceLinked="0"/>
          <c:txPr>
            <a:bodyPr/>
            <a:lstStyle/>
            <a:p>
              <a:pPr>
                <a:defRPr sz="1100" b="1">
                  <a:solidFill>
                    <a:srgbClr val="262428"/>
                  </a:solidFill>
                  <a:latin typeface="Open Sans"/>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nextTo"/>
        <c:spPr>
          <a:ln>
            <a:solidFill>
              <a:srgbClr val="DDDAE0"/>
            </a:solidFill>
          </a:ln>
        </c:spPr>
        <c:txPr>
          <a:bodyPr/>
          <a:lstStyle/>
          <a:p>
            <a:pPr>
              <a:defRPr sz="1100">
                <a:solidFill>
                  <a:srgbClr val="595A5B"/>
                </a:solidFill>
                <a:latin typeface="Open Sans"/>
              </a:defRPr>
            </a:pPr>
          </a:p>
        </c:txPr>
        <c:crossAx val="-2113994440"/>
        <c:crosses val="autoZero"/>
        <c:auto val="1"/>
        <c:lblAlgn val="ctr"/>
        <c:lblOffset val="100"/>
        <c:noMultiLvlLbl val="0"/>
      </c:catAx>
      <c:valAx>
        <c:axId val="-2113994440"/>
        <c:scaling>
          <c:max val="28000.0"/>
          <c:min val="0.0"/>
        </c:scaling>
        <c:delete val="0"/>
        <c:axPos val="l"/>
        <c:majorGridlines>
          <c:spPr>
            <a:ln w="9525">
              <a:solidFill>
                <a:srgbClr val="ECEAEE"/>
              </a:solidFill>
            </a:ln>
          </c:spPr>
        </c:majorGridlines>
        <c:majorTickMark val="out"/>
        <c:minorTickMark val="none"/>
        <c:tickLblPos val="nextTo"/>
        <c:spPr>
          <a:ln>
            <a:solidFill>
              <a:srgbClr val="DDDAE0"/>
            </a:solidFill>
          </a:ln>
        </c:spPr>
        <c:txPr>
          <a:bodyPr/>
          <a:lstStyle/>
          <a:p>
            <a:pPr>
              <a:defRPr sz="950">
                <a:solidFill>
                  <a:srgbClr val="595A5B"/>
                </a:solidFill>
                <a:latin typeface="Open Sans"/>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AI Overviews</c:v>
                </c:pt>
              </c:strCache>
            </c:strRef>
          </c:tx>
          <c:spPr>
            <a:ln w="34925">
              <a:solidFill>
                <a:srgbClr val="59257B"/>
              </a:solidFill>
            </a:ln>
          </c:spPr>
          <c:marker>
            <c:spPr>
              <a:solidFill>
                <a:srgbClr val="59257B"/>
              </a:solidFill>
              <a:ln>
                <a:solidFill>
                  <a:srgbClr val="FFFFFF"/>
                </a:solidFill>
              </a:ln>
            </c:spPr>
          </c:marker>
          <c:cat>
            <c:strRef>
              <c:f>Sheet1!$A$2:$A$5</c:f>
              <c:strCache>
                <c:ptCount val="4"/>
                <c:pt idx="0">
                  <c:v>15 Mar</c:v>
                </c:pt>
                <c:pt idx="1">
                  <c:v>15 Apr</c:v>
                </c:pt>
                <c:pt idx="2">
                  <c:v>15 May</c:v>
                </c:pt>
                <c:pt idx="3">
                  <c:v>15 Jun</c:v>
                </c:pt>
              </c:strCache>
            </c:strRef>
          </c:cat>
          <c:val>
            <c:numRef>
              <c:f>Sheet1!$B$2:$B$5</c:f>
              <c:numCache>
                <c:formatCode>General</c:formatCode>
                <c:ptCount val="4"/>
                <c:pt idx="0">
                  <c:v>5522</c:v>
                </c:pt>
                <c:pt idx="1">
                  <c:v>5079</c:v>
                </c:pt>
                <c:pt idx="2">
                  <c:v>5297</c:v>
                </c:pt>
                <c:pt idx="3">
                  <c:v>5449</c:v>
                </c:pt>
              </c:numCache>
            </c:numRef>
          </c:val>
          <c:smooth val="0"/>
        </c:ser>
        <c:ser>
          <c:idx val="1"/>
          <c:order val="1"/>
          <c:tx>
            <c:strRef>
              <c:f>Sheet1!$C$1</c:f>
              <c:strCache>
                <c:ptCount val="1"/>
                <c:pt idx="0">
                  <c:v>People Also Ask</c:v>
                </c:pt>
              </c:strCache>
            </c:strRef>
          </c:tx>
          <c:spPr>
            <a:ln w="34925">
              <a:solidFill>
                <a:srgbClr val="9FC406"/>
              </a:solidFill>
            </a:ln>
          </c:spPr>
          <c:marker>
            <c:spPr>
              <a:solidFill>
                <a:srgbClr val="9FC406"/>
              </a:solidFill>
              <a:ln>
                <a:solidFill>
                  <a:srgbClr val="FFFFFF"/>
                </a:solidFill>
              </a:ln>
            </c:spPr>
          </c:marker>
          <c:cat>
            <c:strRef>
              <c:f>Sheet1!$A$2:$A$5</c:f>
              <c:strCache>
                <c:ptCount val="4"/>
                <c:pt idx="0">
                  <c:v>15 Mar</c:v>
                </c:pt>
                <c:pt idx="1">
                  <c:v>15 Apr</c:v>
                </c:pt>
                <c:pt idx="2">
                  <c:v>15 May</c:v>
                </c:pt>
                <c:pt idx="3">
                  <c:v>15 Jun</c:v>
                </c:pt>
              </c:strCache>
            </c:strRef>
          </c:cat>
          <c:val>
            <c:numRef>
              <c:f>Sheet1!$C$2:$C$5</c:f>
              <c:numCache>
                <c:formatCode>General</c:formatCode>
                <c:ptCount val="4"/>
                <c:pt idx="0">
                  <c:v>4000</c:v>
                </c:pt>
                <c:pt idx="1">
                  <c:v>1933</c:v>
                </c:pt>
                <c:pt idx="2">
                  <c:v>4603</c:v>
                </c:pt>
                <c:pt idx="3">
                  <c:v>5783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DDAE0"/>
            </a:solidFill>
          </a:ln>
        </c:spPr>
        <c:txPr>
          <a:bodyPr/>
          <a:lstStyle/>
          <a:p>
            <a:pPr>
              <a:defRPr sz="1100">
                <a:solidFill>
                  <a:srgbClr val="595A5B"/>
                </a:solidFill>
                <a:latin typeface="Open Sans"/>
              </a:defRPr>
            </a:pPr>
          </a:p>
        </c:txPr>
        <c:crossAx val="2140495176"/>
        <c:crosses val="autoZero"/>
        <c:auto val="1"/>
        <c:lblAlgn val="ctr"/>
        <c:lblOffset val="100"/>
        <c:noMultiLvlLbl val="0"/>
      </c:catAx>
      <c:valAx>
        <c:axId val="2140495176"/>
        <c:scaling>
          <c:min val="0.0"/>
        </c:scaling>
        <c:delete val="0"/>
        <c:axPos val="l"/>
        <c:majorGridlines>
          <c:spPr>
            <a:ln w="9525">
              <a:solidFill>
                <a:srgbClr val="ECEAEE"/>
              </a:solidFill>
            </a:ln>
          </c:spPr>
        </c:majorGridlines>
        <c:majorTickMark val="out"/>
        <c:minorTickMark val="none"/>
        <c:tickLblPos val="nextTo"/>
        <c:spPr>
          <a:ln>
            <a:solidFill>
              <a:srgbClr val="DDDAE0"/>
            </a:solidFill>
          </a:ln>
        </c:spPr>
        <c:txPr>
          <a:bodyPr/>
          <a:lstStyle/>
          <a:p>
            <a:pPr>
              <a:defRPr sz="950">
                <a:solidFill>
                  <a:srgbClr val="595A5B"/>
                </a:solidFill>
                <a:latin typeface="Open Sans"/>
              </a:defRPr>
            </a:pPr>
          </a:p>
        </c:txPr>
        <c:crossAx val="2118791784"/>
        <c:crosses val="autoZero"/>
      </c:valAx>
    </c:plotArea>
    <c:legend>
      <c:legendPos val="t"/>
      <c:layout/>
      <c:overlay val="0"/>
      <c:txPr>
        <a:bodyPr/>
        <a:lstStyle/>
        <a:p>
          <a:pPr>
            <a:defRPr sz="1100">
              <a:solidFill>
                <a:srgbClr val="595A5B"/>
              </a:solidFill>
              <a:latin typeface="Open Sans"/>
            </a:defRPr>
          </a:pPr>
        </a:p>
      </c:txPr>
    </c:legend>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AI Overview keywords</c:v>
                </c:pt>
              </c:strCache>
            </c:strRef>
          </c:tx>
          <c:dPt>
            <c:idx val="0"/>
            <c:spPr>
              <a:solidFill>
                <a:srgbClr val="C88A1E"/>
              </a:solidFill>
              <a:ln>
                <a:noFill/>
              </a:ln>
            </c:spPr>
          </c:dPt>
          <c:dPt>
            <c:idx val="1"/>
            <c:spPr>
              <a:solidFill>
                <a:srgbClr val="59257B"/>
              </a:solidFill>
              <a:ln>
                <a:noFill/>
              </a:ln>
            </c:spPr>
          </c:dPt>
          <c:dPt>
            <c:idx val="2"/>
            <c:spPr>
              <a:solidFill>
                <a:srgbClr val="8A8A8D"/>
              </a:solidFill>
              <a:ln>
                <a:noFill/>
              </a:ln>
            </c:spPr>
          </c:dPt>
          <c:dPt>
            <c:idx val="3"/>
            <c:spPr>
              <a:solidFill>
                <a:srgbClr val="8A8A8D"/>
              </a:solidFill>
              <a:ln>
                <a:noFill/>
              </a:ln>
            </c:spPr>
          </c:dPt>
          <c:dPt>
            <c:idx val="4"/>
            <c:spPr>
              <a:solidFill>
                <a:srgbClr val="8A8A8D"/>
              </a:solidFill>
              <a:ln>
                <a:noFill/>
              </a:ln>
            </c:spPr>
          </c:dPt>
          <c:dPt>
            <c:idx val="5"/>
            <c:spPr>
              <a:solidFill>
                <a:srgbClr val="8A8A8D"/>
              </a:solidFill>
              <a:ln>
                <a:noFill/>
              </a:ln>
            </c:spPr>
          </c:dPt>
          <c:dPt>
            <c:idx val="6"/>
            <c:spPr>
              <a:solidFill>
                <a:srgbClr val="8A8A8D"/>
              </a:solidFill>
              <a:ln>
                <a:noFill/>
              </a:ln>
            </c:spPr>
          </c:dPt>
          <c:cat>
            <c:strRef>
              <c:f>Sheet1!$A$2:$A$8</c:f>
              <c:strCache>
                <c:ptCount val="7"/>
                <c:pt idx="0">
                  <c:v>Everpure
(Pure Storage)</c:v>
                </c:pt>
                <c:pt idx="1">
                  <c:v>Komprise</c:v>
                </c:pt>
                <c:pt idx="2">
                  <c:v>Unstructured.io</c:v>
                </c:pt>
                <c:pt idx="3">
                  <c:v>Hammerspace</c:v>
                </c:pt>
                <c:pt idx="4">
                  <c:v>Atempo</c:v>
                </c:pt>
                <c:pt idx="5">
                  <c:v>Datadobi</c:v>
                </c:pt>
                <c:pt idx="6">
                  <c:v>Diskover</c:v>
                </c:pt>
              </c:strCache>
            </c:strRef>
          </c:cat>
          <c:val>
            <c:numRef>
              <c:f>Sheet1!$B$2:$B$8</c:f>
              <c:numCache>
                <c:formatCode>General</c:formatCode>
                <c:ptCount val="7"/>
                <c:pt idx="0">
                  <c:v>16766</c:v>
                </c:pt>
                <c:pt idx="1">
                  <c:v>5449</c:v>
                </c:pt>
                <c:pt idx="2">
                  <c:v>1259</c:v>
                </c:pt>
                <c:pt idx="3">
                  <c:v>385</c:v>
                </c:pt>
                <c:pt idx="4">
                  <c:v>193</c:v>
                </c:pt>
                <c:pt idx="5">
                  <c:v>50</c:v>
                </c:pt>
                <c:pt idx="6">
                  <c:v>43</c:v>
                </c:pt>
              </c:numCache>
            </c:numRef>
          </c:val>
        </c:ser>
        <c:dLbls>
          <c:numFmt formatCode="#,##0" sourceLinked="0"/>
          <c:txPr>
            <a:bodyPr/>
            <a:lstStyle/>
            <a:p>
              <a:pPr>
                <a:defRPr sz="1100" b="1">
                  <a:solidFill>
                    <a:srgbClr val="262428"/>
                  </a:solidFill>
                  <a:latin typeface="Open Sans"/>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DDDAE0"/>
            </a:solidFill>
          </a:ln>
        </c:spPr>
        <c:txPr>
          <a:bodyPr/>
          <a:lstStyle/>
          <a:p>
            <a:pPr>
              <a:defRPr sz="1100">
                <a:solidFill>
                  <a:srgbClr val="595A5B"/>
                </a:solidFill>
                <a:latin typeface="Open Sans"/>
              </a:defRPr>
            </a:pPr>
          </a:p>
        </c:txPr>
        <c:crossAx val="-2113994440"/>
        <c:crosses val="autoZero"/>
        <c:auto val="1"/>
        <c:lblAlgn val="ctr"/>
        <c:lblOffset val="100"/>
        <c:noMultiLvlLbl val="0"/>
      </c:catAx>
      <c:valAx>
        <c:axId val="-2113994440"/>
        <c:scaling>
          <c:max val="19500.0"/>
          <c:min val="0.0"/>
        </c:scaling>
        <c:delete val="0"/>
        <c:axPos val="b"/>
        <c:majorGridlines>
          <c:spPr>
            <a:ln w="9525">
              <a:solidFill>
                <a:srgbClr val="ECEAEE"/>
              </a:solidFill>
            </a:ln>
          </c:spPr>
        </c:majorGridlines>
        <c:majorTickMark val="out"/>
        <c:minorTickMark val="none"/>
        <c:tickLblPos val="nextTo"/>
        <c:spPr>
          <a:ln>
            <a:solidFill>
              <a:srgbClr val="DDDAE0"/>
            </a:solidFill>
          </a:ln>
        </c:spPr>
        <c:txPr>
          <a:bodyPr/>
          <a:lstStyle/>
          <a:p>
            <a:pPr>
              <a:defRPr sz="950">
                <a:solidFill>
                  <a:srgbClr val="595A5B"/>
                </a:solidFill>
                <a:latin typeface="Open Sans"/>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Everpure</c:v>
                </c:pt>
              </c:strCache>
            </c:strRef>
          </c:tx>
          <c:spPr>
            <a:solidFill>
              <a:srgbClr val="C88A1E"/>
            </a:solidFill>
            <a:ln>
              <a:noFill/>
            </a:ln>
          </c:spPr>
          <c:cat>
            <c:strRef>
              <c:f>Sheet1!$A$2:$A$4</c:f>
              <c:strCache>
                <c:ptCount val="3"/>
                <c:pt idx="0">
                  <c:v>15 Apr</c:v>
                </c:pt>
                <c:pt idx="1">
                  <c:v>15 May</c:v>
                </c:pt>
                <c:pt idx="2">
                  <c:v>15 Jun</c:v>
                </c:pt>
              </c:strCache>
            </c:strRef>
          </c:cat>
          <c:val>
            <c:numRef>
              <c:f>Sheet1!$B$2:$B$4</c:f>
              <c:numCache>
                <c:formatCode>General</c:formatCode>
                <c:ptCount val="3"/>
                <c:pt idx="0">
                  <c:v>0</c:v>
                </c:pt>
                <c:pt idx="1">
                  <c:v>6410</c:v>
                </c:pt>
                <c:pt idx="2">
                  <c:v>16766</c:v>
                </c:pt>
              </c:numCache>
            </c:numRef>
          </c:val>
        </c:ser>
        <c:ser>
          <c:idx val="1"/>
          <c:order val="1"/>
          <c:tx>
            <c:strRef>
              <c:f>Sheet1!$C$1</c:f>
              <c:strCache>
                <c:ptCount val="1"/>
                <c:pt idx="0">
                  <c:v>Komprise</c:v>
                </c:pt>
              </c:strCache>
            </c:strRef>
          </c:tx>
          <c:spPr>
            <a:solidFill>
              <a:srgbClr val="59257B"/>
            </a:solidFill>
            <a:ln>
              <a:noFill/>
            </a:ln>
          </c:spPr>
          <c:cat>
            <c:strRef>
              <c:f>Sheet1!$A$2:$A$4</c:f>
              <c:strCache>
                <c:ptCount val="3"/>
                <c:pt idx="0">
                  <c:v>15 Apr</c:v>
                </c:pt>
                <c:pt idx="1">
                  <c:v>15 May</c:v>
                </c:pt>
                <c:pt idx="2">
                  <c:v>15 Jun</c:v>
                </c:pt>
              </c:strCache>
            </c:strRef>
          </c:cat>
          <c:val>
            <c:numRef>
              <c:f>Sheet1!$C$2:$C$4</c:f>
              <c:numCache>
                <c:formatCode>General</c:formatCode>
                <c:ptCount val="3"/>
                <c:pt idx="0">
                  <c:v>5079</c:v>
                </c:pt>
                <c:pt idx="1">
                  <c:v>5297</c:v>
                </c:pt>
                <c:pt idx="2">
                  <c:v>5449</c:v>
                </c:pt>
              </c:numCache>
            </c:numRef>
          </c:val>
        </c:ser>
        <c:dLbls>
          <c:numFmt formatCode="#,##0" sourceLinked="0"/>
          <c:txPr>
            <a:bodyPr/>
            <a:lstStyle/>
            <a:p>
              <a:pPr>
                <a:defRPr sz="1000" b="1">
                  <a:solidFill>
                    <a:srgbClr val="262428"/>
                  </a:solidFill>
                  <a:latin typeface="Open Sans"/>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DDAE0"/>
            </a:solidFill>
          </a:ln>
        </c:spPr>
        <c:txPr>
          <a:bodyPr/>
          <a:lstStyle/>
          <a:p>
            <a:pPr>
              <a:defRPr sz="1100">
                <a:solidFill>
                  <a:srgbClr val="595A5B"/>
                </a:solidFill>
                <a:latin typeface="Open Sans"/>
              </a:defRPr>
            </a:pPr>
          </a:p>
        </c:txPr>
        <c:crossAx val="-2113994440"/>
        <c:crosses val="autoZero"/>
        <c:auto val="1"/>
        <c:lblAlgn val="ctr"/>
        <c:lblOffset val="100"/>
        <c:noMultiLvlLbl val="0"/>
      </c:catAx>
      <c:valAx>
        <c:axId val="-2113994440"/>
        <c:scaling/>
        <c:delete val="0"/>
        <c:axPos val="l"/>
        <c:majorGridlines>
          <c:spPr>
            <a:ln w="9525">
              <a:solidFill>
                <a:srgbClr val="ECEAEE"/>
              </a:solidFill>
            </a:ln>
          </c:spPr>
        </c:majorGridlines>
        <c:majorTickMark val="out"/>
        <c:minorTickMark val="none"/>
        <c:tickLblPos val="nextTo"/>
        <c:spPr>
          <a:ln>
            <a:solidFill>
              <a:srgbClr val="DDDAE0"/>
            </a:solidFill>
          </a:ln>
        </c:spPr>
        <c:txPr>
          <a:bodyPr/>
          <a:lstStyle/>
          <a:p>
            <a:pPr>
              <a:defRPr sz="950">
                <a:solidFill>
                  <a:srgbClr val="595A5B"/>
                </a:solidFill>
                <a:latin typeface="Open Sans"/>
              </a:defRPr>
            </a:pPr>
          </a:p>
        </c:txPr>
        <c:crossAx val="-2068027336"/>
        <c:crosses val="autoZero"/>
      </c:valAx>
    </c:plotArea>
    <c:legend>
      <c:legendPos val="t"/>
      <c:overlay val="0"/>
      <c:txPr>
        <a:bodyPr/>
        <a:lstStyle/>
        <a:p>
          <a:pPr>
            <a:defRPr sz="1100">
              <a:solidFill>
                <a:srgbClr val="595A5B"/>
              </a:solidFill>
              <a:latin typeface="Open Sans"/>
            </a:defRPr>
          </a:pPr>
        </a:p>
      </c:txPr>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206240" cy="6858000"/>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06240" y="0"/>
            <a:ext cx="82296" cy="6858000"/>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502920"/>
            <a:ext cx="2377440" cy="777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komprise-logo.png"/>
          <p:cNvPicPr>
            <a:picLocks noChangeAspect="1"/>
          </p:cNvPicPr>
          <p:nvPr/>
        </p:nvPicPr>
        <p:blipFill>
          <a:blip r:embed="rId2"/>
          <a:stretch>
            <a:fillRect/>
          </a:stretch>
        </p:blipFill>
        <p:spPr>
          <a:xfrm>
            <a:off x="713232" y="713232"/>
            <a:ext cx="1920240" cy="411480"/>
          </a:xfrm>
          <a:prstGeom prst="rect">
            <a:avLst/>
          </a:prstGeom>
        </p:spPr>
      </p:pic>
      <p:sp>
        <p:nvSpPr>
          <p:cNvPr id="6" name="TextBox 5"/>
          <p:cNvSpPr txBox="1"/>
          <p:nvPr/>
        </p:nvSpPr>
        <p:spPr>
          <a:xfrm>
            <a:off x="502920" y="2194560"/>
            <a:ext cx="3520440" cy="2194560"/>
          </a:xfrm>
          <a:prstGeom prst="rect">
            <a:avLst/>
          </a:prstGeom>
          <a:noFill/>
        </p:spPr>
        <p:txBody>
          <a:bodyPr wrap="square" lIns="0" rIns="0" tIns="0" bIns="0" anchor="t">
            <a:spAutoFit/>
          </a:bodyPr>
          <a:lstStyle/>
          <a:p>
            <a:pPr algn="l">
              <a:lnSpc>
                <a:spcPct val="115000"/>
              </a:lnSpc>
              <a:spcAft>
                <a:spcPts val="200"/>
              </a:spcAft>
            </a:pPr>
            <a:r>
              <a:rPr sz="3000" b="1">
                <a:solidFill>
                  <a:srgbClr val="FFFFFF"/>
                </a:solidFill>
                <a:latin typeface="Open Sans"/>
              </a:rPr>
              <a:t>GEO / AI</a:t>
            </a:r>
          </a:p>
          <a:p>
            <a:pPr algn="l">
              <a:lnSpc>
                <a:spcPct val="115000"/>
              </a:lnSpc>
              <a:spcAft>
                <a:spcPts val="200"/>
              </a:spcAft>
            </a:pPr>
            <a:r>
              <a:rPr sz="3000" b="1">
                <a:solidFill>
                  <a:srgbClr val="FFFFFF"/>
                </a:solidFill>
                <a:latin typeface="Open Sans"/>
              </a:rPr>
              <a:t>Visibility</a:t>
            </a:r>
          </a:p>
          <a:p>
            <a:pPr algn="l">
              <a:lnSpc>
                <a:spcPct val="115000"/>
              </a:lnSpc>
              <a:spcAft>
                <a:spcPts val="200"/>
              </a:spcAft>
            </a:pPr>
            <a:r>
              <a:rPr sz="3000" b="1">
                <a:solidFill>
                  <a:srgbClr val="FFFFFF"/>
                </a:solidFill>
                <a:latin typeface="Open Sans"/>
              </a:rPr>
              <a:t>&amp; SEO</a:t>
            </a:r>
          </a:p>
          <a:p>
            <a:pPr algn="l">
              <a:lnSpc>
                <a:spcPct val="115000"/>
              </a:lnSpc>
              <a:spcAft>
                <a:spcPts val="0"/>
              </a:spcAft>
            </a:pPr>
            <a:r>
              <a:rPr sz="3000" b="1">
                <a:solidFill>
                  <a:srgbClr val="FFFFFF"/>
                </a:solidFill>
                <a:latin typeface="Open Sans"/>
              </a:rPr>
              <a:t>Performance</a:t>
            </a:r>
          </a:p>
        </p:txBody>
      </p:sp>
      <p:sp>
        <p:nvSpPr>
          <p:cNvPr id="7" name="TextBox 6"/>
          <p:cNvSpPr txBox="1"/>
          <p:nvPr/>
        </p:nvSpPr>
        <p:spPr>
          <a:xfrm>
            <a:off x="502920" y="4590288"/>
            <a:ext cx="3520440" cy="365760"/>
          </a:xfrm>
          <a:prstGeom prst="rect">
            <a:avLst/>
          </a:prstGeom>
          <a:noFill/>
        </p:spPr>
        <p:txBody>
          <a:bodyPr wrap="square" lIns="0" rIns="0" tIns="0" bIns="0" anchor="t">
            <a:spAutoFit/>
          </a:bodyPr>
          <a:lstStyle/>
          <a:p>
            <a:pPr algn="l">
              <a:lnSpc>
                <a:spcPct val="115000"/>
              </a:lnSpc>
              <a:spcAft>
                <a:spcPts val="0"/>
              </a:spcAft>
            </a:pPr>
            <a:r>
              <a:rPr sz="1600" b="1">
                <a:solidFill>
                  <a:srgbClr val="9FC406"/>
                </a:solidFill>
                <a:latin typeface="Open Sans"/>
              </a:rPr>
              <a:t>Q2 2026 Board Update</a:t>
            </a:r>
          </a:p>
        </p:txBody>
      </p:sp>
      <p:sp>
        <p:nvSpPr>
          <p:cNvPr id="8" name="TextBox 7"/>
          <p:cNvSpPr txBox="1"/>
          <p:nvPr/>
        </p:nvSpPr>
        <p:spPr>
          <a:xfrm>
            <a:off x="502920" y="5897880"/>
            <a:ext cx="3383280" cy="548640"/>
          </a:xfrm>
          <a:prstGeom prst="rect">
            <a:avLst/>
          </a:prstGeom>
          <a:noFill/>
        </p:spPr>
        <p:txBody>
          <a:bodyPr wrap="square" lIns="0" rIns="0" tIns="0" bIns="0" anchor="t">
            <a:spAutoFit/>
          </a:bodyPr>
          <a:lstStyle/>
          <a:p>
            <a:pPr algn="l">
              <a:lnSpc>
                <a:spcPct val="115000"/>
              </a:lnSpc>
              <a:spcAft>
                <a:spcPts val="300"/>
              </a:spcAft>
            </a:pPr>
            <a:r>
              <a:rPr sz="1150" b="0">
                <a:solidFill>
                  <a:srgbClr val="D6C4E3"/>
                </a:solidFill>
                <a:latin typeface="Open Sans"/>
              </a:rPr>
              <a:t>Prepared for the Board  ·  Q2 2026 (Apr–Jun)</a:t>
            </a:r>
          </a:p>
          <a:p>
            <a:pPr algn="l">
              <a:lnSpc>
                <a:spcPct val="115000"/>
              </a:lnSpc>
              <a:spcAft>
                <a:spcPts val="0"/>
              </a:spcAft>
            </a:pPr>
            <a:r>
              <a:rPr sz="1050" b="0">
                <a:solidFill>
                  <a:srgbClr val="D6C4E3"/>
                </a:solidFill>
                <a:latin typeface="Open Sans"/>
              </a:rPr>
              <a:t>Sources: Semrush, Aug 2026 pull</a:t>
            </a:r>
          </a:p>
        </p:txBody>
      </p:sp>
      <p:sp>
        <p:nvSpPr>
          <p:cNvPr id="9" name="TextBox 8"/>
          <p:cNvSpPr txBox="1"/>
          <p:nvPr/>
        </p:nvSpPr>
        <p:spPr>
          <a:xfrm>
            <a:off x="4608576" y="2395728"/>
            <a:ext cx="7086600" cy="1691640"/>
          </a:xfrm>
          <a:prstGeom prst="rect">
            <a:avLst/>
          </a:prstGeom>
          <a:noFill/>
        </p:spPr>
        <p:txBody>
          <a:bodyPr wrap="square" lIns="0" rIns="0" tIns="0" bIns="0" anchor="t">
            <a:spAutoFit/>
          </a:bodyPr>
          <a:lstStyle/>
          <a:p>
            <a:pPr algn="l">
              <a:lnSpc>
                <a:spcPct val="115000"/>
              </a:lnSpc>
              <a:spcAft>
                <a:spcPts val="500"/>
              </a:spcAft>
            </a:pPr>
            <a:r>
              <a:rPr sz="2400" b="1">
                <a:solidFill>
                  <a:srgbClr val="59257B"/>
                </a:solidFill>
                <a:latin typeface="Open Sans"/>
              </a:rPr>
              <a:t>Where Komprise stands in AI</a:t>
            </a:r>
          </a:p>
          <a:p>
            <a:pPr algn="l">
              <a:lnSpc>
                <a:spcPct val="115000"/>
              </a:lnSpc>
              <a:spcAft>
                <a:spcPts val="500"/>
              </a:spcAft>
            </a:pPr>
            <a:r>
              <a:rPr sz="2400" b="1">
                <a:solidFill>
                  <a:srgbClr val="59257B"/>
                </a:solidFill>
                <a:latin typeface="Open Sans"/>
              </a:rPr>
              <a:t>search and organic search after</a:t>
            </a:r>
          </a:p>
          <a:p>
            <a:pPr algn="l">
              <a:lnSpc>
                <a:spcPct val="115000"/>
              </a:lnSpc>
              <a:spcAft>
                <a:spcPts val="0"/>
              </a:spcAft>
            </a:pPr>
            <a:r>
              <a:rPr sz="2400" b="1">
                <a:solidFill>
                  <a:srgbClr val="59257B"/>
                </a:solidFill>
                <a:latin typeface="Open Sans"/>
              </a:rPr>
              <a:t>Q2 — and what happens next</a:t>
            </a:r>
          </a:p>
        </p:txBody>
      </p:sp>
      <p:sp>
        <p:nvSpPr>
          <p:cNvPr id="10" name="Rectangle 9"/>
          <p:cNvSpPr/>
          <p:nvPr/>
        </p:nvSpPr>
        <p:spPr>
          <a:xfrm>
            <a:off x="4608576" y="4443984"/>
            <a:ext cx="128016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08576" y="4791456"/>
            <a:ext cx="7086600" cy="1188720"/>
          </a:xfrm>
          <a:prstGeom prst="rect">
            <a:avLst/>
          </a:prstGeom>
          <a:noFill/>
        </p:spPr>
        <p:txBody>
          <a:bodyPr wrap="square" lIns="0" rIns="0" tIns="0" bIns="0" anchor="t">
            <a:spAutoFit/>
          </a:bodyPr>
          <a:lstStyle/>
          <a:p>
            <a:pPr algn="l">
              <a:lnSpc>
                <a:spcPct val="115000"/>
              </a:lnSpc>
              <a:spcAft>
                <a:spcPts val="600"/>
              </a:spcAft>
            </a:pPr>
            <a:r>
              <a:rPr sz="1300" b="1">
                <a:solidFill>
                  <a:srgbClr val="262428"/>
                </a:solidFill>
                <a:latin typeface="Open Sans"/>
              </a:rPr>
              <a:t>Two lanes, one story:</a:t>
            </a:r>
          </a:p>
          <a:p>
            <a:pPr algn="l">
              <a:lnSpc>
                <a:spcPct val="115000"/>
              </a:lnSpc>
              <a:spcAft>
                <a:spcPts val="400"/>
              </a:spcAft>
            </a:pPr>
            <a:r>
              <a:rPr sz="1250" b="0">
                <a:solidFill>
                  <a:srgbClr val="595A5B"/>
                </a:solidFill>
                <a:latin typeface="Open Sans"/>
              </a:rPr>
              <a:t>1.  Be the answer for AI-ready data — unstructured data for AI, AI data management.</a:t>
            </a:r>
          </a:p>
          <a:p>
            <a:pPr algn="l">
              <a:lnSpc>
                <a:spcPct val="115000"/>
              </a:lnSpc>
              <a:spcAft>
                <a:spcPts val="0"/>
              </a:spcAft>
            </a:pPr>
            <a:r>
              <a:rPr sz="1250" b="0">
                <a:solidFill>
                  <a:srgbClr val="595A5B"/>
                </a:solidFill>
                <a:latin typeface="Open Sans"/>
              </a:rPr>
              <a:t>2.  Be the answer for storage price hikes — tiering, cost savings, NetApp, Dell, Everpure.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74320"/>
            <a:ext cx="9692640" cy="548640"/>
          </a:xfrm>
          <a:prstGeom prst="rect">
            <a:avLst/>
          </a:prstGeom>
          <a:noFill/>
        </p:spPr>
        <p:txBody>
          <a:bodyPr wrap="square" lIns="0" rIns="0" tIns="0" bIns="0" anchor="t">
            <a:spAutoFit/>
          </a:bodyPr>
          <a:lstStyle/>
          <a:p>
            <a:pPr algn="l">
              <a:lnSpc>
                <a:spcPct val="115000"/>
              </a:lnSpc>
              <a:spcAft>
                <a:spcPts val="0"/>
              </a:spcAft>
            </a:pPr>
            <a:r>
              <a:rPr sz="2500" b="1">
                <a:solidFill>
                  <a:srgbClr val="59257B"/>
                </a:solidFill>
                <a:latin typeface="Open Sans"/>
              </a:rPr>
              <a:t>Executive Summary</a:t>
            </a:r>
          </a:p>
        </p:txBody>
      </p:sp>
      <p:sp>
        <p:nvSpPr>
          <p:cNvPr id="6" name="TextBox 5"/>
          <p:cNvSpPr txBox="1"/>
          <p:nvPr/>
        </p:nvSpPr>
        <p:spPr>
          <a:xfrm>
            <a:off x="502920" y="804672"/>
            <a:ext cx="10241280" cy="292608"/>
          </a:xfrm>
          <a:prstGeom prst="rect">
            <a:avLst/>
          </a:prstGeom>
          <a:noFill/>
        </p:spPr>
        <p:txBody>
          <a:bodyPr wrap="square" lIns="0" rIns="0" tIns="0" bIns="0" anchor="t">
            <a:spAutoFit/>
          </a:bodyPr>
          <a:lstStyle/>
          <a:p>
            <a:pPr algn="l">
              <a:lnSpc>
                <a:spcPct val="115000"/>
              </a:lnSpc>
              <a:spcAft>
                <a:spcPts val="0"/>
              </a:spcAft>
            </a:pPr>
            <a:r>
              <a:rPr sz="1250" b="0">
                <a:solidFill>
                  <a:srgbClr val="595A5B"/>
                </a:solidFill>
                <a:latin typeface="Open Sans"/>
              </a:rPr>
              <a:t>Q2 2026 (Apr–Jun) — the quarter in four numbers</a:t>
            </a:r>
          </a:p>
        </p:txBody>
      </p:sp>
      <p:sp>
        <p:nvSpPr>
          <p:cNvPr id="7" name="Rectangle 6"/>
          <p:cNvSpPr/>
          <p:nvPr/>
        </p:nvSpPr>
        <p:spPr>
          <a:xfrm>
            <a:off x="502920" y="1280160"/>
            <a:ext cx="2606040" cy="138988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280160"/>
            <a:ext cx="54864" cy="1389888"/>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444751"/>
            <a:ext cx="2167128" cy="457200"/>
          </a:xfrm>
          <a:prstGeom prst="rect">
            <a:avLst/>
          </a:prstGeom>
          <a:noFill/>
        </p:spPr>
        <p:txBody>
          <a:bodyPr wrap="square" lIns="0" rIns="0" tIns="0" bIns="0" anchor="t">
            <a:spAutoFit/>
          </a:bodyPr>
          <a:lstStyle/>
          <a:p>
            <a:pPr algn="l">
              <a:lnSpc>
                <a:spcPct val="115000"/>
              </a:lnSpc>
              <a:spcAft>
                <a:spcPts val="0"/>
              </a:spcAft>
            </a:pPr>
            <a:r>
              <a:rPr sz="3000" b="1">
                <a:solidFill>
                  <a:srgbClr val="7A9905"/>
                </a:solidFill>
                <a:latin typeface="Open Sans"/>
              </a:rPr>
              <a:t>+32%</a:t>
            </a:r>
          </a:p>
        </p:txBody>
      </p:sp>
      <p:sp>
        <p:nvSpPr>
          <p:cNvPr id="10" name="TextBox 9"/>
          <p:cNvSpPr txBox="1"/>
          <p:nvPr/>
        </p:nvSpPr>
        <p:spPr>
          <a:xfrm>
            <a:off x="758952" y="1883663"/>
            <a:ext cx="2167128" cy="256032"/>
          </a:xfrm>
          <a:prstGeom prst="rect">
            <a:avLst/>
          </a:prstGeom>
          <a:noFill/>
        </p:spPr>
        <p:txBody>
          <a:bodyPr wrap="square" lIns="0" rIns="0" tIns="0" bIns="0" anchor="t">
            <a:spAutoFit/>
          </a:bodyPr>
          <a:lstStyle/>
          <a:p>
            <a:pPr algn="l">
              <a:lnSpc>
                <a:spcPct val="115000"/>
              </a:lnSpc>
              <a:spcAft>
                <a:spcPts val="0"/>
              </a:spcAft>
            </a:pPr>
            <a:r>
              <a:rPr sz="1050" b="1">
                <a:solidFill>
                  <a:srgbClr val="59257B"/>
                </a:solidFill>
                <a:latin typeface="Open Sans"/>
              </a:rPr>
              <a:t>Organic Traffic</a:t>
            </a:r>
          </a:p>
        </p:txBody>
      </p:sp>
      <p:sp>
        <p:nvSpPr>
          <p:cNvPr id="11" name="TextBox 10"/>
          <p:cNvSpPr txBox="1"/>
          <p:nvPr/>
        </p:nvSpPr>
        <p:spPr>
          <a:xfrm>
            <a:off x="758952" y="2176272"/>
            <a:ext cx="2167128" cy="548640"/>
          </a:xfrm>
          <a:prstGeom prst="rect">
            <a:avLst/>
          </a:prstGeom>
          <a:noFill/>
        </p:spPr>
        <p:txBody>
          <a:bodyPr wrap="square" lIns="0" rIns="0" tIns="0" bIns="0" anchor="t">
            <a:spAutoFit/>
          </a:bodyPr>
          <a:lstStyle/>
          <a:p>
            <a:pPr algn="l">
              <a:lnSpc>
                <a:spcPct val="120000"/>
              </a:lnSpc>
              <a:spcAft>
                <a:spcPts val="0"/>
              </a:spcAft>
            </a:pPr>
            <a:r>
              <a:rPr sz="900" b="0">
                <a:solidFill>
                  <a:srgbClr val="595A5B"/>
                </a:solidFill>
                <a:latin typeface="Open Sans"/>
              </a:rPr>
              <a:t>16,602 → 21,883 monthly visits. Best month since May 2025.</a:t>
            </a:r>
          </a:p>
        </p:txBody>
      </p:sp>
      <p:sp>
        <p:nvSpPr>
          <p:cNvPr id="12" name="Rectangle 11"/>
          <p:cNvSpPr/>
          <p:nvPr/>
        </p:nvSpPr>
        <p:spPr>
          <a:xfrm>
            <a:off x="3246120" y="1280160"/>
            <a:ext cx="2606040" cy="138988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46120" y="1280160"/>
            <a:ext cx="54864" cy="1389888"/>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2152" y="1444751"/>
            <a:ext cx="2167128" cy="457200"/>
          </a:xfrm>
          <a:prstGeom prst="rect">
            <a:avLst/>
          </a:prstGeom>
          <a:noFill/>
        </p:spPr>
        <p:txBody>
          <a:bodyPr wrap="square" lIns="0" rIns="0" tIns="0" bIns="0" anchor="t">
            <a:spAutoFit/>
          </a:bodyPr>
          <a:lstStyle/>
          <a:p>
            <a:pPr algn="l">
              <a:lnSpc>
                <a:spcPct val="115000"/>
              </a:lnSpc>
              <a:spcAft>
                <a:spcPts val="0"/>
              </a:spcAft>
            </a:pPr>
            <a:r>
              <a:rPr sz="3000" b="1">
                <a:solidFill>
                  <a:srgbClr val="7A9905"/>
                </a:solidFill>
                <a:latin typeface="Open Sans"/>
              </a:rPr>
              <a:t>+177%</a:t>
            </a:r>
          </a:p>
        </p:txBody>
      </p:sp>
      <p:sp>
        <p:nvSpPr>
          <p:cNvPr id="15" name="TextBox 14"/>
          <p:cNvSpPr txBox="1"/>
          <p:nvPr/>
        </p:nvSpPr>
        <p:spPr>
          <a:xfrm>
            <a:off x="3502152" y="1883663"/>
            <a:ext cx="2167128" cy="256032"/>
          </a:xfrm>
          <a:prstGeom prst="rect">
            <a:avLst/>
          </a:prstGeom>
          <a:noFill/>
        </p:spPr>
        <p:txBody>
          <a:bodyPr wrap="square" lIns="0" rIns="0" tIns="0" bIns="0" anchor="t">
            <a:spAutoFit/>
          </a:bodyPr>
          <a:lstStyle/>
          <a:p>
            <a:pPr algn="l">
              <a:lnSpc>
                <a:spcPct val="115000"/>
              </a:lnSpc>
              <a:spcAft>
                <a:spcPts val="0"/>
              </a:spcAft>
            </a:pPr>
            <a:r>
              <a:rPr sz="1050" b="1">
                <a:solidFill>
                  <a:srgbClr val="59257B"/>
                </a:solidFill>
                <a:latin typeface="Open Sans"/>
              </a:rPr>
              <a:t>Traffic Value</a:t>
            </a:r>
          </a:p>
        </p:txBody>
      </p:sp>
      <p:sp>
        <p:nvSpPr>
          <p:cNvPr id="16" name="TextBox 15"/>
          <p:cNvSpPr txBox="1"/>
          <p:nvPr/>
        </p:nvSpPr>
        <p:spPr>
          <a:xfrm>
            <a:off x="3502152" y="2176272"/>
            <a:ext cx="2167128" cy="548640"/>
          </a:xfrm>
          <a:prstGeom prst="rect">
            <a:avLst/>
          </a:prstGeom>
          <a:noFill/>
        </p:spPr>
        <p:txBody>
          <a:bodyPr wrap="square" lIns="0" rIns="0" tIns="0" bIns="0" anchor="t">
            <a:spAutoFit/>
          </a:bodyPr>
          <a:lstStyle/>
          <a:p>
            <a:pPr algn="l">
              <a:lnSpc>
                <a:spcPct val="120000"/>
              </a:lnSpc>
              <a:spcAft>
                <a:spcPts val="0"/>
              </a:spcAft>
            </a:pPr>
            <a:r>
              <a:rPr sz="900" b="0">
                <a:solidFill>
                  <a:srgbClr val="595A5B"/>
                </a:solidFill>
                <a:latin typeface="Open Sans"/>
              </a:rPr>
              <a:t>$29,984 → $82,977 / month of equivalent paid search.</a:t>
            </a:r>
          </a:p>
        </p:txBody>
      </p:sp>
      <p:sp>
        <p:nvSpPr>
          <p:cNvPr id="17" name="Rectangle 16"/>
          <p:cNvSpPr/>
          <p:nvPr/>
        </p:nvSpPr>
        <p:spPr>
          <a:xfrm>
            <a:off x="5989320" y="1280160"/>
            <a:ext cx="2606040" cy="138988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89320" y="1280160"/>
            <a:ext cx="54864" cy="1389888"/>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5352" y="1444751"/>
            <a:ext cx="2167128" cy="457200"/>
          </a:xfrm>
          <a:prstGeom prst="rect">
            <a:avLst/>
          </a:prstGeom>
          <a:noFill/>
        </p:spPr>
        <p:txBody>
          <a:bodyPr wrap="square" lIns="0" rIns="0" tIns="0" bIns="0" anchor="t">
            <a:spAutoFit/>
          </a:bodyPr>
          <a:lstStyle/>
          <a:p>
            <a:pPr algn="l">
              <a:lnSpc>
                <a:spcPct val="115000"/>
              </a:lnSpc>
              <a:spcAft>
                <a:spcPts val="0"/>
              </a:spcAft>
            </a:pPr>
            <a:r>
              <a:rPr sz="3000" b="1">
                <a:solidFill>
                  <a:srgbClr val="59257B"/>
                </a:solidFill>
                <a:latin typeface="Open Sans"/>
              </a:rPr>
              <a:t>5,449</a:t>
            </a:r>
          </a:p>
        </p:txBody>
      </p:sp>
      <p:sp>
        <p:nvSpPr>
          <p:cNvPr id="20" name="TextBox 19"/>
          <p:cNvSpPr txBox="1"/>
          <p:nvPr/>
        </p:nvSpPr>
        <p:spPr>
          <a:xfrm>
            <a:off x="6245352" y="1883663"/>
            <a:ext cx="2167128" cy="256032"/>
          </a:xfrm>
          <a:prstGeom prst="rect">
            <a:avLst/>
          </a:prstGeom>
          <a:noFill/>
        </p:spPr>
        <p:txBody>
          <a:bodyPr wrap="square" lIns="0" rIns="0" tIns="0" bIns="0" anchor="t">
            <a:spAutoFit/>
          </a:bodyPr>
          <a:lstStyle/>
          <a:p>
            <a:pPr algn="l">
              <a:lnSpc>
                <a:spcPct val="115000"/>
              </a:lnSpc>
              <a:spcAft>
                <a:spcPts val="0"/>
              </a:spcAft>
            </a:pPr>
            <a:r>
              <a:rPr sz="1050" b="1">
                <a:solidFill>
                  <a:srgbClr val="59257B"/>
                </a:solidFill>
                <a:latin typeface="Open Sans"/>
              </a:rPr>
              <a:t>AI Overview Keywords</a:t>
            </a:r>
          </a:p>
        </p:txBody>
      </p:sp>
      <p:sp>
        <p:nvSpPr>
          <p:cNvPr id="21" name="TextBox 20"/>
          <p:cNvSpPr txBox="1"/>
          <p:nvPr/>
        </p:nvSpPr>
        <p:spPr>
          <a:xfrm>
            <a:off x="6245352" y="2176272"/>
            <a:ext cx="2167128" cy="548640"/>
          </a:xfrm>
          <a:prstGeom prst="rect">
            <a:avLst/>
          </a:prstGeom>
          <a:noFill/>
        </p:spPr>
        <p:txBody>
          <a:bodyPr wrap="square" lIns="0" rIns="0" tIns="0" bIns="0" anchor="t">
            <a:spAutoFit/>
          </a:bodyPr>
          <a:lstStyle/>
          <a:p>
            <a:pPr algn="l">
              <a:lnSpc>
                <a:spcPct val="120000"/>
              </a:lnSpc>
              <a:spcAft>
                <a:spcPts val="0"/>
              </a:spcAft>
            </a:pPr>
            <a:r>
              <a:rPr sz="900" b="0">
                <a:solidFill>
                  <a:srgbClr val="595A5B"/>
                </a:solidFill>
                <a:latin typeface="Open Sans"/>
              </a:rPr>
              <a:t>14× Hammerspace, 127× Diskover. Up 7% in the quarter.</a:t>
            </a:r>
          </a:p>
        </p:txBody>
      </p:sp>
      <p:sp>
        <p:nvSpPr>
          <p:cNvPr id="22" name="Rectangle 21"/>
          <p:cNvSpPr/>
          <p:nvPr/>
        </p:nvSpPr>
        <p:spPr>
          <a:xfrm>
            <a:off x="8732520" y="1280160"/>
            <a:ext cx="2606040" cy="138988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732520" y="1280160"/>
            <a:ext cx="54864" cy="1389888"/>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88552" y="1444751"/>
            <a:ext cx="2167128" cy="457200"/>
          </a:xfrm>
          <a:prstGeom prst="rect">
            <a:avLst/>
          </a:prstGeom>
          <a:noFill/>
        </p:spPr>
        <p:txBody>
          <a:bodyPr wrap="square" lIns="0" rIns="0" tIns="0" bIns="0" anchor="t">
            <a:spAutoFit/>
          </a:bodyPr>
          <a:lstStyle/>
          <a:p>
            <a:pPr algn="l">
              <a:lnSpc>
                <a:spcPct val="115000"/>
              </a:lnSpc>
              <a:spcAft>
                <a:spcPts val="0"/>
              </a:spcAft>
            </a:pPr>
            <a:r>
              <a:rPr sz="3000" b="1">
                <a:solidFill>
                  <a:srgbClr val="7A9905"/>
                </a:solidFill>
                <a:latin typeface="Open Sans"/>
              </a:rPr>
              <a:t>+15%</a:t>
            </a:r>
          </a:p>
        </p:txBody>
      </p:sp>
      <p:sp>
        <p:nvSpPr>
          <p:cNvPr id="25" name="TextBox 24"/>
          <p:cNvSpPr txBox="1"/>
          <p:nvPr/>
        </p:nvSpPr>
        <p:spPr>
          <a:xfrm>
            <a:off x="8988552" y="1883663"/>
            <a:ext cx="2167128" cy="256032"/>
          </a:xfrm>
          <a:prstGeom prst="rect">
            <a:avLst/>
          </a:prstGeom>
          <a:noFill/>
        </p:spPr>
        <p:txBody>
          <a:bodyPr wrap="square" lIns="0" rIns="0" tIns="0" bIns="0" anchor="t">
            <a:spAutoFit/>
          </a:bodyPr>
          <a:lstStyle/>
          <a:p>
            <a:pPr algn="l">
              <a:lnSpc>
                <a:spcPct val="115000"/>
              </a:lnSpc>
              <a:spcAft>
                <a:spcPts val="0"/>
              </a:spcAft>
            </a:pPr>
            <a:r>
              <a:rPr sz="1050" b="1">
                <a:solidFill>
                  <a:srgbClr val="59257B"/>
                </a:solidFill>
                <a:latin typeface="Open Sans"/>
              </a:rPr>
              <a:t>Top-3 Rankings</a:t>
            </a:r>
          </a:p>
        </p:txBody>
      </p:sp>
      <p:sp>
        <p:nvSpPr>
          <p:cNvPr id="26" name="TextBox 25"/>
          <p:cNvSpPr txBox="1"/>
          <p:nvPr/>
        </p:nvSpPr>
        <p:spPr>
          <a:xfrm>
            <a:off x="8988552" y="2176272"/>
            <a:ext cx="2167128" cy="548640"/>
          </a:xfrm>
          <a:prstGeom prst="rect">
            <a:avLst/>
          </a:prstGeom>
          <a:noFill/>
        </p:spPr>
        <p:txBody>
          <a:bodyPr wrap="square" lIns="0" rIns="0" tIns="0" bIns="0" anchor="t">
            <a:spAutoFit/>
          </a:bodyPr>
          <a:lstStyle/>
          <a:p>
            <a:pPr algn="l">
              <a:lnSpc>
                <a:spcPct val="120000"/>
              </a:lnSpc>
              <a:spcAft>
                <a:spcPts val="0"/>
              </a:spcAft>
            </a:pPr>
            <a:r>
              <a:rPr sz="900" b="0">
                <a:solidFill>
                  <a:srgbClr val="595A5B"/>
                </a:solidFill>
                <a:latin typeface="Open Sans"/>
              </a:rPr>
              <a:t>366 → 420 keywords in Google's top three results.</a:t>
            </a:r>
          </a:p>
        </p:txBody>
      </p:sp>
      <p:sp>
        <p:nvSpPr>
          <p:cNvPr id="27" name="Rectangle 26"/>
          <p:cNvSpPr/>
          <p:nvPr/>
        </p:nvSpPr>
        <p:spPr>
          <a:xfrm>
            <a:off x="502920" y="2944368"/>
            <a:ext cx="11183112" cy="347472"/>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7512" y="3012948"/>
            <a:ext cx="10908792" cy="237744"/>
          </a:xfrm>
          <a:prstGeom prst="rect">
            <a:avLst/>
          </a:prstGeom>
          <a:noFill/>
        </p:spPr>
        <p:txBody>
          <a:bodyPr wrap="square" lIns="0" rIns="0" tIns="0" bIns="0" anchor="t">
            <a:spAutoFit/>
          </a:bodyPr>
          <a:lstStyle/>
          <a:p>
            <a:pPr algn="l">
              <a:lnSpc>
                <a:spcPct val="115000"/>
              </a:lnSpc>
              <a:spcAft>
                <a:spcPts val="0"/>
              </a:spcAft>
            </a:pPr>
            <a:r>
              <a:rPr sz="1350" b="1">
                <a:solidFill>
                  <a:srgbClr val="FFFFFF"/>
                </a:solidFill>
                <a:latin typeface="Open Sans"/>
              </a:rPr>
              <a:t>What the Board Should Take Away</a:t>
            </a:r>
          </a:p>
        </p:txBody>
      </p:sp>
      <p:sp>
        <p:nvSpPr>
          <p:cNvPr id="29" name="Rectangle 28"/>
          <p:cNvSpPr/>
          <p:nvPr/>
        </p:nvSpPr>
        <p:spPr>
          <a:xfrm>
            <a:off x="548640" y="3561588"/>
            <a:ext cx="82296" cy="8229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3493008"/>
            <a:ext cx="10881360" cy="457200"/>
          </a:xfrm>
          <a:prstGeom prst="rect">
            <a:avLst/>
          </a:prstGeom>
          <a:noFill/>
        </p:spPr>
        <p:txBody>
          <a:bodyPr wrap="square" lIns="0" rIns="0" tIns="0" bIns="0" anchor="t">
            <a:spAutoFit/>
          </a:bodyPr>
          <a:lstStyle/>
          <a:p>
            <a:pPr algn="l">
              <a:lnSpc>
                <a:spcPct val="122000"/>
              </a:lnSpc>
              <a:spcAft>
                <a:spcPts val="0"/>
              </a:spcAft>
            </a:pPr>
            <a:r>
              <a:rPr sz="1250" b="1">
                <a:solidFill>
                  <a:srgbClr val="59257B"/>
                </a:solidFill>
                <a:latin typeface="Open Sans"/>
              </a:rPr>
              <a:t>Q2 was our strongest search quarter in over a year. Traffic grew 32% and the commercial value of that traffic nearly tripled, on a smaller, better-targeted keyword set.</a:t>
            </a:r>
          </a:p>
        </p:txBody>
      </p:sp>
      <p:sp>
        <p:nvSpPr>
          <p:cNvPr id="31" name="Rectangle 30"/>
          <p:cNvSpPr/>
          <p:nvPr/>
        </p:nvSpPr>
        <p:spPr>
          <a:xfrm>
            <a:off x="548640" y="4201668"/>
            <a:ext cx="82296" cy="8229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6384" y="4133087"/>
            <a:ext cx="10881360" cy="457200"/>
          </a:xfrm>
          <a:prstGeom prst="rect">
            <a:avLst/>
          </a:prstGeom>
          <a:noFill/>
        </p:spPr>
        <p:txBody>
          <a:bodyPr wrap="square" lIns="0" rIns="0" tIns="0" bIns="0" anchor="t">
            <a:spAutoFit/>
          </a:bodyPr>
          <a:lstStyle/>
          <a:p>
            <a:pPr algn="l">
              <a:lnSpc>
                <a:spcPct val="122000"/>
              </a:lnSpc>
              <a:spcAft>
                <a:spcPts val="0"/>
              </a:spcAft>
            </a:pPr>
            <a:r>
              <a:rPr sz="1250" b="1">
                <a:solidFill>
                  <a:srgbClr val="59257B"/>
                </a:solidFill>
                <a:latin typeface="Open Sans"/>
              </a:rPr>
              <a:t>We already show up inside Google's AI answers at real scale. Komprise appears in AI Overviews for 5,449 keywords — an order of magnitude ahead of Hammerspace, Atempo, Datadobi and Diskover.</a:t>
            </a:r>
          </a:p>
        </p:txBody>
      </p:sp>
      <p:sp>
        <p:nvSpPr>
          <p:cNvPr id="33" name="Rectangle 32"/>
          <p:cNvSpPr/>
          <p:nvPr/>
        </p:nvSpPr>
        <p:spPr>
          <a:xfrm>
            <a:off x="548640" y="4841748"/>
            <a:ext cx="82296" cy="8229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 y="4773168"/>
            <a:ext cx="10881360" cy="457200"/>
          </a:xfrm>
          <a:prstGeom prst="rect">
            <a:avLst/>
          </a:prstGeom>
          <a:noFill/>
        </p:spPr>
        <p:txBody>
          <a:bodyPr wrap="square" lIns="0" rIns="0" tIns="0" bIns="0" anchor="t">
            <a:spAutoFit/>
          </a:bodyPr>
          <a:lstStyle/>
          <a:p>
            <a:pPr algn="l">
              <a:lnSpc>
                <a:spcPct val="122000"/>
              </a:lnSpc>
              <a:spcAft>
                <a:spcPts val="0"/>
              </a:spcAft>
            </a:pPr>
            <a:r>
              <a:rPr sz="1250" b="1">
                <a:solidFill>
                  <a:srgbClr val="59257B"/>
                </a:solidFill>
                <a:latin typeface="Open Sans"/>
              </a:rPr>
              <a:t>The competitive picture changed in Q2. Pure Storage relaunched as Everpure and, with 1touch, went from no measurable presence to roughly three times our AI Overview footprint inside two months.</a:t>
            </a:r>
          </a:p>
        </p:txBody>
      </p:sp>
      <p:sp>
        <p:nvSpPr>
          <p:cNvPr id="35" name="Rectangle 34"/>
          <p:cNvSpPr/>
          <p:nvPr/>
        </p:nvSpPr>
        <p:spPr>
          <a:xfrm>
            <a:off x="548640" y="5481828"/>
            <a:ext cx="82296" cy="8229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6384" y="5413248"/>
            <a:ext cx="10881360" cy="457200"/>
          </a:xfrm>
          <a:prstGeom prst="rect">
            <a:avLst/>
          </a:prstGeom>
          <a:noFill/>
        </p:spPr>
        <p:txBody>
          <a:bodyPr wrap="square" lIns="0" rIns="0" tIns="0" bIns="0" anchor="t">
            <a:spAutoFit/>
          </a:bodyPr>
          <a:lstStyle/>
          <a:p>
            <a:pPr algn="l">
              <a:lnSpc>
                <a:spcPct val="122000"/>
              </a:lnSpc>
              <a:spcAft>
                <a:spcPts val="0"/>
              </a:spcAft>
            </a:pPr>
            <a:r>
              <a:rPr sz="1250" b="1">
                <a:solidFill>
                  <a:srgbClr val="59257B"/>
                </a:solidFill>
                <a:latin typeface="Open Sans"/>
              </a:rPr>
              <a:t>The brand-perception work is the unfinished half. Being cited is not the same as being named, and the prompt-level tracking needed to prove that shift only began on 10 June — see Data Coverage.</a:t>
            </a:r>
          </a:p>
        </p:txBody>
      </p:sp>
      <p:sp>
        <p:nvSpPr>
          <p:cNvPr id="37" name="Rectangle 36"/>
          <p:cNvSpPr/>
          <p:nvPr/>
        </p:nvSpPr>
        <p:spPr>
          <a:xfrm>
            <a:off x="502920" y="6108192"/>
            <a:ext cx="11183112" cy="420624"/>
          </a:xfrm>
          <a:prstGeom prst="rect">
            <a:avLst/>
          </a:prstGeom>
          <a:solidFill>
            <a:srgbClr val="E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2920" y="6108192"/>
            <a:ext cx="54864" cy="420624"/>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3232" y="6208776"/>
            <a:ext cx="10881360" cy="274320"/>
          </a:xfrm>
          <a:prstGeom prst="rect">
            <a:avLst/>
          </a:prstGeom>
          <a:noFill/>
        </p:spPr>
        <p:txBody>
          <a:bodyPr wrap="square" lIns="0" rIns="0" tIns="0" bIns="0" anchor="t">
            <a:spAutoFit/>
          </a:bodyPr>
          <a:lstStyle/>
          <a:p>
            <a:pPr algn="l">
              <a:lnSpc>
                <a:spcPct val="115000"/>
              </a:lnSpc>
              <a:spcAft>
                <a:spcPts val="0"/>
              </a:spcAft>
            </a:pPr>
            <a:r>
              <a:rPr sz="1200" b="1">
                <a:solidFill>
                  <a:srgbClr val="59257B"/>
                </a:solidFill>
                <a:latin typeface="Open Sans"/>
              </a:rPr>
              <a:t>Bottom line: the machine is working on search. The AI-brand story is where Q3 investment goes.</a:t>
            </a:r>
          </a:p>
        </p:txBody>
      </p:sp>
      <p:sp>
        <p:nvSpPr>
          <p:cNvPr id="40" name="TextBox 39"/>
          <p:cNvSpPr txBox="1"/>
          <p:nvPr/>
        </p:nvSpPr>
        <p:spPr>
          <a:xfrm>
            <a:off x="502920" y="6528816"/>
            <a:ext cx="6400800" cy="228600"/>
          </a:xfrm>
          <a:prstGeom prst="rect">
            <a:avLst/>
          </a:prstGeom>
          <a:noFill/>
        </p:spPr>
        <p:txBody>
          <a:bodyPr wrap="square" lIns="0" rIns="0" tIns="0" bIns="0" anchor="t">
            <a:spAutoFit/>
          </a:bodyPr>
          <a:lstStyle/>
          <a:p>
            <a:pPr algn="l">
              <a:lnSpc>
                <a:spcPct val="115000"/>
              </a:lnSpc>
              <a:spcAft>
                <a:spcPts val="0"/>
              </a:spcAft>
            </a:pPr>
            <a:r>
              <a:rPr sz="900" b="0">
                <a:solidFill>
                  <a:srgbClr val="8A8A8D"/>
                </a:solidFill>
                <a:latin typeface="Open Sans"/>
              </a:rPr>
              <a:t>Komprise GEO / SEO  —  Q2 2026 Board Update</a:t>
            </a:r>
          </a:p>
        </p:txBody>
      </p:sp>
      <p:sp>
        <p:nvSpPr>
          <p:cNvPr id="41" name="TextBox 40"/>
          <p:cNvSpPr txBox="1"/>
          <p:nvPr/>
        </p:nvSpPr>
        <p:spPr>
          <a:xfrm>
            <a:off x="10881360" y="6528816"/>
            <a:ext cx="822960" cy="228600"/>
          </a:xfrm>
          <a:prstGeom prst="rect">
            <a:avLst/>
          </a:prstGeom>
          <a:noFill/>
        </p:spPr>
        <p:txBody>
          <a:bodyPr wrap="square" lIns="0" rIns="0" tIns="0" bIns="0" anchor="t">
            <a:spAutoFit/>
          </a:bodyPr>
          <a:lstStyle/>
          <a:p>
            <a:pPr algn="r">
              <a:lnSpc>
                <a:spcPct val="115000"/>
              </a:lnSpc>
              <a:spcAft>
                <a:spcPts val="0"/>
              </a:spcAft>
            </a:pPr>
            <a:r>
              <a:rPr sz="900" b="0">
                <a:solidFill>
                  <a:srgbClr val="8A8A8D"/>
                </a:solidFill>
                <a:latin typeface="Open San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74320"/>
            <a:ext cx="9692640" cy="548640"/>
          </a:xfrm>
          <a:prstGeom prst="rect">
            <a:avLst/>
          </a:prstGeom>
          <a:noFill/>
        </p:spPr>
        <p:txBody>
          <a:bodyPr wrap="square" lIns="0" rIns="0" tIns="0" bIns="0" anchor="t">
            <a:spAutoFit/>
          </a:bodyPr>
          <a:lstStyle/>
          <a:p>
            <a:pPr algn="l">
              <a:lnSpc>
                <a:spcPct val="115000"/>
              </a:lnSpc>
              <a:spcAft>
                <a:spcPts val="0"/>
              </a:spcAft>
            </a:pPr>
            <a:r>
              <a:rPr sz="2500" b="1">
                <a:solidFill>
                  <a:srgbClr val="59257B"/>
                </a:solidFill>
                <a:latin typeface="Open Sans"/>
              </a:rPr>
              <a:t>Q2 Search Performance</a:t>
            </a:r>
          </a:p>
        </p:txBody>
      </p:sp>
      <p:sp>
        <p:nvSpPr>
          <p:cNvPr id="6" name="TextBox 5"/>
          <p:cNvSpPr txBox="1"/>
          <p:nvPr/>
        </p:nvSpPr>
        <p:spPr>
          <a:xfrm>
            <a:off x="502920" y="804672"/>
            <a:ext cx="10241280" cy="292608"/>
          </a:xfrm>
          <a:prstGeom prst="rect">
            <a:avLst/>
          </a:prstGeom>
          <a:noFill/>
        </p:spPr>
        <p:txBody>
          <a:bodyPr wrap="square" lIns="0" rIns="0" tIns="0" bIns="0" anchor="t">
            <a:spAutoFit/>
          </a:bodyPr>
          <a:lstStyle/>
          <a:p>
            <a:pPr algn="l">
              <a:lnSpc>
                <a:spcPct val="115000"/>
              </a:lnSpc>
              <a:spcAft>
                <a:spcPts val="0"/>
              </a:spcAft>
            </a:pPr>
            <a:r>
              <a:rPr sz="1250" b="0">
                <a:solidFill>
                  <a:srgbClr val="595A5B"/>
                </a:solidFill>
                <a:latin typeface="Open Sans"/>
              </a:rPr>
              <a:t>Monthly Semrush snapshots, US database. 15 Mar = Q1 exit baseline; 15 Apr / 15 May / 15 Jun = Q2.</a:t>
            </a:r>
          </a:p>
        </p:txBody>
      </p:sp>
      <p:graphicFrame>
        <p:nvGraphicFramePr>
          <p:cNvPr id="7" name="Chart 6"/>
          <p:cNvGraphicFramePr>
            <a:graphicFrameLocks noGrp="1"/>
          </p:cNvGraphicFramePr>
          <p:nvPr/>
        </p:nvGraphicFramePr>
        <p:xfrm>
          <a:off x="502920" y="1371600"/>
          <a:ext cx="7360920" cy="4160520"/>
        </p:xfrm>
        <a:graphic>
          <a:graphicData uri="http://schemas.openxmlformats.org/drawingml/2006/chart">
            <c:chart xmlns:c="http://schemas.openxmlformats.org/drawingml/2006/chart" r:id="rId3"/>
          </a:graphicData>
        </a:graphic>
      </p:graphicFrame>
      <p:sp>
        <p:nvSpPr>
          <p:cNvPr id="8" name="TextBox 7"/>
          <p:cNvSpPr txBox="1"/>
          <p:nvPr/>
        </p:nvSpPr>
        <p:spPr>
          <a:xfrm>
            <a:off x="502920" y="5669280"/>
            <a:ext cx="7360920" cy="685800"/>
          </a:xfrm>
          <a:prstGeom prst="rect">
            <a:avLst/>
          </a:prstGeom>
          <a:noFill/>
        </p:spPr>
        <p:txBody>
          <a:bodyPr wrap="square" lIns="0" rIns="0" tIns="0" bIns="0" anchor="t">
            <a:spAutoFit/>
          </a:bodyPr>
          <a:lstStyle/>
          <a:p>
            <a:pPr algn="l">
              <a:lnSpc>
                <a:spcPct val="125000"/>
              </a:lnSpc>
              <a:spcAft>
                <a:spcPts val="0"/>
              </a:spcAft>
            </a:pPr>
            <a:r>
              <a:rPr sz="1100" b="0">
                <a:solidFill>
                  <a:srgbClr val="595A5B"/>
                </a:solidFill>
                <a:latin typeface="Open Sans"/>
              </a:rPr>
              <a:t>Traffic dipped into April, then climbed for three straight months. The two pale bars sit outside Q2 and are shown for context — 15 Jul is the first reading after quarter close.</a:t>
            </a:r>
          </a:p>
        </p:txBody>
      </p:sp>
      <p:sp>
        <p:nvSpPr>
          <p:cNvPr id="9" name="Rectangle 8"/>
          <p:cNvSpPr/>
          <p:nvPr/>
        </p:nvSpPr>
        <p:spPr>
          <a:xfrm>
            <a:off x="8183879" y="1371600"/>
            <a:ext cx="3502152" cy="129844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183879" y="1371600"/>
            <a:ext cx="54864" cy="1298448"/>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39911" y="1536192"/>
            <a:ext cx="3063240" cy="457200"/>
          </a:xfrm>
          <a:prstGeom prst="rect">
            <a:avLst/>
          </a:prstGeom>
          <a:noFill/>
        </p:spPr>
        <p:txBody>
          <a:bodyPr wrap="square" lIns="0" rIns="0" tIns="0" bIns="0" anchor="t">
            <a:spAutoFit/>
          </a:bodyPr>
          <a:lstStyle/>
          <a:p>
            <a:pPr algn="l">
              <a:lnSpc>
                <a:spcPct val="115000"/>
              </a:lnSpc>
              <a:spcAft>
                <a:spcPts val="0"/>
              </a:spcAft>
            </a:pPr>
            <a:r>
              <a:rPr sz="2600" b="1">
                <a:solidFill>
                  <a:srgbClr val="59257B"/>
                </a:solidFill>
                <a:latin typeface="Open Sans"/>
              </a:rPr>
              <a:t>6,225</a:t>
            </a:r>
          </a:p>
        </p:txBody>
      </p:sp>
      <p:sp>
        <p:nvSpPr>
          <p:cNvPr id="12" name="TextBox 11"/>
          <p:cNvSpPr txBox="1"/>
          <p:nvPr/>
        </p:nvSpPr>
        <p:spPr>
          <a:xfrm>
            <a:off x="8439911" y="1975104"/>
            <a:ext cx="3063240" cy="256032"/>
          </a:xfrm>
          <a:prstGeom prst="rect">
            <a:avLst/>
          </a:prstGeom>
          <a:noFill/>
        </p:spPr>
        <p:txBody>
          <a:bodyPr wrap="square" lIns="0" rIns="0" tIns="0" bIns="0" anchor="t">
            <a:spAutoFit/>
          </a:bodyPr>
          <a:lstStyle/>
          <a:p>
            <a:pPr algn="l">
              <a:lnSpc>
                <a:spcPct val="115000"/>
              </a:lnSpc>
              <a:spcAft>
                <a:spcPts val="0"/>
              </a:spcAft>
            </a:pPr>
            <a:r>
              <a:rPr sz="1050" b="1">
                <a:solidFill>
                  <a:srgbClr val="59257B"/>
                </a:solidFill>
                <a:latin typeface="Open Sans"/>
              </a:rPr>
              <a:t>Ranking Keywords</a:t>
            </a:r>
          </a:p>
        </p:txBody>
      </p:sp>
      <p:sp>
        <p:nvSpPr>
          <p:cNvPr id="13" name="TextBox 12"/>
          <p:cNvSpPr txBox="1"/>
          <p:nvPr/>
        </p:nvSpPr>
        <p:spPr>
          <a:xfrm>
            <a:off x="8439911" y="2267712"/>
            <a:ext cx="3063240" cy="548640"/>
          </a:xfrm>
          <a:prstGeom prst="rect">
            <a:avLst/>
          </a:prstGeom>
          <a:noFill/>
        </p:spPr>
        <p:txBody>
          <a:bodyPr wrap="square" lIns="0" rIns="0" tIns="0" bIns="0" anchor="t">
            <a:spAutoFit/>
          </a:bodyPr>
          <a:lstStyle/>
          <a:p>
            <a:pPr algn="l">
              <a:lnSpc>
                <a:spcPct val="120000"/>
              </a:lnSpc>
              <a:spcAft>
                <a:spcPts val="0"/>
              </a:spcAft>
            </a:pPr>
            <a:r>
              <a:rPr sz="900" b="0">
                <a:solidFill>
                  <a:srgbClr val="595A5B"/>
                </a:solidFill>
                <a:latin typeface="Open Sans"/>
              </a:rPr>
              <a:t>Down from 6,908 in March — a smaller, more focused set earning far more traffic.</a:t>
            </a:r>
          </a:p>
        </p:txBody>
      </p:sp>
      <p:sp>
        <p:nvSpPr>
          <p:cNvPr id="14" name="Rectangle 13"/>
          <p:cNvSpPr/>
          <p:nvPr/>
        </p:nvSpPr>
        <p:spPr>
          <a:xfrm>
            <a:off x="8183879" y="2798064"/>
            <a:ext cx="3502152" cy="129844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83879" y="2798064"/>
            <a:ext cx="54864" cy="1298448"/>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39911" y="2962656"/>
            <a:ext cx="3063240" cy="457200"/>
          </a:xfrm>
          <a:prstGeom prst="rect">
            <a:avLst/>
          </a:prstGeom>
          <a:noFill/>
        </p:spPr>
        <p:txBody>
          <a:bodyPr wrap="square" lIns="0" rIns="0" tIns="0" bIns="0" anchor="t">
            <a:spAutoFit/>
          </a:bodyPr>
          <a:lstStyle/>
          <a:p>
            <a:pPr algn="l">
              <a:lnSpc>
                <a:spcPct val="115000"/>
              </a:lnSpc>
              <a:spcAft>
                <a:spcPts val="0"/>
              </a:spcAft>
            </a:pPr>
            <a:r>
              <a:rPr sz="2600" b="1">
                <a:solidFill>
                  <a:srgbClr val="7A9905"/>
                </a:solidFill>
                <a:latin typeface="Open Sans"/>
              </a:rPr>
              <a:t>1,095</a:t>
            </a:r>
          </a:p>
        </p:txBody>
      </p:sp>
      <p:sp>
        <p:nvSpPr>
          <p:cNvPr id="17" name="TextBox 16"/>
          <p:cNvSpPr txBox="1"/>
          <p:nvPr/>
        </p:nvSpPr>
        <p:spPr>
          <a:xfrm>
            <a:off x="8439911" y="3401568"/>
            <a:ext cx="3063240" cy="256032"/>
          </a:xfrm>
          <a:prstGeom prst="rect">
            <a:avLst/>
          </a:prstGeom>
          <a:noFill/>
        </p:spPr>
        <p:txBody>
          <a:bodyPr wrap="square" lIns="0" rIns="0" tIns="0" bIns="0" anchor="t">
            <a:spAutoFit/>
          </a:bodyPr>
          <a:lstStyle/>
          <a:p>
            <a:pPr algn="l">
              <a:lnSpc>
                <a:spcPct val="115000"/>
              </a:lnSpc>
              <a:spcAft>
                <a:spcPts val="0"/>
              </a:spcAft>
            </a:pPr>
            <a:r>
              <a:rPr sz="1050" b="1">
                <a:solidFill>
                  <a:srgbClr val="59257B"/>
                </a:solidFill>
                <a:latin typeface="Open Sans"/>
              </a:rPr>
              <a:t>Keywords in Positions 4–10</a:t>
            </a:r>
          </a:p>
        </p:txBody>
      </p:sp>
      <p:sp>
        <p:nvSpPr>
          <p:cNvPr id="18" name="TextBox 17"/>
          <p:cNvSpPr txBox="1"/>
          <p:nvPr/>
        </p:nvSpPr>
        <p:spPr>
          <a:xfrm>
            <a:off x="8439911" y="3694176"/>
            <a:ext cx="3063240" cy="548640"/>
          </a:xfrm>
          <a:prstGeom prst="rect">
            <a:avLst/>
          </a:prstGeom>
          <a:noFill/>
        </p:spPr>
        <p:txBody>
          <a:bodyPr wrap="square" lIns="0" rIns="0" tIns="0" bIns="0" anchor="t">
            <a:spAutoFit/>
          </a:bodyPr>
          <a:lstStyle/>
          <a:p>
            <a:pPr algn="l">
              <a:lnSpc>
                <a:spcPct val="120000"/>
              </a:lnSpc>
              <a:spcAft>
                <a:spcPts val="0"/>
              </a:spcAft>
            </a:pPr>
            <a:r>
              <a:rPr sz="900" b="0">
                <a:solidFill>
                  <a:srgbClr val="595A5B"/>
                </a:solidFill>
                <a:latin typeface="Open Sans"/>
              </a:rPr>
              <a:t>Up 12.7% in the quarter. The pipeline feeding future top-3 places.</a:t>
            </a:r>
          </a:p>
        </p:txBody>
      </p:sp>
      <p:sp>
        <p:nvSpPr>
          <p:cNvPr id="19" name="Rectangle 18"/>
          <p:cNvSpPr/>
          <p:nvPr/>
        </p:nvSpPr>
        <p:spPr>
          <a:xfrm>
            <a:off x="8183879" y="4224528"/>
            <a:ext cx="3502152" cy="129844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83879" y="4224528"/>
            <a:ext cx="54864" cy="1298448"/>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39911" y="4389120"/>
            <a:ext cx="3063240" cy="457200"/>
          </a:xfrm>
          <a:prstGeom prst="rect">
            <a:avLst/>
          </a:prstGeom>
          <a:noFill/>
        </p:spPr>
        <p:txBody>
          <a:bodyPr wrap="square" lIns="0" rIns="0" tIns="0" bIns="0" anchor="t">
            <a:spAutoFit/>
          </a:bodyPr>
          <a:lstStyle/>
          <a:p>
            <a:pPr algn="l">
              <a:lnSpc>
                <a:spcPct val="115000"/>
              </a:lnSpc>
              <a:spcAft>
                <a:spcPts val="0"/>
              </a:spcAft>
            </a:pPr>
            <a:r>
              <a:rPr sz="2600" b="1">
                <a:solidFill>
                  <a:srgbClr val="7A9905"/>
                </a:solidFill>
                <a:latin typeface="Open Sans"/>
              </a:rPr>
              <a:t>88,764</a:t>
            </a:r>
          </a:p>
        </p:txBody>
      </p:sp>
      <p:sp>
        <p:nvSpPr>
          <p:cNvPr id="22" name="TextBox 21"/>
          <p:cNvSpPr txBox="1"/>
          <p:nvPr/>
        </p:nvSpPr>
        <p:spPr>
          <a:xfrm>
            <a:off x="8439911" y="4828031"/>
            <a:ext cx="3063240" cy="256032"/>
          </a:xfrm>
          <a:prstGeom prst="rect">
            <a:avLst/>
          </a:prstGeom>
          <a:noFill/>
        </p:spPr>
        <p:txBody>
          <a:bodyPr wrap="square" lIns="0" rIns="0" tIns="0" bIns="0" anchor="t">
            <a:spAutoFit/>
          </a:bodyPr>
          <a:lstStyle/>
          <a:p>
            <a:pPr algn="l">
              <a:lnSpc>
                <a:spcPct val="115000"/>
              </a:lnSpc>
              <a:spcAft>
                <a:spcPts val="0"/>
              </a:spcAft>
            </a:pPr>
            <a:r>
              <a:rPr sz="1050" b="1">
                <a:solidFill>
                  <a:srgbClr val="59257B"/>
                </a:solidFill>
                <a:latin typeface="Open Sans"/>
              </a:rPr>
              <a:t>Semrush Rank</a:t>
            </a:r>
          </a:p>
        </p:txBody>
      </p:sp>
      <p:sp>
        <p:nvSpPr>
          <p:cNvPr id="23" name="TextBox 22"/>
          <p:cNvSpPr txBox="1"/>
          <p:nvPr/>
        </p:nvSpPr>
        <p:spPr>
          <a:xfrm>
            <a:off x="8439911" y="5120640"/>
            <a:ext cx="3063240" cy="548640"/>
          </a:xfrm>
          <a:prstGeom prst="rect">
            <a:avLst/>
          </a:prstGeom>
          <a:noFill/>
        </p:spPr>
        <p:txBody>
          <a:bodyPr wrap="square" lIns="0" rIns="0" tIns="0" bIns="0" anchor="t">
            <a:spAutoFit/>
          </a:bodyPr>
          <a:lstStyle/>
          <a:p>
            <a:pPr algn="l">
              <a:lnSpc>
                <a:spcPct val="120000"/>
              </a:lnSpc>
              <a:spcAft>
                <a:spcPts val="0"/>
              </a:spcAft>
            </a:pPr>
            <a:r>
              <a:rPr sz="900" b="0">
                <a:solidFill>
                  <a:srgbClr val="595A5B"/>
                </a:solidFill>
                <a:latin typeface="Open Sans"/>
              </a:rPr>
              <a:t>Improved by 26,150 places across Q2 (lower is better).</a:t>
            </a:r>
          </a:p>
        </p:txBody>
      </p:sp>
      <p:sp>
        <p:nvSpPr>
          <p:cNvPr id="24" name="TextBox 23"/>
          <p:cNvSpPr txBox="1"/>
          <p:nvPr/>
        </p:nvSpPr>
        <p:spPr>
          <a:xfrm>
            <a:off x="502920" y="6528816"/>
            <a:ext cx="6400800" cy="228600"/>
          </a:xfrm>
          <a:prstGeom prst="rect">
            <a:avLst/>
          </a:prstGeom>
          <a:noFill/>
        </p:spPr>
        <p:txBody>
          <a:bodyPr wrap="square" lIns="0" rIns="0" tIns="0" bIns="0" anchor="t">
            <a:spAutoFit/>
          </a:bodyPr>
          <a:lstStyle/>
          <a:p>
            <a:pPr algn="l">
              <a:lnSpc>
                <a:spcPct val="115000"/>
              </a:lnSpc>
              <a:spcAft>
                <a:spcPts val="0"/>
              </a:spcAft>
            </a:pPr>
            <a:r>
              <a:rPr sz="900" b="0">
                <a:solidFill>
                  <a:srgbClr val="8A8A8D"/>
                </a:solidFill>
                <a:latin typeface="Open Sans"/>
              </a:rPr>
              <a:t>Komprise GEO / SEO  —  Q2 2026 Board Update</a:t>
            </a:r>
          </a:p>
        </p:txBody>
      </p:sp>
      <p:sp>
        <p:nvSpPr>
          <p:cNvPr id="25" name="TextBox 24"/>
          <p:cNvSpPr txBox="1"/>
          <p:nvPr/>
        </p:nvSpPr>
        <p:spPr>
          <a:xfrm>
            <a:off x="10881360" y="6528816"/>
            <a:ext cx="822960" cy="228600"/>
          </a:xfrm>
          <a:prstGeom prst="rect">
            <a:avLst/>
          </a:prstGeom>
          <a:noFill/>
        </p:spPr>
        <p:txBody>
          <a:bodyPr wrap="square" lIns="0" rIns="0" tIns="0" bIns="0" anchor="t">
            <a:spAutoFit/>
          </a:bodyPr>
          <a:lstStyle/>
          <a:p>
            <a:pPr algn="r">
              <a:lnSpc>
                <a:spcPct val="115000"/>
              </a:lnSpc>
              <a:spcAft>
                <a:spcPts val="0"/>
              </a:spcAft>
            </a:pPr>
            <a:r>
              <a:rPr sz="900" b="0">
                <a:solidFill>
                  <a:srgbClr val="8A8A8D"/>
                </a:solidFill>
                <a:latin typeface="Open San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74320"/>
            <a:ext cx="9692640" cy="548640"/>
          </a:xfrm>
          <a:prstGeom prst="rect">
            <a:avLst/>
          </a:prstGeom>
          <a:noFill/>
        </p:spPr>
        <p:txBody>
          <a:bodyPr wrap="square" lIns="0" rIns="0" tIns="0" bIns="0" anchor="t">
            <a:spAutoFit/>
          </a:bodyPr>
          <a:lstStyle/>
          <a:p>
            <a:pPr algn="l">
              <a:lnSpc>
                <a:spcPct val="115000"/>
              </a:lnSpc>
              <a:spcAft>
                <a:spcPts val="0"/>
              </a:spcAft>
            </a:pPr>
            <a:r>
              <a:rPr sz="2500" b="1">
                <a:solidFill>
                  <a:srgbClr val="59257B"/>
                </a:solidFill>
                <a:latin typeface="Open Sans"/>
              </a:rPr>
              <a:t>Showing Up Inside AI Answers</a:t>
            </a:r>
          </a:p>
        </p:txBody>
      </p:sp>
      <p:sp>
        <p:nvSpPr>
          <p:cNvPr id="6" name="TextBox 5"/>
          <p:cNvSpPr txBox="1"/>
          <p:nvPr/>
        </p:nvSpPr>
        <p:spPr>
          <a:xfrm>
            <a:off x="502920" y="804672"/>
            <a:ext cx="10241280" cy="292608"/>
          </a:xfrm>
          <a:prstGeom prst="rect">
            <a:avLst/>
          </a:prstGeom>
          <a:noFill/>
        </p:spPr>
        <p:txBody>
          <a:bodyPr wrap="square" lIns="0" rIns="0" tIns="0" bIns="0" anchor="t">
            <a:spAutoFit/>
          </a:bodyPr>
          <a:lstStyle/>
          <a:p>
            <a:pPr algn="l">
              <a:lnSpc>
                <a:spcPct val="115000"/>
              </a:lnSpc>
              <a:spcAft>
                <a:spcPts val="0"/>
              </a:spcAft>
            </a:pPr>
            <a:r>
              <a:rPr sz="1250" b="0">
                <a:solidFill>
                  <a:srgbClr val="595A5B"/>
                </a:solidFill>
                <a:latin typeface="Open Sans"/>
              </a:rPr>
              <a:t>Keywords where komprise.com is pulled into a Google AI Overview or a People Also Ask box</a:t>
            </a:r>
          </a:p>
        </p:txBody>
      </p:sp>
      <p:graphicFrame>
        <p:nvGraphicFramePr>
          <p:cNvPr id="7" name="Chart 6"/>
          <p:cNvGraphicFramePr>
            <a:graphicFrameLocks noGrp="1"/>
          </p:cNvGraphicFramePr>
          <p:nvPr/>
        </p:nvGraphicFramePr>
        <p:xfrm>
          <a:off x="502920" y="1371600"/>
          <a:ext cx="7040880" cy="3840480"/>
        </p:xfrm>
        <a:graphic>
          <a:graphicData uri="http://schemas.openxmlformats.org/drawingml/2006/chart">
            <c:chart xmlns:c="http://schemas.openxmlformats.org/drawingml/2006/chart" r:id="rId3"/>
          </a:graphicData>
        </a:graphic>
      </p:graphicFrame>
      <p:sp>
        <p:nvSpPr>
          <p:cNvPr id="8" name="Rectangle 7"/>
          <p:cNvSpPr/>
          <p:nvPr/>
        </p:nvSpPr>
        <p:spPr>
          <a:xfrm>
            <a:off x="7863840" y="1371600"/>
            <a:ext cx="3822191" cy="1874519"/>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63840" y="1371600"/>
            <a:ext cx="54864" cy="1874519"/>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01583" y="1572768"/>
            <a:ext cx="3429000" cy="1554480"/>
          </a:xfrm>
          <a:prstGeom prst="rect">
            <a:avLst/>
          </a:prstGeom>
          <a:noFill/>
        </p:spPr>
        <p:txBody>
          <a:bodyPr wrap="square" lIns="0" rIns="0" tIns="0" bIns="0" anchor="t">
            <a:spAutoFit/>
          </a:bodyPr>
          <a:lstStyle/>
          <a:p>
            <a:pPr algn="l">
              <a:lnSpc>
                <a:spcPct val="115000"/>
              </a:lnSpc>
              <a:spcAft>
                <a:spcPts val="600"/>
              </a:spcAft>
            </a:pPr>
            <a:r>
              <a:rPr sz="1200" b="1">
                <a:solidFill>
                  <a:srgbClr val="59257B"/>
                </a:solidFill>
                <a:latin typeface="Open Sans"/>
              </a:rPr>
              <a:t>Read this honestly</a:t>
            </a:r>
          </a:p>
          <a:p>
            <a:pPr algn="l">
              <a:lnSpc>
                <a:spcPct val="125000"/>
              </a:lnSpc>
              <a:spcAft>
                <a:spcPts val="0"/>
              </a:spcAft>
            </a:pPr>
            <a:r>
              <a:rPr sz="1100" b="0">
                <a:solidFill>
                  <a:srgbClr val="595A5B"/>
                </a:solidFill>
                <a:latin typeface="Open Sans"/>
              </a:rPr>
              <a:t>AI Overview presence grew steadily through Q2 (+7%), but at 5,449 it has not yet recovered the 5,522 we held in March. Q2 was a recovery-and-rebuild quarter, not a straight line up.</a:t>
            </a:r>
          </a:p>
        </p:txBody>
      </p:sp>
      <p:sp>
        <p:nvSpPr>
          <p:cNvPr id="11" name="Rectangle 10"/>
          <p:cNvSpPr/>
          <p:nvPr/>
        </p:nvSpPr>
        <p:spPr>
          <a:xfrm>
            <a:off x="7863840" y="3383280"/>
            <a:ext cx="3822191" cy="214884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63840" y="3383280"/>
            <a:ext cx="54864" cy="214884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01583" y="3584448"/>
            <a:ext cx="3429000" cy="1828800"/>
          </a:xfrm>
          <a:prstGeom prst="rect">
            <a:avLst/>
          </a:prstGeom>
          <a:noFill/>
        </p:spPr>
        <p:txBody>
          <a:bodyPr wrap="square" lIns="0" rIns="0" tIns="0" bIns="0" anchor="t">
            <a:spAutoFit/>
          </a:bodyPr>
          <a:lstStyle/>
          <a:p>
            <a:pPr algn="l">
              <a:lnSpc>
                <a:spcPct val="115000"/>
              </a:lnSpc>
              <a:spcAft>
                <a:spcPts val="600"/>
              </a:spcAft>
            </a:pPr>
            <a:r>
              <a:rPr sz="1200" b="1">
                <a:solidFill>
                  <a:srgbClr val="59257B"/>
                </a:solidFill>
                <a:latin typeface="Open Sans"/>
              </a:rPr>
              <a:t>The standout move</a:t>
            </a:r>
          </a:p>
          <a:p>
            <a:pPr algn="l">
              <a:lnSpc>
                <a:spcPct val="125000"/>
              </a:lnSpc>
              <a:spcAft>
                <a:spcPts val="0"/>
              </a:spcAft>
            </a:pPr>
            <a:r>
              <a:rPr sz="1100" b="0">
                <a:solidFill>
                  <a:srgbClr val="595A5B"/>
                </a:solidFill>
                <a:latin typeface="Open Sans"/>
              </a:rPr>
              <a:t>People Also Ask presence tripled — 1,933 to 5,783 keywords. That is the direct, measurable payoff from restructuring pages into question-and-answer form, which is exactly the format AI engines lift from.</a:t>
            </a:r>
          </a:p>
        </p:txBody>
      </p:sp>
      <p:sp>
        <p:nvSpPr>
          <p:cNvPr id="14" name="Rectangle 13"/>
          <p:cNvSpPr/>
          <p:nvPr/>
        </p:nvSpPr>
        <p:spPr>
          <a:xfrm>
            <a:off x="502920" y="5669280"/>
            <a:ext cx="11183112" cy="566928"/>
          </a:xfrm>
          <a:prstGeom prst="rect">
            <a:avLst/>
          </a:prstGeom>
          <a:solidFill>
            <a:srgbClr val="E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5669280"/>
            <a:ext cx="54864" cy="566928"/>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5797296"/>
            <a:ext cx="10789920" cy="384048"/>
          </a:xfrm>
          <a:prstGeom prst="rect">
            <a:avLst/>
          </a:prstGeom>
          <a:noFill/>
        </p:spPr>
        <p:txBody>
          <a:bodyPr wrap="square" lIns="0" rIns="0" tIns="0" bIns="0" anchor="t">
            <a:spAutoFit/>
          </a:bodyPr>
          <a:lstStyle/>
          <a:p>
            <a:pPr algn="l">
              <a:lnSpc>
                <a:spcPct val="120000"/>
              </a:lnSpc>
              <a:spcAft>
                <a:spcPts val="0"/>
              </a:spcAft>
            </a:pPr>
            <a:r>
              <a:rPr sz="1200" b="1">
                <a:solidFill>
                  <a:srgbClr val="59257B"/>
                </a:solidFill>
                <a:latin typeface="Open Sans"/>
              </a:rPr>
              <a:t>In plain terms: when someone asks Google a question in our category, there is now a very good chance our answer is part of what they read — even if they never click through to komprise.com.</a:t>
            </a:r>
          </a:p>
        </p:txBody>
      </p:sp>
      <p:sp>
        <p:nvSpPr>
          <p:cNvPr id="17" name="TextBox 16"/>
          <p:cNvSpPr txBox="1"/>
          <p:nvPr/>
        </p:nvSpPr>
        <p:spPr>
          <a:xfrm>
            <a:off x="502920" y="6528816"/>
            <a:ext cx="6400800" cy="228600"/>
          </a:xfrm>
          <a:prstGeom prst="rect">
            <a:avLst/>
          </a:prstGeom>
          <a:noFill/>
        </p:spPr>
        <p:txBody>
          <a:bodyPr wrap="square" lIns="0" rIns="0" tIns="0" bIns="0" anchor="t">
            <a:spAutoFit/>
          </a:bodyPr>
          <a:lstStyle/>
          <a:p>
            <a:pPr algn="l">
              <a:lnSpc>
                <a:spcPct val="115000"/>
              </a:lnSpc>
              <a:spcAft>
                <a:spcPts val="0"/>
              </a:spcAft>
            </a:pPr>
            <a:r>
              <a:rPr sz="900" b="0">
                <a:solidFill>
                  <a:srgbClr val="8A8A8D"/>
                </a:solidFill>
                <a:latin typeface="Open Sans"/>
              </a:rPr>
              <a:t>Komprise GEO / SEO  —  Q2 2026 Board Update</a:t>
            </a:r>
          </a:p>
        </p:txBody>
      </p:sp>
      <p:sp>
        <p:nvSpPr>
          <p:cNvPr id="18" name="TextBox 17"/>
          <p:cNvSpPr txBox="1"/>
          <p:nvPr/>
        </p:nvSpPr>
        <p:spPr>
          <a:xfrm>
            <a:off x="10881360" y="6528816"/>
            <a:ext cx="822960" cy="228600"/>
          </a:xfrm>
          <a:prstGeom prst="rect">
            <a:avLst/>
          </a:prstGeom>
          <a:noFill/>
        </p:spPr>
        <p:txBody>
          <a:bodyPr wrap="square" lIns="0" rIns="0" tIns="0" bIns="0" anchor="t">
            <a:spAutoFit/>
          </a:bodyPr>
          <a:lstStyle/>
          <a:p>
            <a:pPr algn="r">
              <a:lnSpc>
                <a:spcPct val="115000"/>
              </a:lnSpc>
              <a:spcAft>
                <a:spcPts val="0"/>
              </a:spcAft>
            </a:pPr>
            <a:r>
              <a:rPr sz="900" b="0">
                <a:solidFill>
                  <a:srgbClr val="8A8A8D"/>
                </a:solidFill>
                <a:latin typeface="Open San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74320"/>
            <a:ext cx="9692640" cy="548640"/>
          </a:xfrm>
          <a:prstGeom prst="rect">
            <a:avLst/>
          </a:prstGeom>
          <a:noFill/>
        </p:spPr>
        <p:txBody>
          <a:bodyPr wrap="square" lIns="0" rIns="0" tIns="0" bIns="0" anchor="t">
            <a:spAutoFit/>
          </a:bodyPr>
          <a:lstStyle/>
          <a:p>
            <a:pPr algn="l">
              <a:lnSpc>
                <a:spcPct val="115000"/>
              </a:lnSpc>
              <a:spcAft>
                <a:spcPts val="0"/>
              </a:spcAft>
            </a:pPr>
            <a:r>
              <a:rPr sz="2500" b="1">
                <a:solidFill>
                  <a:srgbClr val="59257B"/>
                </a:solidFill>
                <a:latin typeface="Open Sans"/>
              </a:rPr>
              <a:t>How We Compare</a:t>
            </a:r>
          </a:p>
        </p:txBody>
      </p:sp>
      <p:sp>
        <p:nvSpPr>
          <p:cNvPr id="6" name="TextBox 5"/>
          <p:cNvSpPr txBox="1"/>
          <p:nvPr/>
        </p:nvSpPr>
        <p:spPr>
          <a:xfrm>
            <a:off x="502920" y="804672"/>
            <a:ext cx="10241280" cy="292608"/>
          </a:xfrm>
          <a:prstGeom prst="rect">
            <a:avLst/>
          </a:prstGeom>
          <a:noFill/>
        </p:spPr>
        <p:txBody>
          <a:bodyPr wrap="square" lIns="0" rIns="0" tIns="0" bIns="0" anchor="t">
            <a:spAutoFit/>
          </a:bodyPr>
          <a:lstStyle/>
          <a:p>
            <a:pPr algn="l">
              <a:lnSpc>
                <a:spcPct val="115000"/>
              </a:lnSpc>
              <a:spcAft>
                <a:spcPts val="0"/>
              </a:spcAft>
            </a:pPr>
            <a:r>
              <a:rPr sz="1250" b="0">
                <a:solidFill>
                  <a:srgbClr val="595A5B"/>
                </a:solidFill>
                <a:latin typeface="Open Sans"/>
              </a:rPr>
              <a:t>Keywords appearing in Google AI Overviews, 15 June 2026 — Semrush, US database</a:t>
            </a:r>
          </a:p>
        </p:txBody>
      </p:sp>
      <p:graphicFrame>
        <p:nvGraphicFramePr>
          <p:cNvPr id="7" name="Chart 6"/>
          <p:cNvGraphicFramePr>
            <a:graphicFrameLocks noGrp="1"/>
          </p:cNvGraphicFramePr>
          <p:nvPr/>
        </p:nvGraphicFramePr>
        <p:xfrm>
          <a:off x="502920" y="1389888"/>
          <a:ext cx="6903720" cy="4160520"/>
        </p:xfrm>
        <a:graphic>
          <a:graphicData uri="http://schemas.openxmlformats.org/drawingml/2006/chart">
            <c:chart xmlns:c="http://schemas.openxmlformats.org/drawingml/2006/chart" r:id="rId3"/>
          </a:graphicData>
        </a:graphic>
      </p:graphicFrame>
      <p:sp>
        <p:nvSpPr>
          <p:cNvPr id="8" name="TextBox 7"/>
          <p:cNvSpPr txBox="1"/>
          <p:nvPr/>
        </p:nvSpPr>
        <p:spPr>
          <a:xfrm>
            <a:off x="502920" y="5705856"/>
            <a:ext cx="6903720" cy="548640"/>
          </a:xfrm>
          <a:prstGeom prst="rect">
            <a:avLst/>
          </a:prstGeom>
          <a:noFill/>
        </p:spPr>
        <p:txBody>
          <a:bodyPr wrap="square" lIns="0" rIns="0" tIns="0" bIns="0" anchor="t">
            <a:spAutoFit/>
          </a:bodyPr>
          <a:lstStyle/>
          <a:p>
            <a:pPr algn="l">
              <a:lnSpc>
                <a:spcPct val="120000"/>
              </a:lnSpc>
              <a:spcAft>
                <a:spcPts val="0"/>
              </a:spcAft>
            </a:pPr>
            <a:r>
              <a:rPr sz="1000" b="0">
                <a:solidFill>
                  <a:srgbClr val="8A8A8D"/>
                </a:solidFill>
                <a:latin typeface="Open Sans"/>
              </a:rPr>
              <a:t>Everpure is Pure Storage, relaunched under a new name in Q2 together with its 1touch acquisition. It had no measurable organic presence in this database before May 2026.</a:t>
            </a:r>
          </a:p>
        </p:txBody>
      </p:sp>
      <p:sp>
        <p:nvSpPr>
          <p:cNvPr id="9" name="Rectangle 8"/>
          <p:cNvSpPr/>
          <p:nvPr/>
        </p:nvSpPr>
        <p:spPr>
          <a:xfrm>
            <a:off x="7726679" y="1389888"/>
            <a:ext cx="3959352" cy="214884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26679" y="1389888"/>
            <a:ext cx="54864" cy="214884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64424" y="1591056"/>
            <a:ext cx="3566160" cy="1828800"/>
          </a:xfrm>
          <a:prstGeom prst="rect">
            <a:avLst/>
          </a:prstGeom>
          <a:noFill/>
        </p:spPr>
        <p:txBody>
          <a:bodyPr wrap="square" lIns="0" rIns="0" tIns="0" bIns="0" anchor="t">
            <a:spAutoFit/>
          </a:bodyPr>
          <a:lstStyle/>
          <a:p>
            <a:pPr algn="l">
              <a:lnSpc>
                <a:spcPct val="115000"/>
              </a:lnSpc>
              <a:spcAft>
                <a:spcPts val="600"/>
              </a:spcAft>
            </a:pPr>
            <a:r>
              <a:rPr sz="1200" b="1">
                <a:solidFill>
                  <a:srgbClr val="59257B"/>
                </a:solidFill>
                <a:latin typeface="Open Sans"/>
              </a:rPr>
              <a:t>Against the field we set out to beat</a:t>
            </a:r>
          </a:p>
          <a:p>
            <a:pPr algn="l">
              <a:lnSpc>
                <a:spcPct val="125000"/>
              </a:lnSpc>
              <a:spcAft>
                <a:spcPts val="0"/>
              </a:spcAft>
            </a:pPr>
            <a:r>
              <a:rPr sz="1100" b="0">
                <a:solidFill>
                  <a:srgbClr val="595A5B"/>
                </a:solidFill>
                <a:latin typeface="Open Sans"/>
              </a:rPr>
              <a:t>Komprise out-reaches every competitor named in our GEO strategy: 14× Hammerspace, 28× Atempo, 109× Datadobi and 127× Diskover. The content investment of the last year is visible here.</a:t>
            </a:r>
          </a:p>
        </p:txBody>
      </p:sp>
      <p:sp>
        <p:nvSpPr>
          <p:cNvPr id="12" name="Rectangle 11"/>
          <p:cNvSpPr/>
          <p:nvPr/>
        </p:nvSpPr>
        <p:spPr>
          <a:xfrm>
            <a:off x="7726679" y="3675887"/>
            <a:ext cx="3959352" cy="205740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26679" y="3675887"/>
            <a:ext cx="54864" cy="2057400"/>
          </a:xfrm>
          <a:prstGeom prst="rect">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64424" y="3877056"/>
            <a:ext cx="3566160" cy="1737360"/>
          </a:xfrm>
          <a:prstGeom prst="rect">
            <a:avLst/>
          </a:prstGeom>
          <a:noFill/>
        </p:spPr>
        <p:txBody>
          <a:bodyPr wrap="square" lIns="0" rIns="0" tIns="0" bIns="0" anchor="t">
            <a:spAutoFit/>
          </a:bodyPr>
          <a:lstStyle/>
          <a:p>
            <a:pPr algn="l">
              <a:lnSpc>
                <a:spcPct val="115000"/>
              </a:lnSpc>
              <a:spcAft>
                <a:spcPts val="600"/>
              </a:spcAft>
            </a:pPr>
            <a:r>
              <a:rPr sz="1200" b="1">
                <a:solidFill>
                  <a:srgbClr val="C88A1E"/>
                </a:solidFill>
                <a:latin typeface="Open Sans"/>
              </a:rPr>
              <a:t>The new entrant</a:t>
            </a:r>
          </a:p>
          <a:p>
            <a:pPr algn="l">
              <a:lnSpc>
                <a:spcPct val="125000"/>
              </a:lnSpc>
              <a:spcAft>
                <a:spcPts val="0"/>
              </a:spcAft>
            </a:pPr>
            <a:r>
              <a:rPr sz="1100" b="0">
                <a:solidFill>
                  <a:srgbClr val="595A5B"/>
                </a:solidFill>
                <a:latin typeface="Open Sans"/>
              </a:rPr>
              <a:t>Everpure is Pure Storage rebranded, plus the 1touch acquisition. It is a far larger company than the specialists we have been benchmarking against — see next slide.</a:t>
            </a:r>
          </a:p>
        </p:txBody>
      </p:sp>
      <p:sp>
        <p:nvSpPr>
          <p:cNvPr id="15" name="TextBox 14"/>
          <p:cNvSpPr txBox="1"/>
          <p:nvPr/>
        </p:nvSpPr>
        <p:spPr>
          <a:xfrm>
            <a:off x="502920" y="6528816"/>
            <a:ext cx="6400800" cy="228600"/>
          </a:xfrm>
          <a:prstGeom prst="rect">
            <a:avLst/>
          </a:prstGeom>
          <a:noFill/>
        </p:spPr>
        <p:txBody>
          <a:bodyPr wrap="square" lIns="0" rIns="0" tIns="0" bIns="0" anchor="t">
            <a:spAutoFit/>
          </a:bodyPr>
          <a:lstStyle/>
          <a:p>
            <a:pPr algn="l">
              <a:lnSpc>
                <a:spcPct val="115000"/>
              </a:lnSpc>
              <a:spcAft>
                <a:spcPts val="0"/>
              </a:spcAft>
            </a:pPr>
            <a:r>
              <a:rPr sz="900" b="0">
                <a:solidFill>
                  <a:srgbClr val="8A8A8D"/>
                </a:solidFill>
                <a:latin typeface="Open Sans"/>
              </a:rPr>
              <a:t>Komprise GEO / SEO  —  Q2 2026 Board Update</a:t>
            </a:r>
          </a:p>
        </p:txBody>
      </p:sp>
      <p:sp>
        <p:nvSpPr>
          <p:cNvPr id="16" name="TextBox 15"/>
          <p:cNvSpPr txBox="1"/>
          <p:nvPr/>
        </p:nvSpPr>
        <p:spPr>
          <a:xfrm>
            <a:off x="10881360" y="6528816"/>
            <a:ext cx="822960" cy="228600"/>
          </a:xfrm>
          <a:prstGeom prst="rect">
            <a:avLst/>
          </a:prstGeom>
          <a:noFill/>
        </p:spPr>
        <p:txBody>
          <a:bodyPr wrap="square" lIns="0" rIns="0" tIns="0" bIns="0" anchor="t">
            <a:spAutoFit/>
          </a:bodyPr>
          <a:lstStyle/>
          <a:p>
            <a:pPr algn="r">
              <a:lnSpc>
                <a:spcPct val="115000"/>
              </a:lnSpc>
              <a:spcAft>
                <a:spcPts val="0"/>
              </a:spcAft>
            </a:pPr>
            <a:r>
              <a:rPr sz="900" b="0">
                <a:solidFill>
                  <a:srgbClr val="8A8A8D"/>
                </a:solidFill>
                <a:latin typeface="Open San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37744"/>
            <a:ext cx="9144000" cy="256032"/>
          </a:xfrm>
          <a:prstGeom prst="rect">
            <a:avLst/>
          </a:prstGeom>
          <a:noFill/>
        </p:spPr>
        <p:txBody>
          <a:bodyPr wrap="square" lIns="0" rIns="0" tIns="0" bIns="0" anchor="t">
            <a:spAutoFit/>
          </a:bodyPr>
          <a:lstStyle/>
          <a:p>
            <a:pPr algn="l">
              <a:lnSpc>
                <a:spcPct val="115000"/>
              </a:lnSpc>
              <a:spcAft>
                <a:spcPts val="0"/>
              </a:spcAft>
            </a:pPr>
            <a:r>
              <a:rPr sz="1050" b="1">
                <a:solidFill>
                  <a:srgbClr val="59257B"/>
                </a:solidFill>
                <a:latin typeface="Open Sans"/>
              </a:rPr>
              <a:t>LANE 1  ·  STORAGE PRICE HIKES</a:t>
            </a:r>
          </a:p>
        </p:txBody>
      </p:sp>
      <p:sp>
        <p:nvSpPr>
          <p:cNvPr id="6" name="TextBox 5"/>
          <p:cNvSpPr txBox="1"/>
          <p:nvPr/>
        </p:nvSpPr>
        <p:spPr>
          <a:xfrm>
            <a:off x="502920" y="512064"/>
            <a:ext cx="9692640" cy="457200"/>
          </a:xfrm>
          <a:prstGeom prst="rect">
            <a:avLst/>
          </a:prstGeom>
          <a:noFill/>
        </p:spPr>
        <p:txBody>
          <a:bodyPr wrap="square" lIns="0" rIns="0" tIns="0" bIns="0" anchor="t">
            <a:spAutoFit/>
          </a:bodyPr>
          <a:lstStyle/>
          <a:p>
            <a:pPr algn="l">
              <a:lnSpc>
                <a:spcPct val="115000"/>
              </a:lnSpc>
              <a:spcAft>
                <a:spcPts val="0"/>
              </a:spcAft>
            </a:pPr>
            <a:r>
              <a:rPr sz="2400" b="1">
                <a:solidFill>
                  <a:srgbClr val="262428"/>
                </a:solidFill>
                <a:latin typeface="Open Sans"/>
              </a:rPr>
              <a:t>The Everpure Shift</a:t>
            </a:r>
          </a:p>
        </p:txBody>
      </p:sp>
      <p:sp>
        <p:nvSpPr>
          <p:cNvPr id="7" name="TextBox 6"/>
          <p:cNvSpPr txBox="1"/>
          <p:nvPr/>
        </p:nvSpPr>
        <p:spPr>
          <a:xfrm>
            <a:off x="502920" y="987552"/>
            <a:ext cx="10241280" cy="292608"/>
          </a:xfrm>
          <a:prstGeom prst="rect">
            <a:avLst/>
          </a:prstGeom>
          <a:noFill/>
        </p:spPr>
        <p:txBody>
          <a:bodyPr wrap="square" lIns="0" rIns="0" tIns="0" bIns="0" anchor="t">
            <a:spAutoFit/>
          </a:bodyPr>
          <a:lstStyle/>
          <a:p>
            <a:pPr algn="l">
              <a:lnSpc>
                <a:spcPct val="115000"/>
              </a:lnSpc>
              <a:spcAft>
                <a:spcPts val="0"/>
              </a:spcAft>
            </a:pPr>
            <a:r>
              <a:rPr sz="1250" b="0">
                <a:solidFill>
                  <a:srgbClr val="595A5B"/>
                </a:solidFill>
                <a:latin typeface="Open Sans"/>
              </a:rPr>
              <a:t>The single biggest competitive change of Q2 — and it lands squarely on the storage-cost lane</a:t>
            </a:r>
          </a:p>
        </p:txBody>
      </p:sp>
      <p:graphicFrame>
        <p:nvGraphicFramePr>
          <p:cNvPr id="8" name="Chart 7"/>
          <p:cNvGraphicFramePr>
            <a:graphicFrameLocks noGrp="1"/>
          </p:cNvGraphicFramePr>
          <p:nvPr/>
        </p:nvGraphicFramePr>
        <p:xfrm>
          <a:off x="502920" y="1572768"/>
          <a:ext cx="6675120" cy="3840480"/>
        </p:xfrm>
        <a:graphic>
          <a:graphicData uri="http://schemas.openxmlformats.org/drawingml/2006/chart">
            <c:chart xmlns:c="http://schemas.openxmlformats.org/drawingml/2006/chart" r:id="rId3"/>
          </a:graphicData>
        </a:graphic>
      </p:graphicFrame>
      <p:sp>
        <p:nvSpPr>
          <p:cNvPr id="9" name="TextBox 8"/>
          <p:cNvSpPr txBox="1"/>
          <p:nvPr/>
        </p:nvSpPr>
        <p:spPr>
          <a:xfrm>
            <a:off x="502920" y="5532120"/>
            <a:ext cx="6675120" cy="411480"/>
          </a:xfrm>
          <a:prstGeom prst="rect">
            <a:avLst/>
          </a:prstGeom>
          <a:noFill/>
        </p:spPr>
        <p:txBody>
          <a:bodyPr wrap="square" lIns="0" rIns="0" tIns="0" bIns="0" anchor="t">
            <a:spAutoFit/>
          </a:bodyPr>
          <a:lstStyle/>
          <a:p>
            <a:pPr algn="l">
              <a:lnSpc>
                <a:spcPct val="120000"/>
              </a:lnSpc>
              <a:spcAft>
                <a:spcPts val="0"/>
              </a:spcAft>
            </a:pPr>
            <a:r>
              <a:rPr sz="1000" b="0">
                <a:solidFill>
                  <a:srgbClr val="8A8A8D"/>
                </a:solidFill>
                <a:latin typeface="Open Sans"/>
              </a:rPr>
              <a:t>Keywords in Google AI Overviews. Everpure shows zero through 15 April because the domain had no measurable organic presence in Semrush's US database before the rebrand.</a:t>
            </a:r>
          </a:p>
        </p:txBody>
      </p:sp>
      <p:sp>
        <p:nvSpPr>
          <p:cNvPr id="10" name="Rectangle 9"/>
          <p:cNvSpPr/>
          <p:nvPr/>
        </p:nvSpPr>
        <p:spPr>
          <a:xfrm>
            <a:off x="7498079" y="1572768"/>
            <a:ext cx="4187952" cy="420624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98079" y="1572768"/>
            <a:ext cx="54864" cy="4206240"/>
          </a:xfrm>
          <a:prstGeom prst="rect">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54112" y="1810512"/>
            <a:ext cx="3749039" cy="3794760"/>
          </a:xfrm>
          <a:prstGeom prst="rect">
            <a:avLst/>
          </a:prstGeom>
          <a:noFill/>
        </p:spPr>
        <p:txBody>
          <a:bodyPr wrap="square" lIns="0" rIns="0" tIns="0" bIns="0" anchor="t">
            <a:spAutoFit/>
          </a:bodyPr>
          <a:lstStyle/>
          <a:p>
            <a:pPr algn="l">
              <a:lnSpc>
                <a:spcPct val="115000"/>
              </a:lnSpc>
              <a:spcAft>
                <a:spcPts val="700"/>
              </a:spcAft>
            </a:pPr>
            <a:r>
              <a:rPr sz="1250" b="1">
                <a:solidFill>
                  <a:srgbClr val="59257B"/>
                </a:solidFill>
                <a:latin typeface="Open Sans"/>
              </a:rPr>
              <a:t>What happened</a:t>
            </a:r>
          </a:p>
          <a:p>
            <a:pPr algn="l">
              <a:lnSpc>
                <a:spcPct val="125000"/>
              </a:lnSpc>
              <a:spcAft>
                <a:spcPts val="900"/>
              </a:spcAft>
            </a:pPr>
            <a:r>
              <a:rPr sz="1100" b="0">
                <a:solidFill>
                  <a:srgbClr val="595A5B"/>
                </a:solidFill>
                <a:latin typeface="Open Sans"/>
              </a:rPr>
              <a:t>Pure Storage relaunched as Everpure and folded in its 1touch acquisition. In two months the new domain went from nothing to 33,353 monthly organic visits and 16,766 AI Overview keywords — roughly three times our footprint.</a:t>
            </a:r>
          </a:p>
          <a:p>
            <a:pPr algn="l">
              <a:lnSpc>
                <a:spcPct val="115000"/>
              </a:lnSpc>
              <a:spcAft>
                <a:spcPts val="700"/>
              </a:spcAft>
            </a:pPr>
            <a:r>
              <a:rPr sz="1250" b="1">
                <a:solidFill>
                  <a:srgbClr val="59257B"/>
                </a:solidFill>
                <a:latin typeface="Open Sans"/>
              </a:rPr>
              <a:t>Why it matters</a:t>
            </a:r>
          </a:p>
          <a:p>
            <a:pPr algn="l">
              <a:lnSpc>
                <a:spcPct val="125000"/>
              </a:lnSpc>
              <a:spcAft>
                <a:spcPts val="900"/>
              </a:spcAft>
            </a:pPr>
            <a:r>
              <a:rPr sz="1100" b="0">
                <a:solidFill>
                  <a:srgbClr val="595A5B"/>
                </a:solidFill>
                <a:latin typeface="Open Sans"/>
              </a:rPr>
              <a:t>Everpure is positioning AI as the product, not as an outcome. That is the same framing gap our CEO flagged in June when Gemini described Komprise as a storage and cost company.</a:t>
            </a:r>
          </a:p>
          <a:p>
            <a:pPr algn="l">
              <a:lnSpc>
                <a:spcPct val="115000"/>
              </a:lnSpc>
              <a:spcAft>
                <a:spcPts val="700"/>
              </a:spcAft>
            </a:pPr>
            <a:r>
              <a:rPr sz="1250" b="1">
                <a:solidFill>
                  <a:srgbClr val="59257B"/>
                </a:solidFill>
                <a:latin typeface="Open Sans"/>
              </a:rPr>
              <a:t>What we are not saying</a:t>
            </a:r>
          </a:p>
          <a:p>
            <a:pPr algn="l">
              <a:lnSpc>
                <a:spcPct val="125000"/>
              </a:lnSpc>
              <a:spcAft>
                <a:spcPts val="0"/>
              </a:spcAft>
            </a:pPr>
            <a:r>
              <a:rPr sz="1100" b="0">
                <a:solidFill>
                  <a:srgbClr val="595A5B"/>
                </a:solidFill>
                <a:latin typeface="Open Sans"/>
              </a:rPr>
              <a:t>This is not lost ground. It is a new, much larger competitor arriving in our category mid-quarter, and it resets who we benchmark against.</a:t>
            </a:r>
          </a:p>
        </p:txBody>
      </p:sp>
      <p:sp>
        <p:nvSpPr>
          <p:cNvPr id="13" name="TextBox 12"/>
          <p:cNvSpPr txBox="1"/>
          <p:nvPr/>
        </p:nvSpPr>
        <p:spPr>
          <a:xfrm>
            <a:off x="502920" y="6528816"/>
            <a:ext cx="6400800" cy="228600"/>
          </a:xfrm>
          <a:prstGeom prst="rect">
            <a:avLst/>
          </a:prstGeom>
          <a:noFill/>
        </p:spPr>
        <p:txBody>
          <a:bodyPr wrap="square" lIns="0" rIns="0" tIns="0" bIns="0" anchor="t">
            <a:spAutoFit/>
          </a:bodyPr>
          <a:lstStyle/>
          <a:p>
            <a:pPr algn="l">
              <a:lnSpc>
                <a:spcPct val="115000"/>
              </a:lnSpc>
              <a:spcAft>
                <a:spcPts val="0"/>
              </a:spcAft>
            </a:pPr>
            <a:r>
              <a:rPr sz="900" b="0">
                <a:solidFill>
                  <a:srgbClr val="8A8A8D"/>
                </a:solidFill>
                <a:latin typeface="Open Sans"/>
              </a:rPr>
              <a:t>Komprise GEO / SEO  —  Q2 2026 Board Update</a:t>
            </a:r>
          </a:p>
        </p:txBody>
      </p:sp>
      <p:sp>
        <p:nvSpPr>
          <p:cNvPr id="14" name="TextBox 13"/>
          <p:cNvSpPr txBox="1"/>
          <p:nvPr/>
        </p:nvSpPr>
        <p:spPr>
          <a:xfrm>
            <a:off x="10881360" y="6528816"/>
            <a:ext cx="822960" cy="228600"/>
          </a:xfrm>
          <a:prstGeom prst="rect">
            <a:avLst/>
          </a:prstGeom>
          <a:noFill/>
        </p:spPr>
        <p:txBody>
          <a:bodyPr wrap="square" lIns="0" rIns="0" tIns="0" bIns="0" anchor="t">
            <a:spAutoFit/>
          </a:bodyPr>
          <a:lstStyle/>
          <a:p>
            <a:pPr algn="r">
              <a:lnSpc>
                <a:spcPct val="115000"/>
              </a:lnSpc>
              <a:spcAft>
                <a:spcPts val="0"/>
              </a:spcAft>
            </a:pPr>
            <a:r>
              <a:rPr sz="900" b="0">
                <a:solidFill>
                  <a:srgbClr val="8A8A8D"/>
                </a:solidFill>
                <a:latin typeface="Open San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74320"/>
            <a:ext cx="9692640" cy="548640"/>
          </a:xfrm>
          <a:prstGeom prst="rect">
            <a:avLst/>
          </a:prstGeom>
          <a:noFill/>
        </p:spPr>
        <p:txBody>
          <a:bodyPr wrap="square" lIns="0" rIns="0" tIns="0" bIns="0" anchor="t">
            <a:spAutoFit/>
          </a:bodyPr>
          <a:lstStyle/>
          <a:p>
            <a:pPr algn="l">
              <a:lnSpc>
                <a:spcPct val="115000"/>
              </a:lnSpc>
              <a:spcAft>
                <a:spcPts val="0"/>
              </a:spcAft>
            </a:pPr>
            <a:r>
              <a:rPr sz="2500" b="1">
                <a:solidFill>
                  <a:srgbClr val="59257B"/>
                </a:solidFill>
                <a:latin typeface="Open Sans"/>
              </a:rPr>
              <a:t>What We Did to Change How We Are Described</a:t>
            </a:r>
          </a:p>
        </p:txBody>
      </p:sp>
      <p:sp>
        <p:nvSpPr>
          <p:cNvPr id="6" name="TextBox 5"/>
          <p:cNvSpPr txBox="1"/>
          <p:nvPr/>
        </p:nvSpPr>
        <p:spPr>
          <a:xfrm>
            <a:off x="502920" y="804672"/>
            <a:ext cx="10241280" cy="292608"/>
          </a:xfrm>
          <a:prstGeom prst="rect">
            <a:avLst/>
          </a:prstGeom>
          <a:noFill/>
        </p:spPr>
        <p:txBody>
          <a:bodyPr wrap="square" lIns="0" rIns="0" tIns="0" bIns="0" anchor="t">
            <a:spAutoFit/>
          </a:bodyPr>
          <a:lstStyle/>
          <a:p>
            <a:pPr algn="l">
              <a:lnSpc>
                <a:spcPct val="115000"/>
              </a:lnSpc>
              <a:spcAft>
                <a:spcPts val="0"/>
              </a:spcAft>
            </a:pPr>
            <a:r>
              <a:rPr sz="1250" b="0">
                <a:solidFill>
                  <a:srgbClr val="595A5B"/>
                </a:solidFill>
                <a:latin typeface="Open Sans"/>
              </a:rPr>
              <a:t>Split by date, so the Board can see what landed inside the quarter and what is running now</a:t>
            </a:r>
          </a:p>
        </p:txBody>
      </p:sp>
      <p:sp>
        <p:nvSpPr>
          <p:cNvPr id="7" name="Rectangle 6"/>
          <p:cNvSpPr/>
          <p:nvPr/>
        </p:nvSpPr>
        <p:spPr>
          <a:xfrm>
            <a:off x="502920" y="1325880"/>
            <a:ext cx="5504688" cy="347472"/>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 y="1394460"/>
            <a:ext cx="5212080" cy="237744"/>
          </a:xfrm>
          <a:prstGeom prst="rect">
            <a:avLst/>
          </a:prstGeom>
          <a:noFill/>
        </p:spPr>
        <p:txBody>
          <a:bodyPr wrap="square" lIns="0" rIns="0" tIns="0" bIns="0" anchor="t">
            <a:spAutoFit/>
          </a:bodyPr>
          <a:lstStyle/>
          <a:p>
            <a:pPr algn="l">
              <a:lnSpc>
                <a:spcPct val="115000"/>
              </a:lnSpc>
              <a:spcAft>
                <a:spcPts val="0"/>
              </a:spcAft>
            </a:pPr>
            <a:r>
              <a:rPr sz="1250" b="1">
                <a:solidFill>
                  <a:srgbClr val="FFFFFF"/>
                </a:solidFill>
                <a:latin typeface="Open Sans"/>
              </a:rPr>
              <a:t>DELIVERED IN Q2  ·  ON OUR OWN SITE</a:t>
            </a:r>
          </a:p>
        </p:txBody>
      </p:sp>
      <p:sp>
        <p:nvSpPr>
          <p:cNvPr id="9" name="Rectangle 8"/>
          <p:cNvSpPr/>
          <p:nvPr/>
        </p:nvSpPr>
        <p:spPr>
          <a:xfrm>
            <a:off x="6181344" y="1325880"/>
            <a:ext cx="5504688" cy="347472"/>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45936" y="1394460"/>
            <a:ext cx="5212080" cy="237744"/>
          </a:xfrm>
          <a:prstGeom prst="rect">
            <a:avLst/>
          </a:prstGeom>
          <a:noFill/>
        </p:spPr>
        <p:txBody>
          <a:bodyPr wrap="square" lIns="0" rIns="0" tIns="0" bIns="0" anchor="t">
            <a:spAutoFit/>
          </a:bodyPr>
          <a:lstStyle/>
          <a:p>
            <a:pPr algn="l">
              <a:lnSpc>
                <a:spcPct val="115000"/>
              </a:lnSpc>
              <a:spcAft>
                <a:spcPts val="0"/>
              </a:spcAft>
            </a:pPr>
            <a:r>
              <a:rPr sz="1250" b="1">
                <a:solidFill>
                  <a:srgbClr val="FFFFFF"/>
                </a:solidFill>
                <a:latin typeface="Open Sans"/>
              </a:rPr>
              <a:t>IN MOTION SINCE QUARTER CLOSE  ·  THIRD PARTY</a:t>
            </a:r>
          </a:p>
        </p:txBody>
      </p:sp>
      <p:sp>
        <p:nvSpPr>
          <p:cNvPr id="11" name="Rectangle 10"/>
          <p:cNvSpPr/>
          <p:nvPr/>
        </p:nvSpPr>
        <p:spPr>
          <a:xfrm>
            <a:off x="530352" y="1883664"/>
            <a:ext cx="82296"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810512"/>
            <a:ext cx="960120" cy="219456"/>
          </a:xfrm>
          <a:prstGeom prst="rect">
            <a:avLst/>
          </a:prstGeom>
          <a:noFill/>
        </p:spPr>
        <p:txBody>
          <a:bodyPr wrap="square" lIns="0" rIns="0" tIns="0" bIns="0" anchor="t">
            <a:spAutoFit/>
          </a:bodyPr>
          <a:lstStyle/>
          <a:p>
            <a:pPr algn="l">
              <a:lnSpc>
                <a:spcPct val="115000"/>
              </a:lnSpc>
              <a:spcAft>
                <a:spcPts val="0"/>
              </a:spcAft>
            </a:pPr>
            <a:r>
              <a:rPr sz="950" b="1">
                <a:solidFill>
                  <a:srgbClr val="59257B"/>
                </a:solidFill>
                <a:latin typeface="Open Sans"/>
              </a:rPr>
              <a:t>23 June</a:t>
            </a:r>
          </a:p>
        </p:txBody>
      </p:sp>
      <p:sp>
        <p:nvSpPr>
          <p:cNvPr id="13" name="TextBox 12"/>
          <p:cNvSpPr txBox="1"/>
          <p:nvPr/>
        </p:nvSpPr>
        <p:spPr>
          <a:xfrm>
            <a:off x="768096" y="2029968"/>
            <a:ext cx="5120640" cy="640080"/>
          </a:xfrm>
          <a:prstGeom prst="rect">
            <a:avLst/>
          </a:prstGeom>
          <a:noFill/>
        </p:spPr>
        <p:txBody>
          <a:bodyPr wrap="square" lIns="0" rIns="0" tIns="0" bIns="0" anchor="t">
            <a:spAutoFit/>
          </a:bodyPr>
          <a:lstStyle/>
          <a:p>
            <a:pPr algn="l">
              <a:lnSpc>
                <a:spcPct val="122000"/>
              </a:lnSpc>
              <a:spcAft>
                <a:spcPts val="0"/>
              </a:spcAft>
            </a:pPr>
            <a:r>
              <a:rPr sz="1100" b="0">
                <a:solidFill>
                  <a:srgbClr val="262428"/>
                </a:solidFill>
                <a:latin typeface="Open Sans"/>
              </a:rPr>
              <a:t>Data Classification and Unstructured Data Classification glossary pages rewritten, and a new AI-Ready Data page created to claim that term directly.</a:t>
            </a:r>
          </a:p>
        </p:txBody>
      </p:sp>
      <p:sp>
        <p:nvSpPr>
          <p:cNvPr id="14" name="Rectangle 13"/>
          <p:cNvSpPr/>
          <p:nvPr/>
        </p:nvSpPr>
        <p:spPr>
          <a:xfrm>
            <a:off x="530352" y="2706624"/>
            <a:ext cx="82296"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633472"/>
            <a:ext cx="960120" cy="219456"/>
          </a:xfrm>
          <a:prstGeom prst="rect">
            <a:avLst/>
          </a:prstGeom>
          <a:noFill/>
        </p:spPr>
        <p:txBody>
          <a:bodyPr wrap="square" lIns="0" rIns="0" tIns="0" bIns="0" anchor="t">
            <a:spAutoFit/>
          </a:bodyPr>
          <a:lstStyle/>
          <a:p>
            <a:pPr algn="l">
              <a:lnSpc>
                <a:spcPct val="115000"/>
              </a:lnSpc>
              <a:spcAft>
                <a:spcPts val="0"/>
              </a:spcAft>
            </a:pPr>
            <a:r>
              <a:rPr sz="950" b="1">
                <a:solidFill>
                  <a:srgbClr val="59257B"/>
                </a:solidFill>
                <a:latin typeface="Open Sans"/>
              </a:rPr>
              <a:t>16 June</a:t>
            </a:r>
          </a:p>
        </p:txBody>
      </p:sp>
      <p:sp>
        <p:nvSpPr>
          <p:cNvPr id="16" name="TextBox 15"/>
          <p:cNvSpPr txBox="1"/>
          <p:nvPr/>
        </p:nvSpPr>
        <p:spPr>
          <a:xfrm>
            <a:off x="768096" y="2852928"/>
            <a:ext cx="5120640" cy="640080"/>
          </a:xfrm>
          <a:prstGeom prst="rect">
            <a:avLst/>
          </a:prstGeom>
          <a:noFill/>
        </p:spPr>
        <p:txBody>
          <a:bodyPr wrap="square" lIns="0" rIns="0" tIns="0" bIns="0" anchor="t">
            <a:spAutoFit/>
          </a:bodyPr>
          <a:lstStyle/>
          <a:p>
            <a:pPr algn="l">
              <a:lnSpc>
                <a:spcPct val="122000"/>
              </a:lnSpc>
              <a:spcAft>
                <a:spcPts val="0"/>
              </a:spcAft>
            </a:pPr>
            <a:r>
              <a:rPr sz="1100" b="0">
                <a:solidFill>
                  <a:srgbClr val="262428"/>
                </a:solidFill>
                <a:latin typeface="Open Sans"/>
              </a:rPr>
              <a:t>“Five Techniques to Eliminate Noisy Data from Enterprise AI Pipelines” published — our clearest AI-pipeline explainer to date.</a:t>
            </a:r>
          </a:p>
        </p:txBody>
      </p:sp>
      <p:sp>
        <p:nvSpPr>
          <p:cNvPr id="17" name="Rectangle 16"/>
          <p:cNvSpPr/>
          <p:nvPr/>
        </p:nvSpPr>
        <p:spPr>
          <a:xfrm>
            <a:off x="530352" y="3529584"/>
            <a:ext cx="82296"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3456432"/>
            <a:ext cx="960120" cy="219456"/>
          </a:xfrm>
          <a:prstGeom prst="rect">
            <a:avLst/>
          </a:prstGeom>
          <a:noFill/>
        </p:spPr>
        <p:txBody>
          <a:bodyPr wrap="square" lIns="0" rIns="0" tIns="0" bIns="0" anchor="t">
            <a:spAutoFit/>
          </a:bodyPr>
          <a:lstStyle/>
          <a:p>
            <a:pPr algn="l">
              <a:lnSpc>
                <a:spcPct val="115000"/>
              </a:lnSpc>
              <a:spcAft>
                <a:spcPts val="0"/>
              </a:spcAft>
            </a:pPr>
            <a:r>
              <a:rPr sz="950" b="1">
                <a:solidFill>
                  <a:srgbClr val="59257B"/>
                </a:solidFill>
                <a:latin typeface="Open Sans"/>
              </a:rPr>
              <a:t>23 June</a:t>
            </a:r>
          </a:p>
        </p:txBody>
      </p:sp>
      <p:sp>
        <p:nvSpPr>
          <p:cNvPr id="19" name="TextBox 18"/>
          <p:cNvSpPr txBox="1"/>
          <p:nvPr/>
        </p:nvSpPr>
        <p:spPr>
          <a:xfrm>
            <a:off x="768096" y="3675887"/>
            <a:ext cx="5120640" cy="640080"/>
          </a:xfrm>
          <a:prstGeom prst="rect">
            <a:avLst/>
          </a:prstGeom>
          <a:noFill/>
        </p:spPr>
        <p:txBody>
          <a:bodyPr wrap="square" lIns="0" rIns="0" tIns="0" bIns="0" anchor="t">
            <a:spAutoFit/>
          </a:bodyPr>
          <a:lstStyle/>
          <a:p>
            <a:pPr algn="l">
              <a:lnSpc>
                <a:spcPct val="122000"/>
              </a:lnSpc>
              <a:spcAft>
                <a:spcPts val="0"/>
              </a:spcAft>
            </a:pPr>
            <a:r>
              <a:rPr sz="1100" b="0">
                <a:solidFill>
                  <a:srgbClr val="262428"/>
                </a:solidFill>
                <a:latin typeface="Open Sans"/>
              </a:rPr>
              <a:t>Transparent File Tables interview blog published, feeding the in-the-news category.</a:t>
            </a:r>
          </a:p>
        </p:txBody>
      </p:sp>
      <p:sp>
        <p:nvSpPr>
          <p:cNvPr id="20" name="Rectangle 19"/>
          <p:cNvSpPr/>
          <p:nvPr/>
        </p:nvSpPr>
        <p:spPr>
          <a:xfrm>
            <a:off x="530352" y="4352544"/>
            <a:ext cx="82296"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4279392"/>
            <a:ext cx="960120" cy="219456"/>
          </a:xfrm>
          <a:prstGeom prst="rect">
            <a:avLst/>
          </a:prstGeom>
          <a:noFill/>
        </p:spPr>
        <p:txBody>
          <a:bodyPr wrap="square" lIns="0" rIns="0" tIns="0" bIns="0" anchor="t">
            <a:spAutoFit/>
          </a:bodyPr>
          <a:lstStyle/>
          <a:p>
            <a:pPr algn="l">
              <a:lnSpc>
                <a:spcPct val="115000"/>
              </a:lnSpc>
              <a:spcAft>
                <a:spcPts val="0"/>
              </a:spcAft>
            </a:pPr>
            <a:r>
              <a:rPr sz="950" b="1">
                <a:solidFill>
                  <a:srgbClr val="59257B"/>
                </a:solidFill>
                <a:latin typeface="Open Sans"/>
              </a:rPr>
              <a:t>Late June</a:t>
            </a:r>
          </a:p>
        </p:txBody>
      </p:sp>
      <p:sp>
        <p:nvSpPr>
          <p:cNvPr id="22" name="TextBox 21"/>
          <p:cNvSpPr txBox="1"/>
          <p:nvPr/>
        </p:nvSpPr>
        <p:spPr>
          <a:xfrm>
            <a:off x="768096" y="4498848"/>
            <a:ext cx="5120640" cy="640080"/>
          </a:xfrm>
          <a:prstGeom prst="rect">
            <a:avLst/>
          </a:prstGeom>
          <a:noFill/>
        </p:spPr>
        <p:txBody>
          <a:bodyPr wrap="square" lIns="0" rIns="0" tIns="0" bIns="0" anchor="t">
            <a:spAutoFit/>
          </a:bodyPr>
          <a:lstStyle/>
          <a:p>
            <a:pPr algn="l">
              <a:lnSpc>
                <a:spcPct val="122000"/>
              </a:lnSpc>
              <a:spcAft>
                <a:spcPts val="0"/>
              </a:spcAft>
            </a:pPr>
            <a:r>
              <a:rPr sz="1100" b="0">
                <a:solidFill>
                  <a:srgbClr val="262428"/>
                </a:solidFill>
                <a:latin typeface="Open Sans"/>
              </a:rPr>
              <a:t>Transparent File Tables product launch — product page, demo page and press coverage.</a:t>
            </a:r>
          </a:p>
        </p:txBody>
      </p:sp>
      <p:sp>
        <p:nvSpPr>
          <p:cNvPr id="23" name="Rectangle 22"/>
          <p:cNvSpPr/>
          <p:nvPr/>
        </p:nvSpPr>
        <p:spPr>
          <a:xfrm>
            <a:off x="530352" y="5175504"/>
            <a:ext cx="82296"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102352"/>
            <a:ext cx="960120" cy="219456"/>
          </a:xfrm>
          <a:prstGeom prst="rect">
            <a:avLst/>
          </a:prstGeom>
          <a:noFill/>
        </p:spPr>
        <p:txBody>
          <a:bodyPr wrap="square" lIns="0" rIns="0" tIns="0" bIns="0" anchor="t">
            <a:spAutoFit/>
          </a:bodyPr>
          <a:lstStyle/>
          <a:p>
            <a:pPr algn="l">
              <a:lnSpc>
                <a:spcPct val="115000"/>
              </a:lnSpc>
              <a:spcAft>
                <a:spcPts val="0"/>
              </a:spcAft>
            </a:pPr>
            <a:r>
              <a:rPr sz="950" b="1">
                <a:solidFill>
                  <a:srgbClr val="59257B"/>
                </a:solidFill>
                <a:latin typeface="Open Sans"/>
              </a:rPr>
              <a:t>Through Q2</a:t>
            </a:r>
          </a:p>
        </p:txBody>
      </p:sp>
      <p:sp>
        <p:nvSpPr>
          <p:cNvPr id="25" name="TextBox 24"/>
          <p:cNvSpPr txBox="1"/>
          <p:nvPr/>
        </p:nvSpPr>
        <p:spPr>
          <a:xfrm>
            <a:off x="768096" y="5321808"/>
            <a:ext cx="5120640" cy="640080"/>
          </a:xfrm>
          <a:prstGeom prst="rect">
            <a:avLst/>
          </a:prstGeom>
          <a:noFill/>
        </p:spPr>
        <p:txBody>
          <a:bodyPr wrap="square" lIns="0" rIns="0" tIns="0" bIns="0" anchor="t">
            <a:spAutoFit/>
          </a:bodyPr>
          <a:lstStyle/>
          <a:p>
            <a:pPr algn="l">
              <a:lnSpc>
                <a:spcPct val="122000"/>
              </a:lnSpc>
              <a:spcAft>
                <a:spcPts val="0"/>
              </a:spcAft>
            </a:pPr>
            <a:r>
              <a:rPr sz="1100" b="0">
                <a:solidFill>
                  <a:srgbClr val="262428"/>
                </a:solidFill>
                <a:latin typeface="Open Sans"/>
              </a:rPr>
              <a:t>Product page titles, descriptions and the homepage hero reframed to lead with AI readiness, with the 70% cost saving moved to a supporting proof point.</a:t>
            </a:r>
          </a:p>
        </p:txBody>
      </p:sp>
      <p:sp>
        <p:nvSpPr>
          <p:cNvPr id="26" name="Rectangle 25"/>
          <p:cNvSpPr/>
          <p:nvPr/>
        </p:nvSpPr>
        <p:spPr>
          <a:xfrm>
            <a:off x="6208776" y="1883664"/>
            <a:ext cx="82296" cy="82296"/>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46520" y="1810512"/>
            <a:ext cx="960120" cy="219456"/>
          </a:xfrm>
          <a:prstGeom prst="rect">
            <a:avLst/>
          </a:prstGeom>
          <a:noFill/>
        </p:spPr>
        <p:txBody>
          <a:bodyPr wrap="square" lIns="0" rIns="0" tIns="0" bIns="0" anchor="t">
            <a:spAutoFit/>
          </a:bodyPr>
          <a:lstStyle/>
          <a:p>
            <a:pPr algn="l">
              <a:lnSpc>
                <a:spcPct val="115000"/>
              </a:lnSpc>
              <a:spcAft>
                <a:spcPts val="0"/>
              </a:spcAft>
            </a:pPr>
            <a:r>
              <a:rPr sz="950" b="1">
                <a:solidFill>
                  <a:srgbClr val="7A9905"/>
                </a:solidFill>
                <a:latin typeface="Open Sans"/>
              </a:rPr>
              <a:t>1 July</a:t>
            </a:r>
          </a:p>
        </p:txBody>
      </p:sp>
      <p:sp>
        <p:nvSpPr>
          <p:cNvPr id="28" name="TextBox 27"/>
          <p:cNvSpPr txBox="1"/>
          <p:nvPr/>
        </p:nvSpPr>
        <p:spPr>
          <a:xfrm>
            <a:off x="6446520" y="2029968"/>
            <a:ext cx="5120640" cy="640080"/>
          </a:xfrm>
          <a:prstGeom prst="rect">
            <a:avLst/>
          </a:prstGeom>
          <a:noFill/>
        </p:spPr>
        <p:txBody>
          <a:bodyPr wrap="square" lIns="0" rIns="0" tIns="0" bIns="0" anchor="t">
            <a:spAutoFit/>
          </a:bodyPr>
          <a:lstStyle/>
          <a:p>
            <a:pPr algn="l">
              <a:lnSpc>
                <a:spcPct val="122000"/>
              </a:lnSpc>
              <a:spcAft>
                <a:spcPts val="0"/>
              </a:spcAft>
            </a:pPr>
            <a:r>
              <a:rPr sz="1100" b="0">
                <a:solidFill>
                  <a:srgbClr val="262428"/>
                </a:solidFill>
                <a:latin typeface="Open Sans"/>
              </a:rPr>
              <a:t>AI Data Platform glossary page, Transparent File Tables resource page and the KAPPA data services library page published.</a:t>
            </a:r>
          </a:p>
        </p:txBody>
      </p:sp>
      <p:sp>
        <p:nvSpPr>
          <p:cNvPr id="29" name="Rectangle 28"/>
          <p:cNvSpPr/>
          <p:nvPr/>
        </p:nvSpPr>
        <p:spPr>
          <a:xfrm>
            <a:off x="6208776" y="2706624"/>
            <a:ext cx="82296" cy="82296"/>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46520" y="2633472"/>
            <a:ext cx="960120" cy="219456"/>
          </a:xfrm>
          <a:prstGeom prst="rect">
            <a:avLst/>
          </a:prstGeom>
          <a:noFill/>
        </p:spPr>
        <p:txBody>
          <a:bodyPr wrap="square" lIns="0" rIns="0" tIns="0" bIns="0" anchor="t">
            <a:spAutoFit/>
          </a:bodyPr>
          <a:lstStyle/>
          <a:p>
            <a:pPr algn="l">
              <a:lnSpc>
                <a:spcPct val="115000"/>
              </a:lnSpc>
              <a:spcAft>
                <a:spcPts val="0"/>
              </a:spcAft>
            </a:pPr>
            <a:r>
              <a:rPr sz="950" b="1">
                <a:solidFill>
                  <a:srgbClr val="7A9905"/>
                </a:solidFill>
                <a:latin typeface="Open Sans"/>
              </a:rPr>
              <a:t>15 July</a:t>
            </a:r>
          </a:p>
        </p:txBody>
      </p:sp>
      <p:sp>
        <p:nvSpPr>
          <p:cNvPr id="31" name="TextBox 30"/>
          <p:cNvSpPr txBox="1"/>
          <p:nvPr/>
        </p:nvSpPr>
        <p:spPr>
          <a:xfrm>
            <a:off x="6446520" y="2852928"/>
            <a:ext cx="5120640" cy="640080"/>
          </a:xfrm>
          <a:prstGeom prst="rect">
            <a:avLst/>
          </a:prstGeom>
          <a:noFill/>
        </p:spPr>
        <p:txBody>
          <a:bodyPr wrap="square" lIns="0" rIns="0" tIns="0" bIns="0" anchor="t">
            <a:spAutoFit/>
          </a:bodyPr>
          <a:lstStyle/>
          <a:p>
            <a:pPr algn="l">
              <a:lnSpc>
                <a:spcPct val="122000"/>
              </a:lnSpc>
              <a:spcAft>
                <a:spcPts val="0"/>
              </a:spcAft>
            </a:pPr>
            <a:r>
              <a:rPr sz="1100" b="0">
                <a:solidFill>
                  <a:srgbClr val="262428"/>
                </a:solidFill>
                <a:latin typeface="Open Sans"/>
              </a:rPr>
              <a:t>A single consistent company description agreed and rolled out across third-party sites, so every source describes Komprise the same way.</a:t>
            </a:r>
          </a:p>
        </p:txBody>
      </p:sp>
      <p:sp>
        <p:nvSpPr>
          <p:cNvPr id="32" name="Rectangle 31"/>
          <p:cNvSpPr/>
          <p:nvPr/>
        </p:nvSpPr>
        <p:spPr>
          <a:xfrm>
            <a:off x="6208776" y="3529584"/>
            <a:ext cx="82296" cy="82296"/>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46520" y="3456432"/>
            <a:ext cx="960120" cy="219456"/>
          </a:xfrm>
          <a:prstGeom prst="rect">
            <a:avLst/>
          </a:prstGeom>
          <a:noFill/>
        </p:spPr>
        <p:txBody>
          <a:bodyPr wrap="square" lIns="0" rIns="0" tIns="0" bIns="0" anchor="t">
            <a:spAutoFit/>
          </a:bodyPr>
          <a:lstStyle/>
          <a:p>
            <a:pPr algn="l">
              <a:lnSpc>
                <a:spcPct val="115000"/>
              </a:lnSpc>
              <a:spcAft>
                <a:spcPts val="0"/>
              </a:spcAft>
            </a:pPr>
            <a:r>
              <a:rPr sz="950" b="1">
                <a:solidFill>
                  <a:srgbClr val="7A9905"/>
                </a:solidFill>
                <a:latin typeface="Open Sans"/>
              </a:rPr>
              <a:t>Late July</a:t>
            </a:r>
          </a:p>
        </p:txBody>
      </p:sp>
      <p:sp>
        <p:nvSpPr>
          <p:cNvPr id="34" name="TextBox 33"/>
          <p:cNvSpPr txBox="1"/>
          <p:nvPr/>
        </p:nvSpPr>
        <p:spPr>
          <a:xfrm>
            <a:off x="6446520" y="3675887"/>
            <a:ext cx="5120640" cy="640080"/>
          </a:xfrm>
          <a:prstGeom prst="rect">
            <a:avLst/>
          </a:prstGeom>
          <a:noFill/>
        </p:spPr>
        <p:txBody>
          <a:bodyPr wrap="square" lIns="0" rIns="0" tIns="0" bIns="0" anchor="t">
            <a:spAutoFit/>
          </a:bodyPr>
          <a:lstStyle/>
          <a:p>
            <a:pPr algn="l">
              <a:lnSpc>
                <a:spcPct val="122000"/>
              </a:lnSpc>
              <a:spcAft>
                <a:spcPts val="0"/>
              </a:spcAft>
            </a:pPr>
            <a:r>
              <a:rPr sz="1100" b="0">
                <a:solidFill>
                  <a:srgbClr val="262428"/>
                </a:solidFill>
                <a:latin typeface="Open Sans"/>
              </a:rPr>
              <a:t>Isilon and flash / storage pricing pages updated to meet buyers searching on price rather than on product.</a:t>
            </a:r>
          </a:p>
        </p:txBody>
      </p:sp>
      <p:sp>
        <p:nvSpPr>
          <p:cNvPr id="35" name="Rectangle 34"/>
          <p:cNvSpPr/>
          <p:nvPr/>
        </p:nvSpPr>
        <p:spPr>
          <a:xfrm>
            <a:off x="6208776" y="4352544"/>
            <a:ext cx="82296" cy="82296"/>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46520" y="4279392"/>
            <a:ext cx="960120" cy="219456"/>
          </a:xfrm>
          <a:prstGeom prst="rect">
            <a:avLst/>
          </a:prstGeom>
          <a:noFill/>
        </p:spPr>
        <p:txBody>
          <a:bodyPr wrap="square" lIns="0" rIns="0" tIns="0" bIns="0" anchor="t">
            <a:spAutoFit/>
          </a:bodyPr>
          <a:lstStyle/>
          <a:p>
            <a:pPr algn="l">
              <a:lnSpc>
                <a:spcPct val="115000"/>
              </a:lnSpc>
              <a:spcAft>
                <a:spcPts val="0"/>
              </a:spcAft>
            </a:pPr>
            <a:r>
              <a:rPr sz="950" b="1">
                <a:solidFill>
                  <a:srgbClr val="7A9905"/>
                </a:solidFill>
                <a:latin typeface="Open Sans"/>
              </a:rPr>
              <a:t>July–August</a:t>
            </a:r>
          </a:p>
        </p:txBody>
      </p:sp>
      <p:sp>
        <p:nvSpPr>
          <p:cNvPr id="37" name="TextBox 36"/>
          <p:cNvSpPr txBox="1"/>
          <p:nvPr/>
        </p:nvSpPr>
        <p:spPr>
          <a:xfrm>
            <a:off x="6446520" y="4498848"/>
            <a:ext cx="5120640" cy="640080"/>
          </a:xfrm>
          <a:prstGeom prst="rect">
            <a:avLst/>
          </a:prstGeom>
          <a:noFill/>
        </p:spPr>
        <p:txBody>
          <a:bodyPr wrap="square" lIns="0" rIns="0" tIns="0" bIns="0" anchor="t">
            <a:spAutoFit/>
          </a:bodyPr>
          <a:lstStyle/>
          <a:p>
            <a:pPr algn="l">
              <a:lnSpc>
                <a:spcPct val="122000"/>
              </a:lnSpc>
              <a:spcAft>
                <a:spcPts val="0"/>
              </a:spcAft>
            </a:pPr>
            <a:r>
              <a:rPr sz="1100" b="0">
                <a:solidFill>
                  <a:srgbClr val="262428"/>
                </a:solidFill>
                <a:latin typeface="Open Sans"/>
              </a:rPr>
              <a:t>Review, directory and marketplace listings being corrected — TrustRadius, G2, Glassdoor and Gartner Peer Insights, plus the major partner marketplaces.</a:t>
            </a:r>
          </a:p>
        </p:txBody>
      </p:sp>
      <p:sp>
        <p:nvSpPr>
          <p:cNvPr id="38" name="Rectangle 37"/>
          <p:cNvSpPr/>
          <p:nvPr/>
        </p:nvSpPr>
        <p:spPr>
          <a:xfrm>
            <a:off x="6208776" y="5175504"/>
            <a:ext cx="82296" cy="82296"/>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46520" y="5102352"/>
            <a:ext cx="960120" cy="219456"/>
          </a:xfrm>
          <a:prstGeom prst="rect">
            <a:avLst/>
          </a:prstGeom>
          <a:noFill/>
        </p:spPr>
        <p:txBody>
          <a:bodyPr wrap="square" lIns="0" rIns="0" tIns="0" bIns="0" anchor="t">
            <a:spAutoFit/>
          </a:bodyPr>
          <a:lstStyle/>
          <a:p>
            <a:pPr algn="l">
              <a:lnSpc>
                <a:spcPct val="115000"/>
              </a:lnSpc>
              <a:spcAft>
                <a:spcPts val="0"/>
              </a:spcAft>
            </a:pPr>
            <a:r>
              <a:rPr sz="950" b="1">
                <a:solidFill>
                  <a:srgbClr val="7A9905"/>
                </a:solidFill>
                <a:latin typeface="Open Sans"/>
              </a:rPr>
              <a:t>July–August</a:t>
            </a:r>
          </a:p>
        </p:txBody>
      </p:sp>
      <p:sp>
        <p:nvSpPr>
          <p:cNvPr id="40" name="TextBox 39"/>
          <p:cNvSpPr txBox="1"/>
          <p:nvPr/>
        </p:nvSpPr>
        <p:spPr>
          <a:xfrm>
            <a:off x="6446520" y="5321808"/>
            <a:ext cx="5120640" cy="640080"/>
          </a:xfrm>
          <a:prstGeom prst="rect">
            <a:avLst/>
          </a:prstGeom>
          <a:noFill/>
        </p:spPr>
        <p:txBody>
          <a:bodyPr wrap="square" lIns="0" rIns="0" tIns="0" bIns="0" anchor="t">
            <a:spAutoFit/>
          </a:bodyPr>
          <a:lstStyle/>
          <a:p>
            <a:pPr algn="l">
              <a:lnSpc>
                <a:spcPct val="122000"/>
              </a:lnSpc>
              <a:spcAft>
                <a:spcPts val="0"/>
              </a:spcAft>
            </a:pPr>
            <a:r>
              <a:rPr sz="1100" b="0">
                <a:solidFill>
                  <a:srgbClr val="262428"/>
                </a:solidFill>
                <a:latin typeface="Open Sans"/>
              </a:rPr>
              <a:t>Weekly capture running across all five major AI assistants, so we can prove whether the wording changes actually move the answer.</a:t>
            </a:r>
          </a:p>
        </p:txBody>
      </p:sp>
      <p:sp>
        <p:nvSpPr>
          <p:cNvPr id="41" name="Rectangle 40"/>
          <p:cNvSpPr/>
          <p:nvPr/>
        </p:nvSpPr>
        <p:spPr>
          <a:xfrm>
            <a:off x="502920" y="5925312"/>
            <a:ext cx="11183112" cy="566928"/>
          </a:xfrm>
          <a:prstGeom prst="rect">
            <a:avLst/>
          </a:prstGeom>
          <a:solidFill>
            <a:srgbClr val="E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 y="5925312"/>
            <a:ext cx="54864" cy="566928"/>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13232" y="6044184"/>
            <a:ext cx="10789920" cy="384048"/>
          </a:xfrm>
          <a:prstGeom prst="rect">
            <a:avLst/>
          </a:prstGeom>
          <a:noFill/>
        </p:spPr>
        <p:txBody>
          <a:bodyPr wrap="square" lIns="0" rIns="0" tIns="0" bIns="0" anchor="t">
            <a:spAutoFit/>
          </a:bodyPr>
          <a:lstStyle/>
          <a:p>
            <a:pPr algn="l">
              <a:lnSpc>
                <a:spcPct val="120000"/>
              </a:lnSpc>
              <a:spcAft>
                <a:spcPts val="0"/>
              </a:spcAft>
            </a:pPr>
            <a:r>
              <a:rPr sz="1100" b="1">
                <a:solidFill>
                  <a:srgbClr val="59257B"/>
                </a:solidFill>
                <a:latin typeface="Open Sans"/>
              </a:rPr>
              <a:t>Early proof it works (August testing): product names we deliberately repeated across trusted sites — Transparent Move Technology, Global Metadatabase — are now being repeated back to us by AI assistants, unprompted.</a:t>
            </a:r>
          </a:p>
        </p:txBody>
      </p:sp>
      <p:sp>
        <p:nvSpPr>
          <p:cNvPr id="44" name="TextBox 43"/>
          <p:cNvSpPr txBox="1"/>
          <p:nvPr/>
        </p:nvSpPr>
        <p:spPr>
          <a:xfrm>
            <a:off x="502920" y="6528816"/>
            <a:ext cx="6400800" cy="228600"/>
          </a:xfrm>
          <a:prstGeom prst="rect">
            <a:avLst/>
          </a:prstGeom>
          <a:noFill/>
        </p:spPr>
        <p:txBody>
          <a:bodyPr wrap="square" lIns="0" rIns="0" tIns="0" bIns="0" anchor="t">
            <a:spAutoFit/>
          </a:bodyPr>
          <a:lstStyle/>
          <a:p>
            <a:pPr algn="l">
              <a:lnSpc>
                <a:spcPct val="115000"/>
              </a:lnSpc>
              <a:spcAft>
                <a:spcPts val="0"/>
              </a:spcAft>
            </a:pPr>
            <a:r>
              <a:rPr sz="900" b="0">
                <a:solidFill>
                  <a:srgbClr val="8A8A8D"/>
                </a:solidFill>
                <a:latin typeface="Open Sans"/>
              </a:rPr>
              <a:t>Komprise GEO / SEO  —  Q2 2026 Board Update</a:t>
            </a:r>
          </a:p>
        </p:txBody>
      </p:sp>
      <p:sp>
        <p:nvSpPr>
          <p:cNvPr id="45" name="TextBox 44"/>
          <p:cNvSpPr txBox="1"/>
          <p:nvPr/>
        </p:nvSpPr>
        <p:spPr>
          <a:xfrm>
            <a:off x="10881360" y="6528816"/>
            <a:ext cx="822960" cy="228600"/>
          </a:xfrm>
          <a:prstGeom prst="rect">
            <a:avLst/>
          </a:prstGeom>
          <a:noFill/>
        </p:spPr>
        <p:txBody>
          <a:bodyPr wrap="square" lIns="0" rIns="0" tIns="0" bIns="0" anchor="t">
            <a:spAutoFit/>
          </a:bodyPr>
          <a:lstStyle/>
          <a:p>
            <a:pPr algn="r">
              <a:lnSpc>
                <a:spcPct val="115000"/>
              </a:lnSpc>
              <a:spcAft>
                <a:spcPts val="0"/>
              </a:spcAft>
            </a:pPr>
            <a:r>
              <a:rPr sz="900" b="0">
                <a:solidFill>
                  <a:srgbClr val="8A8A8D"/>
                </a:solidFill>
                <a:latin typeface="Open San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74320"/>
            <a:ext cx="9692640" cy="548640"/>
          </a:xfrm>
          <a:prstGeom prst="rect">
            <a:avLst/>
          </a:prstGeom>
          <a:noFill/>
        </p:spPr>
        <p:txBody>
          <a:bodyPr wrap="square" lIns="0" rIns="0" tIns="0" bIns="0" anchor="t">
            <a:spAutoFit/>
          </a:bodyPr>
          <a:lstStyle/>
          <a:p>
            <a:pPr algn="l">
              <a:lnSpc>
                <a:spcPct val="115000"/>
              </a:lnSpc>
              <a:spcAft>
                <a:spcPts val="0"/>
              </a:spcAft>
            </a:pPr>
            <a:r>
              <a:rPr sz="2500" b="1">
                <a:solidFill>
                  <a:srgbClr val="59257B"/>
                </a:solidFill>
                <a:latin typeface="Open Sans"/>
              </a:rPr>
              <a:t>What Actually Matters to the AI Engines</a:t>
            </a:r>
          </a:p>
        </p:txBody>
      </p:sp>
      <p:sp>
        <p:nvSpPr>
          <p:cNvPr id="6" name="TextBox 5"/>
          <p:cNvSpPr txBox="1"/>
          <p:nvPr/>
        </p:nvSpPr>
        <p:spPr>
          <a:xfrm>
            <a:off x="502920" y="804672"/>
            <a:ext cx="10241280" cy="292608"/>
          </a:xfrm>
          <a:prstGeom prst="rect">
            <a:avLst/>
          </a:prstGeom>
          <a:noFill/>
        </p:spPr>
        <p:txBody>
          <a:bodyPr wrap="square" lIns="0" rIns="0" tIns="0" bIns="0" anchor="t">
            <a:spAutoFit/>
          </a:bodyPr>
          <a:lstStyle/>
          <a:p>
            <a:pPr algn="l">
              <a:lnSpc>
                <a:spcPct val="115000"/>
              </a:lnSpc>
              <a:spcAft>
                <a:spcPts val="0"/>
              </a:spcAft>
            </a:pPr>
            <a:r>
              <a:rPr sz="1250" b="0">
                <a:solidFill>
                  <a:srgbClr val="595A5B"/>
                </a:solidFill>
                <a:latin typeface="Open Sans"/>
              </a:rPr>
              <a:t>Three things decide whether an AI assistant names you — and only one of them is your own website</a:t>
            </a:r>
          </a:p>
        </p:txBody>
      </p:sp>
      <p:sp>
        <p:nvSpPr>
          <p:cNvPr id="7" name="Rectangle 6"/>
          <p:cNvSpPr/>
          <p:nvPr/>
        </p:nvSpPr>
        <p:spPr>
          <a:xfrm>
            <a:off x="502920" y="1371600"/>
            <a:ext cx="3566160" cy="3977639"/>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371600"/>
            <a:ext cx="3566160" cy="64008"/>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1691640"/>
            <a:ext cx="475488" cy="475488"/>
          </a:xfrm>
          <a:prstGeom prst="ellipse">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1810512"/>
            <a:ext cx="475488" cy="274320"/>
          </a:xfrm>
          <a:prstGeom prst="rect">
            <a:avLst/>
          </a:prstGeom>
          <a:noFill/>
        </p:spPr>
        <p:txBody>
          <a:bodyPr wrap="square" lIns="0" rIns="0" tIns="0" bIns="0" anchor="t">
            <a:spAutoFit/>
          </a:bodyPr>
          <a:lstStyle/>
          <a:p>
            <a:pPr algn="ctr">
              <a:lnSpc>
                <a:spcPct val="115000"/>
              </a:lnSpc>
              <a:spcAft>
                <a:spcPts val="0"/>
              </a:spcAft>
            </a:pPr>
            <a:r>
              <a:rPr sz="1500" b="1">
                <a:solidFill>
                  <a:srgbClr val="FFFFFF"/>
                </a:solidFill>
                <a:latin typeface="Open Sans"/>
              </a:rPr>
              <a:t>1</a:t>
            </a:r>
          </a:p>
        </p:txBody>
      </p:sp>
      <p:sp>
        <p:nvSpPr>
          <p:cNvPr id="11" name="TextBox 10"/>
          <p:cNvSpPr txBox="1"/>
          <p:nvPr/>
        </p:nvSpPr>
        <p:spPr>
          <a:xfrm>
            <a:off x="758952" y="2359152"/>
            <a:ext cx="3063240" cy="365760"/>
          </a:xfrm>
          <a:prstGeom prst="rect">
            <a:avLst/>
          </a:prstGeom>
          <a:noFill/>
        </p:spPr>
        <p:txBody>
          <a:bodyPr wrap="square" lIns="0" rIns="0" tIns="0" bIns="0" anchor="t">
            <a:spAutoFit/>
          </a:bodyPr>
          <a:lstStyle/>
          <a:p>
            <a:pPr algn="l">
              <a:lnSpc>
                <a:spcPct val="115000"/>
              </a:lnSpc>
              <a:spcAft>
                <a:spcPts val="0"/>
              </a:spcAft>
            </a:pPr>
            <a:r>
              <a:rPr sz="1400" b="1">
                <a:solidFill>
                  <a:srgbClr val="59257B"/>
                </a:solidFill>
                <a:latin typeface="Open Sans"/>
              </a:rPr>
              <a:t>Be readable</a:t>
            </a:r>
          </a:p>
        </p:txBody>
      </p:sp>
      <p:sp>
        <p:nvSpPr>
          <p:cNvPr id="12" name="TextBox 11"/>
          <p:cNvSpPr txBox="1"/>
          <p:nvPr/>
        </p:nvSpPr>
        <p:spPr>
          <a:xfrm>
            <a:off x="758952" y="2816352"/>
            <a:ext cx="3063240" cy="1737360"/>
          </a:xfrm>
          <a:prstGeom prst="rect">
            <a:avLst/>
          </a:prstGeom>
          <a:noFill/>
        </p:spPr>
        <p:txBody>
          <a:bodyPr wrap="square" lIns="0" rIns="0" tIns="0" bIns="0" anchor="t">
            <a:spAutoFit/>
          </a:bodyPr>
          <a:lstStyle/>
          <a:p>
            <a:pPr algn="l">
              <a:lnSpc>
                <a:spcPct val="130000"/>
              </a:lnSpc>
              <a:spcAft>
                <a:spcPts val="0"/>
              </a:spcAft>
            </a:pPr>
            <a:r>
              <a:rPr sz="1150" b="0">
                <a:solidFill>
                  <a:srgbClr val="595A5B"/>
                </a:solidFill>
                <a:latin typeface="Open Sans"/>
              </a:rPr>
              <a:t>AI crawlers lift answers from plain, static text. Content hidden behind click-to-open panels or heavy scripting is invisible to them, however good it is. Answer-first writing and question-and-answer formatting are what get quoted.</a:t>
            </a:r>
          </a:p>
        </p:txBody>
      </p:sp>
      <p:sp>
        <p:nvSpPr>
          <p:cNvPr id="13" name="Rectangle 12"/>
          <p:cNvSpPr/>
          <p:nvPr/>
        </p:nvSpPr>
        <p:spPr>
          <a:xfrm>
            <a:off x="758952" y="4553712"/>
            <a:ext cx="3063240" cy="694944"/>
          </a:xfrm>
          <a:prstGeom prst="rect">
            <a:avLst/>
          </a:prstGeom>
          <a:solidFill>
            <a:srgbClr val="E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4654296"/>
            <a:ext cx="2834640" cy="530352"/>
          </a:xfrm>
          <a:prstGeom prst="rect">
            <a:avLst/>
          </a:prstGeom>
          <a:noFill/>
        </p:spPr>
        <p:txBody>
          <a:bodyPr wrap="square" lIns="0" rIns="0" tIns="0" bIns="0" anchor="t">
            <a:spAutoFit/>
          </a:bodyPr>
          <a:lstStyle/>
          <a:p>
            <a:pPr algn="l">
              <a:lnSpc>
                <a:spcPct val="118000"/>
              </a:lnSpc>
              <a:spcAft>
                <a:spcPts val="0"/>
              </a:spcAft>
            </a:pPr>
            <a:r>
              <a:rPr sz="1000" b="1">
                <a:solidFill>
                  <a:srgbClr val="59257B"/>
                </a:solidFill>
                <a:latin typeface="Open Sans"/>
              </a:rPr>
              <a:t>Our PAA presence tripling in Q2 is this working.</a:t>
            </a:r>
          </a:p>
        </p:txBody>
      </p:sp>
      <p:sp>
        <p:nvSpPr>
          <p:cNvPr id="15" name="Rectangle 14"/>
          <p:cNvSpPr/>
          <p:nvPr/>
        </p:nvSpPr>
        <p:spPr>
          <a:xfrm>
            <a:off x="4315968" y="1371600"/>
            <a:ext cx="3566160" cy="3977639"/>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15968" y="1371600"/>
            <a:ext cx="3566160" cy="64008"/>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572000" y="1691640"/>
            <a:ext cx="475488" cy="475488"/>
          </a:xfrm>
          <a:prstGeom prst="ellipse">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1810512"/>
            <a:ext cx="475488" cy="274320"/>
          </a:xfrm>
          <a:prstGeom prst="rect">
            <a:avLst/>
          </a:prstGeom>
          <a:noFill/>
        </p:spPr>
        <p:txBody>
          <a:bodyPr wrap="square" lIns="0" rIns="0" tIns="0" bIns="0" anchor="t">
            <a:spAutoFit/>
          </a:bodyPr>
          <a:lstStyle/>
          <a:p>
            <a:pPr algn="ctr">
              <a:lnSpc>
                <a:spcPct val="115000"/>
              </a:lnSpc>
              <a:spcAft>
                <a:spcPts val="0"/>
              </a:spcAft>
            </a:pPr>
            <a:r>
              <a:rPr sz="1500" b="1">
                <a:solidFill>
                  <a:srgbClr val="FFFFFF"/>
                </a:solidFill>
                <a:latin typeface="Open Sans"/>
              </a:rPr>
              <a:t>2</a:t>
            </a:r>
          </a:p>
        </p:txBody>
      </p:sp>
      <p:sp>
        <p:nvSpPr>
          <p:cNvPr id="19" name="TextBox 18"/>
          <p:cNvSpPr txBox="1"/>
          <p:nvPr/>
        </p:nvSpPr>
        <p:spPr>
          <a:xfrm>
            <a:off x="4572000" y="2359152"/>
            <a:ext cx="3063240" cy="365760"/>
          </a:xfrm>
          <a:prstGeom prst="rect">
            <a:avLst/>
          </a:prstGeom>
          <a:noFill/>
        </p:spPr>
        <p:txBody>
          <a:bodyPr wrap="square" lIns="0" rIns="0" tIns="0" bIns="0" anchor="t">
            <a:spAutoFit/>
          </a:bodyPr>
          <a:lstStyle/>
          <a:p>
            <a:pPr algn="l">
              <a:lnSpc>
                <a:spcPct val="115000"/>
              </a:lnSpc>
              <a:spcAft>
                <a:spcPts val="0"/>
              </a:spcAft>
            </a:pPr>
            <a:r>
              <a:rPr sz="1400" b="1">
                <a:solidFill>
                  <a:srgbClr val="59257B"/>
                </a:solidFill>
                <a:latin typeface="Open Sans"/>
              </a:rPr>
              <a:t>Be repeated</a:t>
            </a:r>
          </a:p>
        </p:txBody>
      </p:sp>
      <p:sp>
        <p:nvSpPr>
          <p:cNvPr id="20" name="TextBox 19"/>
          <p:cNvSpPr txBox="1"/>
          <p:nvPr/>
        </p:nvSpPr>
        <p:spPr>
          <a:xfrm>
            <a:off x="4572000" y="2816352"/>
            <a:ext cx="3063240" cy="1737360"/>
          </a:xfrm>
          <a:prstGeom prst="rect">
            <a:avLst/>
          </a:prstGeom>
          <a:noFill/>
        </p:spPr>
        <p:txBody>
          <a:bodyPr wrap="square" lIns="0" rIns="0" tIns="0" bIns="0" anchor="t">
            <a:spAutoFit/>
          </a:bodyPr>
          <a:lstStyle/>
          <a:p>
            <a:pPr algn="l">
              <a:lnSpc>
                <a:spcPct val="130000"/>
              </a:lnSpc>
              <a:spcAft>
                <a:spcPts val="0"/>
              </a:spcAft>
            </a:pPr>
            <a:r>
              <a:rPr sz="1150" b="0">
                <a:solidFill>
                  <a:srgbClr val="595A5B"/>
                </a:solidFill>
                <a:latin typeface="Open Sans"/>
              </a:rPr>
              <a:t>The engines form their opinion of a company by reading the same description of it across many trusted sites. One well-written page cannot outweigh a hundred third-party sources that describe you differently.</a:t>
            </a:r>
          </a:p>
        </p:txBody>
      </p:sp>
      <p:sp>
        <p:nvSpPr>
          <p:cNvPr id="21" name="Rectangle 20"/>
          <p:cNvSpPr/>
          <p:nvPr/>
        </p:nvSpPr>
        <p:spPr>
          <a:xfrm>
            <a:off x="4572000" y="4553712"/>
            <a:ext cx="3063240" cy="694944"/>
          </a:xfrm>
          <a:prstGeom prst="rect">
            <a:avLst/>
          </a:prstGeom>
          <a:solidFill>
            <a:srgbClr val="E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00016" y="4654296"/>
            <a:ext cx="2834640" cy="530352"/>
          </a:xfrm>
          <a:prstGeom prst="rect">
            <a:avLst/>
          </a:prstGeom>
          <a:noFill/>
        </p:spPr>
        <p:txBody>
          <a:bodyPr wrap="square" lIns="0" rIns="0" tIns="0" bIns="0" anchor="t">
            <a:spAutoFit/>
          </a:bodyPr>
          <a:lstStyle/>
          <a:p>
            <a:pPr algn="l">
              <a:lnSpc>
                <a:spcPct val="118000"/>
              </a:lnSpc>
              <a:spcAft>
                <a:spcPts val="0"/>
              </a:spcAft>
            </a:pPr>
            <a:r>
              <a:rPr sz="1000" b="1">
                <a:solidFill>
                  <a:srgbClr val="59257B"/>
                </a:solidFill>
                <a:latin typeface="Open Sans"/>
              </a:rPr>
              <a:t>Hence the review, directory and marketplace clean-up.</a:t>
            </a:r>
          </a:p>
        </p:txBody>
      </p:sp>
      <p:sp>
        <p:nvSpPr>
          <p:cNvPr id="23" name="Rectangle 22"/>
          <p:cNvSpPr/>
          <p:nvPr/>
        </p:nvSpPr>
        <p:spPr>
          <a:xfrm>
            <a:off x="8119872" y="1371600"/>
            <a:ext cx="3566160" cy="3977639"/>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19872" y="1371600"/>
            <a:ext cx="3566160" cy="64008"/>
          </a:xfrm>
          <a:prstGeom prst="rect">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375904" y="1691640"/>
            <a:ext cx="475488" cy="475488"/>
          </a:xfrm>
          <a:prstGeom prst="ellipse">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75904" y="1810512"/>
            <a:ext cx="475488" cy="274320"/>
          </a:xfrm>
          <a:prstGeom prst="rect">
            <a:avLst/>
          </a:prstGeom>
          <a:noFill/>
        </p:spPr>
        <p:txBody>
          <a:bodyPr wrap="square" lIns="0" rIns="0" tIns="0" bIns="0" anchor="t">
            <a:spAutoFit/>
          </a:bodyPr>
          <a:lstStyle/>
          <a:p>
            <a:pPr algn="ctr">
              <a:lnSpc>
                <a:spcPct val="115000"/>
              </a:lnSpc>
              <a:spcAft>
                <a:spcPts val="0"/>
              </a:spcAft>
            </a:pPr>
            <a:r>
              <a:rPr sz="1500" b="1">
                <a:solidFill>
                  <a:srgbClr val="FFFFFF"/>
                </a:solidFill>
                <a:latin typeface="Open Sans"/>
              </a:rPr>
              <a:t>3</a:t>
            </a:r>
          </a:p>
        </p:txBody>
      </p:sp>
      <p:sp>
        <p:nvSpPr>
          <p:cNvPr id="27" name="TextBox 26"/>
          <p:cNvSpPr txBox="1"/>
          <p:nvPr/>
        </p:nvSpPr>
        <p:spPr>
          <a:xfrm>
            <a:off x="8375904" y="2359152"/>
            <a:ext cx="3063240" cy="365760"/>
          </a:xfrm>
          <a:prstGeom prst="rect">
            <a:avLst/>
          </a:prstGeom>
          <a:noFill/>
        </p:spPr>
        <p:txBody>
          <a:bodyPr wrap="square" lIns="0" rIns="0" tIns="0" bIns="0" anchor="t">
            <a:spAutoFit/>
          </a:bodyPr>
          <a:lstStyle/>
          <a:p>
            <a:pPr algn="l">
              <a:lnSpc>
                <a:spcPct val="115000"/>
              </a:lnSpc>
              <a:spcAft>
                <a:spcPts val="0"/>
              </a:spcAft>
            </a:pPr>
            <a:r>
              <a:rPr sz="1400" b="1">
                <a:solidFill>
                  <a:srgbClr val="59257B"/>
                </a:solidFill>
                <a:latin typeface="Open Sans"/>
              </a:rPr>
              <a:t>Be named</a:t>
            </a:r>
          </a:p>
        </p:txBody>
      </p:sp>
      <p:sp>
        <p:nvSpPr>
          <p:cNvPr id="28" name="TextBox 27"/>
          <p:cNvSpPr txBox="1"/>
          <p:nvPr/>
        </p:nvSpPr>
        <p:spPr>
          <a:xfrm>
            <a:off x="8375904" y="2816352"/>
            <a:ext cx="3063240" cy="1737360"/>
          </a:xfrm>
          <a:prstGeom prst="rect">
            <a:avLst/>
          </a:prstGeom>
          <a:noFill/>
        </p:spPr>
        <p:txBody>
          <a:bodyPr wrap="square" lIns="0" rIns="0" tIns="0" bIns="0" anchor="t">
            <a:spAutoFit/>
          </a:bodyPr>
          <a:lstStyle/>
          <a:p>
            <a:pPr algn="l">
              <a:lnSpc>
                <a:spcPct val="130000"/>
              </a:lnSpc>
              <a:spcAft>
                <a:spcPts val="0"/>
              </a:spcAft>
            </a:pPr>
            <a:r>
              <a:rPr sz="1150" b="0">
                <a:solidFill>
                  <a:srgbClr val="595A5B"/>
                </a:solidFill>
                <a:latin typeface="Open Sans"/>
              </a:rPr>
              <a:t>Being cited as a source and being named as a vendor are different outcomes. Citations follow good content. Mentions follow earned coverage — analyst placements, press and third-party authority.</a:t>
            </a:r>
          </a:p>
        </p:txBody>
      </p:sp>
      <p:sp>
        <p:nvSpPr>
          <p:cNvPr id="29" name="Rectangle 28"/>
          <p:cNvSpPr/>
          <p:nvPr/>
        </p:nvSpPr>
        <p:spPr>
          <a:xfrm>
            <a:off x="8375904" y="4553712"/>
            <a:ext cx="3063240" cy="694944"/>
          </a:xfrm>
          <a:prstGeom prst="rect">
            <a:avLst/>
          </a:prstGeom>
          <a:solidFill>
            <a:srgbClr val="E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3920" y="4654296"/>
            <a:ext cx="2834640" cy="530352"/>
          </a:xfrm>
          <a:prstGeom prst="rect">
            <a:avLst/>
          </a:prstGeom>
          <a:noFill/>
        </p:spPr>
        <p:txBody>
          <a:bodyPr wrap="square" lIns="0" rIns="0" tIns="0" bIns="0" anchor="t">
            <a:spAutoFit/>
          </a:bodyPr>
          <a:lstStyle/>
          <a:p>
            <a:pPr algn="l">
              <a:lnSpc>
                <a:spcPct val="118000"/>
              </a:lnSpc>
              <a:spcAft>
                <a:spcPts val="0"/>
              </a:spcAft>
            </a:pPr>
            <a:r>
              <a:rPr sz="1000" b="1">
                <a:solidFill>
                  <a:srgbClr val="59257B"/>
                </a:solidFill>
                <a:latin typeface="Open Sans"/>
              </a:rPr>
              <a:t>June 2026 baseline: our domain was 3% of the 594 sources feeding our 50 prompts.</a:t>
            </a:r>
          </a:p>
        </p:txBody>
      </p:sp>
      <p:sp>
        <p:nvSpPr>
          <p:cNvPr id="31" name="Rectangle 30"/>
          <p:cNvSpPr/>
          <p:nvPr/>
        </p:nvSpPr>
        <p:spPr>
          <a:xfrm>
            <a:off x="502920" y="5577840"/>
            <a:ext cx="11183112" cy="731520"/>
          </a:xfrm>
          <a:prstGeom prst="rect">
            <a:avLst/>
          </a:prstGeom>
          <a:solidFill>
            <a:srgbClr val="E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2920" y="5577840"/>
            <a:ext cx="54864" cy="731520"/>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3232" y="5705856"/>
            <a:ext cx="10789920" cy="548640"/>
          </a:xfrm>
          <a:prstGeom prst="rect">
            <a:avLst/>
          </a:prstGeom>
          <a:noFill/>
        </p:spPr>
        <p:txBody>
          <a:bodyPr wrap="square" lIns="0" rIns="0" tIns="0" bIns="0" anchor="t">
            <a:spAutoFit/>
          </a:bodyPr>
          <a:lstStyle/>
          <a:p>
            <a:pPr algn="l">
              <a:lnSpc>
                <a:spcPct val="122000"/>
              </a:lnSpc>
              <a:spcAft>
                <a:spcPts val="0"/>
              </a:spcAft>
            </a:pPr>
            <a:r>
              <a:rPr sz="1200" b="1">
                <a:solidFill>
                  <a:srgbClr val="59257B"/>
                </a:solidFill>
                <a:latin typeface="Open Sans"/>
              </a:rPr>
              <a:t>The strategic consequence: on the June baseline, publishing more on komprise.com moves roughly 3% of what the engines read. Shifting how we are described requires the third-party and PR work to run in parallel with content — which is why Q3 is weighted that way.</a:t>
            </a:r>
          </a:p>
        </p:txBody>
      </p:sp>
      <p:sp>
        <p:nvSpPr>
          <p:cNvPr id="34" name="TextBox 33"/>
          <p:cNvSpPr txBox="1"/>
          <p:nvPr/>
        </p:nvSpPr>
        <p:spPr>
          <a:xfrm>
            <a:off x="502920" y="6528816"/>
            <a:ext cx="6400800" cy="228600"/>
          </a:xfrm>
          <a:prstGeom prst="rect">
            <a:avLst/>
          </a:prstGeom>
          <a:noFill/>
        </p:spPr>
        <p:txBody>
          <a:bodyPr wrap="square" lIns="0" rIns="0" tIns="0" bIns="0" anchor="t">
            <a:spAutoFit/>
          </a:bodyPr>
          <a:lstStyle/>
          <a:p>
            <a:pPr algn="l">
              <a:lnSpc>
                <a:spcPct val="115000"/>
              </a:lnSpc>
              <a:spcAft>
                <a:spcPts val="0"/>
              </a:spcAft>
            </a:pPr>
            <a:r>
              <a:rPr sz="900" b="0">
                <a:solidFill>
                  <a:srgbClr val="8A8A8D"/>
                </a:solidFill>
                <a:latin typeface="Open Sans"/>
              </a:rPr>
              <a:t>Komprise GEO / SEO  —  Q2 2026 Board Update</a:t>
            </a:r>
          </a:p>
        </p:txBody>
      </p:sp>
      <p:sp>
        <p:nvSpPr>
          <p:cNvPr id="35" name="TextBox 34"/>
          <p:cNvSpPr txBox="1"/>
          <p:nvPr/>
        </p:nvSpPr>
        <p:spPr>
          <a:xfrm>
            <a:off x="10881360" y="6528816"/>
            <a:ext cx="822960" cy="228600"/>
          </a:xfrm>
          <a:prstGeom prst="rect">
            <a:avLst/>
          </a:prstGeom>
          <a:noFill/>
        </p:spPr>
        <p:txBody>
          <a:bodyPr wrap="square" lIns="0" rIns="0" tIns="0" bIns="0" anchor="t">
            <a:spAutoFit/>
          </a:bodyPr>
          <a:lstStyle/>
          <a:p>
            <a:pPr algn="r">
              <a:lnSpc>
                <a:spcPct val="115000"/>
              </a:lnSpc>
              <a:spcAft>
                <a:spcPts val="0"/>
              </a:spcAft>
            </a:pPr>
            <a:r>
              <a:rPr sz="900" b="0">
                <a:solidFill>
                  <a:srgbClr val="8A8A8D"/>
                </a:solidFill>
                <a:latin typeface="Open San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74320"/>
            <a:ext cx="9692640" cy="548640"/>
          </a:xfrm>
          <a:prstGeom prst="rect">
            <a:avLst/>
          </a:prstGeom>
          <a:noFill/>
        </p:spPr>
        <p:txBody>
          <a:bodyPr wrap="square" lIns="0" rIns="0" tIns="0" bIns="0" anchor="t">
            <a:spAutoFit/>
          </a:bodyPr>
          <a:lstStyle/>
          <a:p>
            <a:pPr algn="l">
              <a:lnSpc>
                <a:spcPct val="115000"/>
              </a:lnSpc>
              <a:spcAft>
                <a:spcPts val="0"/>
              </a:spcAft>
            </a:pPr>
            <a:r>
              <a:rPr sz="2500" b="1">
                <a:solidFill>
                  <a:srgbClr val="59257B"/>
                </a:solidFill>
                <a:latin typeface="Open Sans"/>
              </a:rPr>
              <a:t>What We Track Going Forward</a:t>
            </a:r>
          </a:p>
        </p:txBody>
      </p:sp>
      <p:sp>
        <p:nvSpPr>
          <p:cNvPr id="6" name="TextBox 5"/>
          <p:cNvSpPr txBox="1"/>
          <p:nvPr/>
        </p:nvSpPr>
        <p:spPr>
          <a:xfrm>
            <a:off x="502920" y="804672"/>
            <a:ext cx="10241280" cy="292608"/>
          </a:xfrm>
          <a:prstGeom prst="rect">
            <a:avLst/>
          </a:prstGeom>
          <a:noFill/>
        </p:spPr>
        <p:txBody>
          <a:bodyPr wrap="square" lIns="0" rIns="0" tIns="0" bIns="0" anchor="t">
            <a:spAutoFit/>
          </a:bodyPr>
          <a:lstStyle/>
          <a:p>
            <a:pPr algn="l">
              <a:lnSpc>
                <a:spcPct val="115000"/>
              </a:lnSpc>
              <a:spcAft>
                <a:spcPts val="0"/>
              </a:spcAft>
            </a:pPr>
            <a:r>
              <a:rPr sz="1250" b="0">
                <a:solidFill>
                  <a:srgbClr val="595A5B"/>
                </a:solidFill>
                <a:latin typeface="Open Sans"/>
              </a:rPr>
              <a:t>The 50 AI prompts now under continuous measurement, live in Semrush since 10 June 2026</a:t>
            </a:r>
          </a:p>
        </p:txBody>
      </p:sp>
      <p:sp>
        <p:nvSpPr>
          <p:cNvPr id="7" name="Rectangle 6"/>
          <p:cNvSpPr/>
          <p:nvPr/>
        </p:nvSpPr>
        <p:spPr>
          <a:xfrm>
            <a:off x="502920" y="1325880"/>
            <a:ext cx="2157984" cy="12801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325880"/>
            <a:ext cx="2157984" cy="64008"/>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536192"/>
            <a:ext cx="1783080" cy="502920"/>
          </a:xfrm>
          <a:prstGeom prst="rect">
            <a:avLst/>
          </a:prstGeom>
          <a:noFill/>
        </p:spPr>
        <p:txBody>
          <a:bodyPr wrap="square" lIns="0" rIns="0" tIns="0" bIns="0" anchor="t">
            <a:spAutoFit/>
          </a:bodyPr>
          <a:lstStyle/>
          <a:p>
            <a:pPr algn="l">
              <a:lnSpc>
                <a:spcPct val="115000"/>
              </a:lnSpc>
              <a:spcAft>
                <a:spcPts val="0"/>
              </a:spcAft>
            </a:pPr>
            <a:r>
              <a:rPr sz="2700" b="1">
                <a:solidFill>
                  <a:srgbClr val="7A9905"/>
                </a:solidFill>
                <a:latin typeface="Open Sans"/>
              </a:rPr>
              <a:t>16</a:t>
            </a:r>
          </a:p>
        </p:txBody>
      </p:sp>
      <p:sp>
        <p:nvSpPr>
          <p:cNvPr id="10" name="TextBox 9"/>
          <p:cNvSpPr txBox="1"/>
          <p:nvPr/>
        </p:nvSpPr>
        <p:spPr>
          <a:xfrm>
            <a:off x="704088" y="2029968"/>
            <a:ext cx="1783080" cy="502920"/>
          </a:xfrm>
          <a:prstGeom prst="rect">
            <a:avLst/>
          </a:prstGeom>
          <a:noFill/>
        </p:spPr>
        <p:txBody>
          <a:bodyPr wrap="square" lIns="0" rIns="0" tIns="0" bIns="0" anchor="t">
            <a:spAutoFit/>
          </a:bodyPr>
          <a:lstStyle/>
          <a:p>
            <a:pPr algn="l">
              <a:lnSpc>
                <a:spcPct val="118000"/>
              </a:lnSpc>
              <a:spcAft>
                <a:spcPts val="0"/>
              </a:spcAft>
            </a:pPr>
            <a:r>
              <a:rPr sz="1050" b="1">
                <a:solidFill>
                  <a:srgbClr val="59257B"/>
                </a:solidFill>
                <a:latin typeface="Open Sans"/>
              </a:rPr>
              <a:t>AI &amp; AI-Readiness</a:t>
            </a:r>
          </a:p>
        </p:txBody>
      </p:sp>
      <p:sp>
        <p:nvSpPr>
          <p:cNvPr id="11" name="Rectangle 10"/>
          <p:cNvSpPr/>
          <p:nvPr/>
        </p:nvSpPr>
        <p:spPr>
          <a:xfrm>
            <a:off x="2743200" y="1325880"/>
            <a:ext cx="2157984" cy="12801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0" y="1325880"/>
            <a:ext cx="2157984" cy="64008"/>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44368" y="1536192"/>
            <a:ext cx="1783080" cy="502920"/>
          </a:xfrm>
          <a:prstGeom prst="rect">
            <a:avLst/>
          </a:prstGeom>
          <a:noFill/>
        </p:spPr>
        <p:txBody>
          <a:bodyPr wrap="square" lIns="0" rIns="0" tIns="0" bIns="0" anchor="t">
            <a:spAutoFit/>
          </a:bodyPr>
          <a:lstStyle/>
          <a:p>
            <a:pPr algn="l">
              <a:lnSpc>
                <a:spcPct val="115000"/>
              </a:lnSpc>
              <a:spcAft>
                <a:spcPts val="0"/>
              </a:spcAft>
            </a:pPr>
            <a:r>
              <a:rPr sz="2700" b="1">
                <a:solidFill>
                  <a:srgbClr val="59257B"/>
                </a:solidFill>
                <a:latin typeface="Open Sans"/>
              </a:rPr>
              <a:t>11</a:t>
            </a:r>
          </a:p>
        </p:txBody>
      </p:sp>
      <p:sp>
        <p:nvSpPr>
          <p:cNvPr id="14" name="TextBox 13"/>
          <p:cNvSpPr txBox="1"/>
          <p:nvPr/>
        </p:nvSpPr>
        <p:spPr>
          <a:xfrm>
            <a:off x="2944368" y="2029968"/>
            <a:ext cx="1783080" cy="502920"/>
          </a:xfrm>
          <a:prstGeom prst="rect">
            <a:avLst/>
          </a:prstGeom>
          <a:noFill/>
        </p:spPr>
        <p:txBody>
          <a:bodyPr wrap="square" lIns="0" rIns="0" tIns="0" bIns="0" anchor="t">
            <a:spAutoFit/>
          </a:bodyPr>
          <a:lstStyle/>
          <a:p>
            <a:pPr algn="l">
              <a:lnSpc>
                <a:spcPct val="118000"/>
              </a:lnSpc>
              <a:spcAft>
                <a:spcPts val="0"/>
              </a:spcAft>
            </a:pPr>
            <a:r>
              <a:rPr sz="1050" b="1">
                <a:solidFill>
                  <a:srgbClr val="59257B"/>
                </a:solidFill>
                <a:latin typeface="Open Sans"/>
              </a:rPr>
              <a:t>Unstructured Data Management</a:t>
            </a:r>
          </a:p>
        </p:txBody>
      </p:sp>
      <p:sp>
        <p:nvSpPr>
          <p:cNvPr id="15" name="Rectangle 14"/>
          <p:cNvSpPr/>
          <p:nvPr/>
        </p:nvSpPr>
        <p:spPr>
          <a:xfrm>
            <a:off x="4983480" y="1325880"/>
            <a:ext cx="2157984" cy="12801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983480" y="1325880"/>
            <a:ext cx="2157984" cy="64008"/>
          </a:xfrm>
          <a:prstGeom prst="rect">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84648" y="1536192"/>
            <a:ext cx="1783080" cy="502920"/>
          </a:xfrm>
          <a:prstGeom prst="rect">
            <a:avLst/>
          </a:prstGeom>
          <a:noFill/>
        </p:spPr>
        <p:txBody>
          <a:bodyPr wrap="square" lIns="0" rIns="0" tIns="0" bIns="0" anchor="t">
            <a:spAutoFit/>
          </a:bodyPr>
          <a:lstStyle/>
          <a:p>
            <a:pPr algn="l">
              <a:lnSpc>
                <a:spcPct val="115000"/>
              </a:lnSpc>
              <a:spcAft>
                <a:spcPts val="0"/>
              </a:spcAft>
            </a:pPr>
            <a:r>
              <a:rPr sz="2700" b="1">
                <a:solidFill>
                  <a:srgbClr val="C88A1E"/>
                </a:solidFill>
                <a:latin typeface="Open Sans"/>
              </a:rPr>
              <a:t>8</a:t>
            </a:r>
          </a:p>
        </p:txBody>
      </p:sp>
      <p:sp>
        <p:nvSpPr>
          <p:cNvPr id="18" name="TextBox 17"/>
          <p:cNvSpPr txBox="1"/>
          <p:nvPr/>
        </p:nvSpPr>
        <p:spPr>
          <a:xfrm>
            <a:off x="5184648" y="2029968"/>
            <a:ext cx="1783080" cy="502920"/>
          </a:xfrm>
          <a:prstGeom prst="rect">
            <a:avLst/>
          </a:prstGeom>
          <a:noFill/>
        </p:spPr>
        <p:txBody>
          <a:bodyPr wrap="square" lIns="0" rIns="0" tIns="0" bIns="0" anchor="t">
            <a:spAutoFit/>
          </a:bodyPr>
          <a:lstStyle/>
          <a:p>
            <a:pPr algn="l">
              <a:lnSpc>
                <a:spcPct val="118000"/>
              </a:lnSpc>
              <a:spcAft>
                <a:spcPts val="0"/>
              </a:spcAft>
            </a:pPr>
            <a:r>
              <a:rPr sz="1050" b="1">
                <a:solidFill>
                  <a:srgbClr val="59257B"/>
                </a:solidFill>
                <a:latin typeface="Open Sans"/>
              </a:rPr>
              <a:t>Data Classification</a:t>
            </a:r>
          </a:p>
        </p:txBody>
      </p:sp>
      <p:sp>
        <p:nvSpPr>
          <p:cNvPr id="19" name="Rectangle 18"/>
          <p:cNvSpPr/>
          <p:nvPr/>
        </p:nvSpPr>
        <p:spPr>
          <a:xfrm>
            <a:off x="7223760" y="1325880"/>
            <a:ext cx="2157984" cy="12801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223760" y="1325880"/>
            <a:ext cx="2157984" cy="64008"/>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24928" y="1536192"/>
            <a:ext cx="1783080" cy="502920"/>
          </a:xfrm>
          <a:prstGeom prst="rect">
            <a:avLst/>
          </a:prstGeom>
          <a:noFill/>
        </p:spPr>
        <p:txBody>
          <a:bodyPr wrap="square" lIns="0" rIns="0" tIns="0" bIns="0" anchor="t">
            <a:spAutoFit/>
          </a:bodyPr>
          <a:lstStyle/>
          <a:p>
            <a:pPr algn="l">
              <a:lnSpc>
                <a:spcPct val="115000"/>
              </a:lnSpc>
              <a:spcAft>
                <a:spcPts val="0"/>
              </a:spcAft>
            </a:pPr>
            <a:r>
              <a:rPr sz="2700" b="1">
                <a:solidFill>
                  <a:srgbClr val="59257B"/>
                </a:solidFill>
                <a:latin typeface="Open Sans"/>
              </a:rPr>
              <a:t>8</a:t>
            </a:r>
          </a:p>
        </p:txBody>
      </p:sp>
      <p:sp>
        <p:nvSpPr>
          <p:cNvPr id="22" name="TextBox 21"/>
          <p:cNvSpPr txBox="1"/>
          <p:nvPr/>
        </p:nvSpPr>
        <p:spPr>
          <a:xfrm>
            <a:off x="7424928" y="2029968"/>
            <a:ext cx="1783080" cy="502920"/>
          </a:xfrm>
          <a:prstGeom prst="rect">
            <a:avLst/>
          </a:prstGeom>
          <a:noFill/>
        </p:spPr>
        <p:txBody>
          <a:bodyPr wrap="square" lIns="0" rIns="0" tIns="0" bIns="0" anchor="t">
            <a:spAutoFit/>
          </a:bodyPr>
          <a:lstStyle/>
          <a:p>
            <a:pPr algn="l">
              <a:lnSpc>
                <a:spcPct val="118000"/>
              </a:lnSpc>
              <a:spcAft>
                <a:spcPts val="0"/>
              </a:spcAft>
            </a:pPr>
            <a:r>
              <a:rPr sz="1050" b="1">
                <a:solidFill>
                  <a:srgbClr val="59257B"/>
                </a:solidFill>
                <a:latin typeface="Open Sans"/>
              </a:rPr>
              <a:t>Data Tiering &amp; Storage Efficiency</a:t>
            </a:r>
          </a:p>
        </p:txBody>
      </p:sp>
      <p:sp>
        <p:nvSpPr>
          <p:cNvPr id="23" name="Rectangle 22"/>
          <p:cNvSpPr/>
          <p:nvPr/>
        </p:nvSpPr>
        <p:spPr>
          <a:xfrm>
            <a:off x="9464040" y="1325880"/>
            <a:ext cx="2157984" cy="12801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464040" y="1325880"/>
            <a:ext cx="2157984" cy="64008"/>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65208" y="1536192"/>
            <a:ext cx="1783080" cy="502920"/>
          </a:xfrm>
          <a:prstGeom prst="rect">
            <a:avLst/>
          </a:prstGeom>
          <a:noFill/>
        </p:spPr>
        <p:txBody>
          <a:bodyPr wrap="square" lIns="0" rIns="0" tIns="0" bIns="0" anchor="t">
            <a:spAutoFit/>
          </a:bodyPr>
          <a:lstStyle/>
          <a:p>
            <a:pPr algn="l">
              <a:lnSpc>
                <a:spcPct val="115000"/>
              </a:lnSpc>
              <a:spcAft>
                <a:spcPts val="0"/>
              </a:spcAft>
            </a:pPr>
            <a:r>
              <a:rPr sz="2700" b="1">
                <a:solidFill>
                  <a:srgbClr val="7A9905"/>
                </a:solidFill>
                <a:latin typeface="Open Sans"/>
              </a:rPr>
              <a:t>7</a:t>
            </a:r>
          </a:p>
        </p:txBody>
      </p:sp>
      <p:sp>
        <p:nvSpPr>
          <p:cNvPr id="26" name="TextBox 25"/>
          <p:cNvSpPr txBox="1"/>
          <p:nvPr/>
        </p:nvSpPr>
        <p:spPr>
          <a:xfrm>
            <a:off x="9665208" y="2029968"/>
            <a:ext cx="1783080" cy="502920"/>
          </a:xfrm>
          <a:prstGeom prst="rect">
            <a:avLst/>
          </a:prstGeom>
          <a:noFill/>
        </p:spPr>
        <p:txBody>
          <a:bodyPr wrap="square" lIns="0" rIns="0" tIns="0" bIns="0" anchor="t">
            <a:spAutoFit/>
          </a:bodyPr>
          <a:lstStyle/>
          <a:p>
            <a:pPr algn="l">
              <a:lnSpc>
                <a:spcPct val="118000"/>
              </a:lnSpc>
              <a:spcAft>
                <a:spcPts val="0"/>
              </a:spcAft>
            </a:pPr>
            <a:r>
              <a:rPr sz="1050" b="1">
                <a:solidFill>
                  <a:srgbClr val="59257B"/>
                </a:solidFill>
                <a:latin typeface="Open Sans"/>
              </a:rPr>
              <a:t>Migration &amp; Lifecycle</a:t>
            </a:r>
          </a:p>
        </p:txBody>
      </p:sp>
      <p:sp>
        <p:nvSpPr>
          <p:cNvPr id="27" name="TextBox 26"/>
          <p:cNvSpPr txBox="1"/>
          <p:nvPr/>
        </p:nvSpPr>
        <p:spPr>
          <a:xfrm>
            <a:off x="502920" y="2834640"/>
            <a:ext cx="11183112" cy="292608"/>
          </a:xfrm>
          <a:prstGeom prst="rect">
            <a:avLst/>
          </a:prstGeom>
          <a:noFill/>
        </p:spPr>
        <p:txBody>
          <a:bodyPr wrap="square" lIns="0" rIns="0" tIns="0" bIns="0" anchor="t">
            <a:spAutoFit/>
          </a:bodyPr>
          <a:lstStyle/>
          <a:p>
            <a:pPr algn="l">
              <a:lnSpc>
                <a:spcPct val="115000"/>
              </a:lnSpc>
              <a:spcAft>
                <a:spcPts val="0"/>
              </a:spcAft>
            </a:pPr>
            <a:r>
              <a:rPr sz="1250" b="1">
                <a:solidFill>
                  <a:srgbClr val="59257B"/>
                </a:solidFill>
                <a:latin typeface="Open Sans"/>
              </a:rPr>
              <a:t>Representative prompts under measurement</a:t>
            </a:r>
          </a:p>
        </p:txBody>
      </p:sp>
      <p:sp>
        <p:nvSpPr>
          <p:cNvPr id="28" name="Rectangle 27"/>
          <p:cNvSpPr/>
          <p:nvPr/>
        </p:nvSpPr>
        <p:spPr>
          <a:xfrm>
            <a:off x="502920" y="3218688"/>
            <a:ext cx="5504688" cy="34747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3300984"/>
            <a:ext cx="5166360" cy="237744"/>
          </a:xfrm>
          <a:prstGeom prst="rect">
            <a:avLst/>
          </a:prstGeom>
          <a:noFill/>
        </p:spPr>
        <p:txBody>
          <a:bodyPr wrap="square" lIns="0" rIns="0" tIns="0" bIns="0" anchor="t">
            <a:spAutoFit/>
          </a:bodyPr>
          <a:lstStyle/>
          <a:p>
            <a:pPr algn="l">
              <a:lnSpc>
                <a:spcPct val="115000"/>
              </a:lnSpc>
              <a:spcAft>
                <a:spcPts val="0"/>
              </a:spcAft>
            </a:pPr>
            <a:r>
              <a:rPr sz="1100" b="0">
                <a:solidFill>
                  <a:srgbClr val="262428"/>
                </a:solidFill>
                <a:latin typeface="Open Sans"/>
              </a:rPr>
              <a:t>What are the best tools for managing unstructured data?</a:t>
            </a:r>
          </a:p>
        </p:txBody>
      </p:sp>
      <p:sp>
        <p:nvSpPr>
          <p:cNvPr id="30" name="Rectangle 29"/>
          <p:cNvSpPr/>
          <p:nvPr/>
        </p:nvSpPr>
        <p:spPr>
          <a:xfrm>
            <a:off x="502920" y="3639312"/>
            <a:ext cx="5504688" cy="34747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3721608"/>
            <a:ext cx="5166360" cy="237744"/>
          </a:xfrm>
          <a:prstGeom prst="rect">
            <a:avLst/>
          </a:prstGeom>
          <a:noFill/>
        </p:spPr>
        <p:txBody>
          <a:bodyPr wrap="square" lIns="0" rIns="0" tIns="0" bIns="0" anchor="t">
            <a:spAutoFit/>
          </a:bodyPr>
          <a:lstStyle/>
          <a:p>
            <a:pPr algn="l">
              <a:lnSpc>
                <a:spcPct val="115000"/>
              </a:lnSpc>
              <a:spcAft>
                <a:spcPts val="0"/>
              </a:spcAft>
            </a:pPr>
            <a:r>
              <a:rPr sz="1100" b="0">
                <a:solidFill>
                  <a:srgbClr val="262428"/>
                </a:solidFill>
                <a:latin typeface="Open Sans"/>
              </a:rPr>
              <a:t>What is an AI-ready data platform?</a:t>
            </a:r>
          </a:p>
        </p:txBody>
      </p:sp>
      <p:sp>
        <p:nvSpPr>
          <p:cNvPr id="32" name="Rectangle 31"/>
          <p:cNvSpPr/>
          <p:nvPr/>
        </p:nvSpPr>
        <p:spPr>
          <a:xfrm>
            <a:off x="502920" y="4059936"/>
            <a:ext cx="5504688" cy="34747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4142232"/>
            <a:ext cx="5166360" cy="237744"/>
          </a:xfrm>
          <a:prstGeom prst="rect">
            <a:avLst/>
          </a:prstGeom>
          <a:noFill/>
        </p:spPr>
        <p:txBody>
          <a:bodyPr wrap="square" lIns="0" rIns="0" tIns="0" bIns="0" anchor="t">
            <a:spAutoFit/>
          </a:bodyPr>
          <a:lstStyle/>
          <a:p>
            <a:pPr algn="l">
              <a:lnSpc>
                <a:spcPct val="115000"/>
              </a:lnSpc>
              <a:spcAft>
                <a:spcPts val="0"/>
              </a:spcAft>
            </a:pPr>
            <a:r>
              <a:rPr sz="1100" b="0">
                <a:solidFill>
                  <a:srgbClr val="262428"/>
                </a:solidFill>
                <a:latin typeface="Open Sans"/>
              </a:rPr>
              <a:t>How do organizations prepare unstructured data for AI?</a:t>
            </a:r>
          </a:p>
        </p:txBody>
      </p:sp>
      <p:sp>
        <p:nvSpPr>
          <p:cNvPr id="34" name="Rectangle 33"/>
          <p:cNvSpPr/>
          <p:nvPr/>
        </p:nvSpPr>
        <p:spPr>
          <a:xfrm>
            <a:off x="502920" y="4480560"/>
            <a:ext cx="5504688" cy="34747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 y="4562856"/>
            <a:ext cx="5166360" cy="237744"/>
          </a:xfrm>
          <a:prstGeom prst="rect">
            <a:avLst/>
          </a:prstGeom>
          <a:noFill/>
        </p:spPr>
        <p:txBody>
          <a:bodyPr wrap="square" lIns="0" rIns="0" tIns="0" bIns="0" anchor="t">
            <a:spAutoFit/>
          </a:bodyPr>
          <a:lstStyle/>
          <a:p>
            <a:pPr algn="l">
              <a:lnSpc>
                <a:spcPct val="115000"/>
              </a:lnSpc>
              <a:spcAft>
                <a:spcPts val="0"/>
              </a:spcAft>
            </a:pPr>
            <a:r>
              <a:rPr sz="1100" b="0">
                <a:solidFill>
                  <a:srgbClr val="262428"/>
                </a:solidFill>
                <a:latin typeface="Open Sans"/>
              </a:rPr>
              <a:t>What are the benefits of intelligent data tiering?</a:t>
            </a:r>
          </a:p>
        </p:txBody>
      </p:sp>
      <p:sp>
        <p:nvSpPr>
          <p:cNvPr id="36" name="Rectangle 35"/>
          <p:cNvSpPr/>
          <p:nvPr/>
        </p:nvSpPr>
        <p:spPr>
          <a:xfrm>
            <a:off x="6181344" y="3218688"/>
            <a:ext cx="5504688" cy="34747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64224" y="3300984"/>
            <a:ext cx="5166360" cy="237744"/>
          </a:xfrm>
          <a:prstGeom prst="rect">
            <a:avLst/>
          </a:prstGeom>
          <a:noFill/>
        </p:spPr>
        <p:txBody>
          <a:bodyPr wrap="square" lIns="0" rIns="0" tIns="0" bIns="0" anchor="t">
            <a:spAutoFit/>
          </a:bodyPr>
          <a:lstStyle/>
          <a:p>
            <a:pPr algn="l">
              <a:lnSpc>
                <a:spcPct val="115000"/>
              </a:lnSpc>
              <a:spcAft>
                <a:spcPts val="0"/>
              </a:spcAft>
            </a:pPr>
            <a:r>
              <a:rPr sz="1100" b="0">
                <a:solidFill>
                  <a:srgbClr val="262428"/>
                </a:solidFill>
                <a:latin typeface="Open Sans"/>
              </a:rPr>
              <a:t>What are the best tools for AI data ingestion?</a:t>
            </a:r>
          </a:p>
        </p:txBody>
      </p:sp>
      <p:sp>
        <p:nvSpPr>
          <p:cNvPr id="38" name="Rectangle 37"/>
          <p:cNvSpPr/>
          <p:nvPr/>
        </p:nvSpPr>
        <p:spPr>
          <a:xfrm>
            <a:off x="6181344" y="3639312"/>
            <a:ext cx="5504688" cy="34747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64224" y="3721608"/>
            <a:ext cx="5166360" cy="237744"/>
          </a:xfrm>
          <a:prstGeom prst="rect">
            <a:avLst/>
          </a:prstGeom>
          <a:noFill/>
        </p:spPr>
        <p:txBody>
          <a:bodyPr wrap="square" lIns="0" rIns="0" tIns="0" bIns="0" anchor="t">
            <a:spAutoFit/>
          </a:bodyPr>
          <a:lstStyle/>
          <a:p>
            <a:pPr algn="l">
              <a:lnSpc>
                <a:spcPct val="115000"/>
              </a:lnSpc>
              <a:spcAft>
                <a:spcPts val="0"/>
              </a:spcAft>
            </a:pPr>
            <a:r>
              <a:rPr sz="1100" b="0">
                <a:solidFill>
                  <a:srgbClr val="262428"/>
                </a:solidFill>
                <a:latin typeface="Open Sans"/>
              </a:rPr>
              <a:t>How does automated data tiering reduce storage costs?</a:t>
            </a:r>
          </a:p>
        </p:txBody>
      </p:sp>
      <p:sp>
        <p:nvSpPr>
          <p:cNvPr id="40" name="Rectangle 39"/>
          <p:cNvSpPr/>
          <p:nvPr/>
        </p:nvSpPr>
        <p:spPr>
          <a:xfrm>
            <a:off x="6181344" y="4059936"/>
            <a:ext cx="5504688" cy="34747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64224" y="4142232"/>
            <a:ext cx="5166360" cy="237744"/>
          </a:xfrm>
          <a:prstGeom prst="rect">
            <a:avLst/>
          </a:prstGeom>
          <a:noFill/>
        </p:spPr>
        <p:txBody>
          <a:bodyPr wrap="square" lIns="0" rIns="0" tIns="0" bIns="0" anchor="t">
            <a:spAutoFit/>
          </a:bodyPr>
          <a:lstStyle/>
          <a:p>
            <a:pPr algn="l">
              <a:lnSpc>
                <a:spcPct val="115000"/>
              </a:lnSpc>
              <a:spcAft>
                <a:spcPts val="0"/>
              </a:spcAft>
            </a:pPr>
            <a:r>
              <a:rPr sz="1100" b="0">
                <a:solidFill>
                  <a:srgbClr val="262428"/>
                </a:solidFill>
                <a:latin typeface="Open Sans"/>
              </a:rPr>
              <a:t>Can you recommend software for unstructured data classification?</a:t>
            </a:r>
          </a:p>
        </p:txBody>
      </p:sp>
      <p:sp>
        <p:nvSpPr>
          <p:cNvPr id="42" name="Rectangle 41"/>
          <p:cNvSpPr/>
          <p:nvPr/>
        </p:nvSpPr>
        <p:spPr>
          <a:xfrm>
            <a:off x="6181344" y="4480560"/>
            <a:ext cx="5504688" cy="34747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64224" y="4562856"/>
            <a:ext cx="5166360" cy="237744"/>
          </a:xfrm>
          <a:prstGeom prst="rect">
            <a:avLst/>
          </a:prstGeom>
          <a:noFill/>
        </p:spPr>
        <p:txBody>
          <a:bodyPr wrap="square" lIns="0" rIns="0" tIns="0" bIns="0" anchor="t">
            <a:spAutoFit/>
          </a:bodyPr>
          <a:lstStyle/>
          <a:p>
            <a:pPr algn="l">
              <a:lnSpc>
                <a:spcPct val="115000"/>
              </a:lnSpc>
              <a:spcAft>
                <a:spcPts val="0"/>
              </a:spcAft>
            </a:pPr>
            <a:r>
              <a:rPr sz="1100" b="0">
                <a:solidFill>
                  <a:srgbClr val="262428"/>
                </a:solidFill>
                <a:latin typeface="Open Sans"/>
              </a:rPr>
              <a:t>What are the best enterprise data migration solutions?</a:t>
            </a:r>
          </a:p>
        </p:txBody>
      </p:sp>
      <p:sp>
        <p:nvSpPr>
          <p:cNvPr id="44" name="Rectangle 43"/>
          <p:cNvSpPr/>
          <p:nvPr/>
        </p:nvSpPr>
        <p:spPr>
          <a:xfrm>
            <a:off x="502920" y="5074920"/>
            <a:ext cx="11183112" cy="118872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 y="5074920"/>
            <a:ext cx="54864" cy="1188720"/>
          </a:xfrm>
          <a:prstGeom prst="rect">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49808" y="5266944"/>
            <a:ext cx="10789920" cy="914400"/>
          </a:xfrm>
          <a:prstGeom prst="rect">
            <a:avLst/>
          </a:prstGeom>
          <a:noFill/>
        </p:spPr>
        <p:txBody>
          <a:bodyPr wrap="square" lIns="0" rIns="0" tIns="0" bIns="0" anchor="t">
            <a:spAutoFit/>
          </a:bodyPr>
          <a:lstStyle/>
          <a:p>
            <a:pPr algn="l">
              <a:lnSpc>
                <a:spcPct val="115000"/>
              </a:lnSpc>
              <a:spcAft>
                <a:spcPts val="600"/>
              </a:spcAft>
            </a:pPr>
            <a:r>
              <a:rPr sz="1250" b="1">
                <a:solidFill>
                  <a:srgbClr val="59257B"/>
                </a:solidFill>
                <a:latin typeface="Open Sans"/>
              </a:rPr>
              <a:t>Why there is no Q2 trend line for these 50 prompts</a:t>
            </a:r>
          </a:p>
          <a:p>
            <a:pPr algn="l">
              <a:lnSpc>
                <a:spcPct val="125000"/>
              </a:lnSpc>
              <a:spcAft>
                <a:spcPts val="0"/>
              </a:spcAft>
            </a:pPr>
            <a:r>
              <a:rPr sz="1100" b="0">
                <a:solidFill>
                  <a:srgbClr val="595A5B"/>
                </a:solidFill>
                <a:latin typeface="Open Sans"/>
              </a:rPr>
              <a:t>Prompt-level tracking went live on 10 June 2026, so it covers only the final three weeks of the quarter. Across those three weeks none of the 50 prompts placed komprise.com in Google's top 100 organic results — these are long conversational questions that Google answers with an AI Overview rather than a ranked list, which is precisely why we measure AI Overview presence separately. Q3 will be the first full quarter of prompt-level trend data.</a:t>
            </a:r>
          </a:p>
        </p:txBody>
      </p:sp>
      <p:sp>
        <p:nvSpPr>
          <p:cNvPr id="47" name="TextBox 46"/>
          <p:cNvSpPr txBox="1"/>
          <p:nvPr/>
        </p:nvSpPr>
        <p:spPr>
          <a:xfrm>
            <a:off x="502920" y="6528816"/>
            <a:ext cx="6400800" cy="228600"/>
          </a:xfrm>
          <a:prstGeom prst="rect">
            <a:avLst/>
          </a:prstGeom>
          <a:noFill/>
        </p:spPr>
        <p:txBody>
          <a:bodyPr wrap="square" lIns="0" rIns="0" tIns="0" bIns="0" anchor="t">
            <a:spAutoFit/>
          </a:bodyPr>
          <a:lstStyle/>
          <a:p>
            <a:pPr algn="l">
              <a:lnSpc>
                <a:spcPct val="115000"/>
              </a:lnSpc>
              <a:spcAft>
                <a:spcPts val="0"/>
              </a:spcAft>
            </a:pPr>
            <a:r>
              <a:rPr sz="900" b="0">
                <a:solidFill>
                  <a:srgbClr val="8A8A8D"/>
                </a:solidFill>
                <a:latin typeface="Open Sans"/>
              </a:rPr>
              <a:t>Komprise GEO / SEO  —  Q2 2026 Board Update</a:t>
            </a:r>
          </a:p>
        </p:txBody>
      </p:sp>
      <p:sp>
        <p:nvSpPr>
          <p:cNvPr id="48" name="TextBox 47"/>
          <p:cNvSpPr txBox="1"/>
          <p:nvPr/>
        </p:nvSpPr>
        <p:spPr>
          <a:xfrm>
            <a:off x="10881360" y="6528816"/>
            <a:ext cx="822960" cy="228600"/>
          </a:xfrm>
          <a:prstGeom prst="rect">
            <a:avLst/>
          </a:prstGeom>
          <a:noFill/>
        </p:spPr>
        <p:txBody>
          <a:bodyPr wrap="square" lIns="0" rIns="0" tIns="0" bIns="0" anchor="t">
            <a:spAutoFit/>
          </a:bodyPr>
          <a:lstStyle/>
          <a:p>
            <a:pPr algn="r">
              <a:lnSpc>
                <a:spcPct val="115000"/>
              </a:lnSpc>
              <a:spcAft>
                <a:spcPts val="0"/>
              </a:spcAft>
            </a:pPr>
            <a:r>
              <a:rPr sz="900" b="0">
                <a:solidFill>
                  <a:srgbClr val="8A8A8D"/>
                </a:solidFill>
                <a:latin typeface="Open San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74320"/>
            <a:ext cx="9692640" cy="548640"/>
          </a:xfrm>
          <a:prstGeom prst="rect">
            <a:avLst/>
          </a:prstGeom>
          <a:noFill/>
        </p:spPr>
        <p:txBody>
          <a:bodyPr wrap="square" lIns="0" rIns="0" tIns="0" bIns="0" anchor="t">
            <a:spAutoFit/>
          </a:bodyPr>
          <a:lstStyle/>
          <a:p>
            <a:pPr algn="l">
              <a:lnSpc>
                <a:spcPct val="115000"/>
              </a:lnSpc>
              <a:spcAft>
                <a:spcPts val="0"/>
              </a:spcAft>
            </a:pPr>
            <a:r>
              <a:rPr sz="2500" b="1">
                <a:solidFill>
                  <a:srgbClr val="59257B"/>
                </a:solidFill>
                <a:latin typeface="Open Sans"/>
              </a:rPr>
              <a:t>Data Coverage and Open Items</a:t>
            </a:r>
          </a:p>
        </p:txBody>
      </p:sp>
      <p:sp>
        <p:nvSpPr>
          <p:cNvPr id="6" name="TextBox 5"/>
          <p:cNvSpPr txBox="1"/>
          <p:nvPr/>
        </p:nvSpPr>
        <p:spPr>
          <a:xfrm>
            <a:off x="502920" y="804672"/>
            <a:ext cx="10241280" cy="292608"/>
          </a:xfrm>
          <a:prstGeom prst="rect">
            <a:avLst/>
          </a:prstGeom>
          <a:noFill/>
        </p:spPr>
        <p:txBody>
          <a:bodyPr wrap="square" lIns="0" rIns="0" tIns="0" bIns="0" anchor="t">
            <a:spAutoFit/>
          </a:bodyPr>
          <a:lstStyle/>
          <a:p>
            <a:pPr algn="l">
              <a:lnSpc>
                <a:spcPct val="115000"/>
              </a:lnSpc>
              <a:spcAft>
                <a:spcPts val="0"/>
              </a:spcAft>
            </a:pPr>
            <a:r>
              <a:rPr sz="1250" b="0">
                <a:solidFill>
                  <a:srgbClr val="595A5B"/>
                </a:solidFill>
                <a:latin typeface="Open Sans"/>
              </a:rPr>
              <a:t>Stated plainly, so nothing in this deck is taken for more than it is</a:t>
            </a:r>
          </a:p>
        </p:txBody>
      </p:sp>
      <p:sp>
        <p:nvSpPr>
          <p:cNvPr id="7" name="Rectangle 6"/>
          <p:cNvSpPr/>
          <p:nvPr/>
        </p:nvSpPr>
        <p:spPr>
          <a:xfrm>
            <a:off x="502920" y="1325880"/>
            <a:ext cx="11183112" cy="329184"/>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85316"/>
            <a:ext cx="3291840" cy="237744"/>
          </a:xfrm>
          <a:prstGeom prst="rect">
            <a:avLst/>
          </a:prstGeom>
          <a:noFill/>
        </p:spPr>
        <p:txBody>
          <a:bodyPr wrap="square" lIns="0" rIns="0" tIns="0" bIns="0" anchor="t">
            <a:spAutoFit/>
          </a:bodyPr>
          <a:lstStyle/>
          <a:p>
            <a:pPr algn="l">
              <a:lnSpc>
                <a:spcPct val="115000"/>
              </a:lnSpc>
              <a:spcAft>
                <a:spcPts val="0"/>
              </a:spcAft>
            </a:pPr>
            <a:r>
              <a:rPr sz="1100" b="1">
                <a:solidFill>
                  <a:srgbClr val="FFFFFF"/>
                </a:solidFill>
                <a:latin typeface="Open Sans"/>
              </a:rPr>
              <a:t>Item</a:t>
            </a:r>
          </a:p>
        </p:txBody>
      </p:sp>
      <p:sp>
        <p:nvSpPr>
          <p:cNvPr id="9" name="TextBox 8"/>
          <p:cNvSpPr txBox="1"/>
          <p:nvPr/>
        </p:nvSpPr>
        <p:spPr>
          <a:xfrm>
            <a:off x="4160520" y="1385316"/>
            <a:ext cx="4937760" cy="237744"/>
          </a:xfrm>
          <a:prstGeom prst="rect">
            <a:avLst/>
          </a:prstGeom>
          <a:noFill/>
        </p:spPr>
        <p:txBody>
          <a:bodyPr wrap="square" lIns="0" rIns="0" tIns="0" bIns="0" anchor="t">
            <a:spAutoFit/>
          </a:bodyPr>
          <a:lstStyle/>
          <a:p>
            <a:pPr algn="l">
              <a:lnSpc>
                <a:spcPct val="115000"/>
              </a:lnSpc>
              <a:spcAft>
                <a:spcPts val="0"/>
              </a:spcAft>
            </a:pPr>
            <a:r>
              <a:rPr sz="1100" b="1">
                <a:solidFill>
                  <a:srgbClr val="FFFFFF"/>
                </a:solidFill>
                <a:latin typeface="Open Sans"/>
              </a:rPr>
              <a:t>What the situation is</a:t>
            </a:r>
          </a:p>
        </p:txBody>
      </p:sp>
      <p:sp>
        <p:nvSpPr>
          <p:cNvPr id="10" name="TextBox 9"/>
          <p:cNvSpPr txBox="1"/>
          <p:nvPr/>
        </p:nvSpPr>
        <p:spPr>
          <a:xfrm>
            <a:off x="9281160" y="1385316"/>
            <a:ext cx="2286000" cy="237744"/>
          </a:xfrm>
          <a:prstGeom prst="rect">
            <a:avLst/>
          </a:prstGeom>
          <a:noFill/>
        </p:spPr>
        <p:txBody>
          <a:bodyPr wrap="square" lIns="0" rIns="0" tIns="0" bIns="0" anchor="t">
            <a:spAutoFit/>
          </a:bodyPr>
          <a:lstStyle/>
          <a:p>
            <a:pPr algn="l">
              <a:lnSpc>
                <a:spcPct val="115000"/>
              </a:lnSpc>
              <a:spcAft>
                <a:spcPts val="0"/>
              </a:spcAft>
            </a:pPr>
            <a:r>
              <a:rPr sz="1100" b="1">
                <a:solidFill>
                  <a:srgbClr val="FFFFFF"/>
                </a:solidFill>
                <a:latin typeface="Open Sans"/>
              </a:rPr>
              <a:t>Next step</a:t>
            </a:r>
          </a:p>
        </p:txBody>
      </p:sp>
      <p:sp>
        <p:nvSpPr>
          <p:cNvPr id="11" name="Rectangle 10"/>
          <p:cNvSpPr/>
          <p:nvPr/>
        </p:nvSpPr>
        <p:spPr>
          <a:xfrm>
            <a:off x="502920" y="1655064"/>
            <a:ext cx="11183112" cy="86868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801368"/>
            <a:ext cx="3291840" cy="594359"/>
          </a:xfrm>
          <a:prstGeom prst="rect">
            <a:avLst/>
          </a:prstGeom>
          <a:noFill/>
        </p:spPr>
        <p:txBody>
          <a:bodyPr wrap="square" lIns="0" rIns="0" tIns="0" bIns="0" anchor="t">
            <a:spAutoFit/>
          </a:bodyPr>
          <a:lstStyle/>
          <a:p>
            <a:pPr algn="l">
              <a:lnSpc>
                <a:spcPct val="120000"/>
              </a:lnSpc>
              <a:spcAft>
                <a:spcPts val="0"/>
              </a:spcAft>
            </a:pPr>
            <a:r>
              <a:rPr sz="1150" b="1">
                <a:solidFill>
                  <a:srgbClr val="59257B"/>
                </a:solidFill>
                <a:latin typeface="Open Sans"/>
              </a:rPr>
              <a:t>Prompt-level GEO history for April and May</a:t>
            </a:r>
          </a:p>
        </p:txBody>
      </p:sp>
      <p:sp>
        <p:nvSpPr>
          <p:cNvPr id="13" name="TextBox 12"/>
          <p:cNvSpPr txBox="1"/>
          <p:nvPr/>
        </p:nvSpPr>
        <p:spPr>
          <a:xfrm>
            <a:off x="4160520" y="1801368"/>
            <a:ext cx="4937760" cy="594359"/>
          </a:xfrm>
          <a:prstGeom prst="rect">
            <a:avLst/>
          </a:prstGeom>
          <a:noFill/>
        </p:spPr>
        <p:txBody>
          <a:bodyPr wrap="square" lIns="0" rIns="0" tIns="0" bIns="0" anchor="t">
            <a:spAutoFit/>
          </a:bodyPr>
          <a:lstStyle/>
          <a:p>
            <a:pPr algn="l">
              <a:lnSpc>
                <a:spcPct val="125000"/>
              </a:lnSpc>
              <a:spcAft>
                <a:spcPts val="0"/>
              </a:spcAft>
            </a:pPr>
            <a:r>
              <a:rPr sz="1050" b="0">
                <a:solidFill>
                  <a:srgbClr val="595A5B"/>
                </a:solidFill>
                <a:latin typeface="Open Sans"/>
              </a:rPr>
              <a:t>The 50-prompt tracking campaign was created on 10 June 2026. There is no April or May prompt-level data to report.</a:t>
            </a:r>
          </a:p>
        </p:txBody>
      </p:sp>
      <p:sp>
        <p:nvSpPr>
          <p:cNvPr id="14" name="TextBox 13"/>
          <p:cNvSpPr txBox="1"/>
          <p:nvPr/>
        </p:nvSpPr>
        <p:spPr>
          <a:xfrm>
            <a:off x="9281160" y="1801368"/>
            <a:ext cx="2240280" cy="594359"/>
          </a:xfrm>
          <a:prstGeom prst="rect">
            <a:avLst/>
          </a:prstGeom>
          <a:noFill/>
        </p:spPr>
        <p:txBody>
          <a:bodyPr wrap="square" lIns="0" rIns="0" tIns="0" bIns="0" anchor="t">
            <a:spAutoFit/>
          </a:bodyPr>
          <a:lstStyle/>
          <a:p>
            <a:pPr algn="l">
              <a:lnSpc>
                <a:spcPct val="125000"/>
              </a:lnSpc>
              <a:spcAft>
                <a:spcPts val="0"/>
              </a:spcAft>
            </a:pPr>
            <a:r>
              <a:rPr sz="1050" b="0">
                <a:solidFill>
                  <a:srgbClr val="262428"/>
                </a:solidFill>
                <a:latin typeface="Open Sans"/>
              </a:rPr>
              <a:t>Q3 will be the first complete quarter.</a:t>
            </a:r>
          </a:p>
        </p:txBody>
      </p:sp>
      <p:sp>
        <p:nvSpPr>
          <p:cNvPr id="15" name="Rectangle 14"/>
          <p:cNvSpPr/>
          <p:nvPr/>
        </p:nvSpPr>
        <p:spPr>
          <a:xfrm>
            <a:off x="502920" y="2596896"/>
            <a:ext cx="11183112" cy="123444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743200"/>
            <a:ext cx="3291840" cy="960120"/>
          </a:xfrm>
          <a:prstGeom prst="rect">
            <a:avLst/>
          </a:prstGeom>
          <a:noFill/>
        </p:spPr>
        <p:txBody>
          <a:bodyPr wrap="square" lIns="0" rIns="0" tIns="0" bIns="0" anchor="t">
            <a:spAutoFit/>
          </a:bodyPr>
          <a:lstStyle/>
          <a:p>
            <a:pPr algn="l">
              <a:lnSpc>
                <a:spcPct val="120000"/>
              </a:lnSpc>
              <a:spcAft>
                <a:spcPts val="0"/>
              </a:spcAft>
            </a:pPr>
            <a:r>
              <a:rPr sz="1150" b="1">
                <a:solidFill>
                  <a:srgbClr val="59257B"/>
                </a:solidFill>
                <a:latin typeface="Open Sans"/>
              </a:rPr>
              <a:t>AI visibility score, mentions, citations and source mix</a:t>
            </a:r>
          </a:p>
        </p:txBody>
      </p:sp>
      <p:sp>
        <p:nvSpPr>
          <p:cNvPr id="17" name="TextBox 16"/>
          <p:cNvSpPr txBox="1"/>
          <p:nvPr/>
        </p:nvSpPr>
        <p:spPr>
          <a:xfrm>
            <a:off x="4160520" y="2743200"/>
            <a:ext cx="4937760" cy="960120"/>
          </a:xfrm>
          <a:prstGeom prst="rect">
            <a:avLst/>
          </a:prstGeom>
          <a:noFill/>
        </p:spPr>
        <p:txBody>
          <a:bodyPr wrap="square" lIns="0" rIns="0" tIns="0" bIns="0" anchor="t">
            <a:spAutoFit/>
          </a:bodyPr>
          <a:lstStyle/>
          <a:p>
            <a:pPr algn="l">
              <a:lnSpc>
                <a:spcPct val="125000"/>
              </a:lnSpc>
              <a:spcAft>
                <a:spcPts val="0"/>
              </a:spcAft>
            </a:pPr>
            <a:r>
              <a:rPr sz="1050" b="0">
                <a:solidFill>
                  <a:srgbClr val="595A5B"/>
                </a:solidFill>
                <a:latin typeface="Open Sans"/>
              </a:rPr>
              <a:t>The figures that headline our monthly decks are not retrievable through the current Semrush data connection, which exposes only the Google side of tracking. Any such figure quoted here is carried forward from the June 2026 deck and labelled as of that date.</a:t>
            </a:r>
          </a:p>
        </p:txBody>
      </p:sp>
      <p:sp>
        <p:nvSpPr>
          <p:cNvPr id="18" name="TextBox 17"/>
          <p:cNvSpPr txBox="1"/>
          <p:nvPr/>
        </p:nvSpPr>
        <p:spPr>
          <a:xfrm>
            <a:off x="9281160" y="2743200"/>
            <a:ext cx="2240280" cy="960120"/>
          </a:xfrm>
          <a:prstGeom prst="rect">
            <a:avLst/>
          </a:prstGeom>
          <a:noFill/>
        </p:spPr>
        <p:txBody>
          <a:bodyPr wrap="square" lIns="0" rIns="0" tIns="0" bIns="0" anchor="t">
            <a:spAutoFit/>
          </a:bodyPr>
          <a:lstStyle/>
          <a:p>
            <a:pPr algn="l">
              <a:lnSpc>
                <a:spcPct val="125000"/>
              </a:lnSpc>
              <a:spcAft>
                <a:spcPts val="0"/>
              </a:spcAft>
            </a:pPr>
            <a:r>
              <a:rPr sz="1050" b="0">
                <a:solidFill>
                  <a:srgbClr val="262428"/>
                </a:solidFill>
                <a:latin typeface="Open Sans"/>
              </a:rPr>
              <a:t>Pull manually from the Semrush AI dashboard for the next monthly.</a:t>
            </a:r>
          </a:p>
        </p:txBody>
      </p:sp>
      <p:sp>
        <p:nvSpPr>
          <p:cNvPr id="19" name="Rectangle 18"/>
          <p:cNvSpPr/>
          <p:nvPr/>
        </p:nvSpPr>
        <p:spPr>
          <a:xfrm>
            <a:off x="502920" y="3904487"/>
            <a:ext cx="11183112" cy="10515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050791"/>
            <a:ext cx="3291840" cy="777239"/>
          </a:xfrm>
          <a:prstGeom prst="rect">
            <a:avLst/>
          </a:prstGeom>
          <a:noFill/>
        </p:spPr>
        <p:txBody>
          <a:bodyPr wrap="square" lIns="0" rIns="0" tIns="0" bIns="0" anchor="t">
            <a:spAutoFit/>
          </a:bodyPr>
          <a:lstStyle/>
          <a:p>
            <a:pPr algn="l">
              <a:lnSpc>
                <a:spcPct val="120000"/>
              </a:lnSpc>
              <a:spcAft>
                <a:spcPts val="0"/>
              </a:spcAft>
            </a:pPr>
            <a:r>
              <a:rPr sz="1150" b="1">
                <a:solidFill>
                  <a:srgbClr val="59257B"/>
                </a:solidFill>
                <a:latin typeface="Open Sans"/>
              </a:rPr>
              <a:t>Darren's priority keyword list</a:t>
            </a:r>
          </a:p>
        </p:txBody>
      </p:sp>
      <p:sp>
        <p:nvSpPr>
          <p:cNvPr id="21" name="TextBox 20"/>
          <p:cNvSpPr txBox="1"/>
          <p:nvPr/>
        </p:nvSpPr>
        <p:spPr>
          <a:xfrm>
            <a:off x="4160520" y="4050791"/>
            <a:ext cx="4937760" cy="777239"/>
          </a:xfrm>
          <a:prstGeom prst="rect">
            <a:avLst/>
          </a:prstGeom>
          <a:noFill/>
        </p:spPr>
        <p:txBody>
          <a:bodyPr wrap="square" lIns="0" rIns="0" tIns="0" bIns="0" anchor="t">
            <a:spAutoFit/>
          </a:bodyPr>
          <a:lstStyle/>
          <a:p>
            <a:pPr algn="l">
              <a:lnSpc>
                <a:spcPct val="125000"/>
              </a:lnSpc>
              <a:spcAft>
                <a:spcPts val="0"/>
              </a:spcAft>
            </a:pPr>
            <a:r>
              <a:rPr sz="1050" b="0">
                <a:solidFill>
                  <a:srgbClr val="595A5B"/>
                </a:solidFill>
                <a:latin typeface="Open Sans"/>
              </a:rPr>
              <a:t>The 'Top KWs by Darren' tracking project exists but could not be reached programmatically. Priority-keyword reporting is therefore not included, rather than substituted with a different list.</a:t>
            </a:r>
          </a:p>
        </p:txBody>
      </p:sp>
      <p:sp>
        <p:nvSpPr>
          <p:cNvPr id="22" name="TextBox 21"/>
          <p:cNvSpPr txBox="1"/>
          <p:nvPr/>
        </p:nvSpPr>
        <p:spPr>
          <a:xfrm>
            <a:off x="9281160" y="4050791"/>
            <a:ext cx="2240280" cy="777239"/>
          </a:xfrm>
          <a:prstGeom prst="rect">
            <a:avLst/>
          </a:prstGeom>
          <a:noFill/>
        </p:spPr>
        <p:txBody>
          <a:bodyPr wrap="square" lIns="0" rIns="0" tIns="0" bIns="0" anchor="t">
            <a:spAutoFit/>
          </a:bodyPr>
          <a:lstStyle/>
          <a:p>
            <a:pPr algn="l">
              <a:lnSpc>
                <a:spcPct val="125000"/>
              </a:lnSpc>
              <a:spcAft>
                <a:spcPts val="0"/>
              </a:spcAft>
            </a:pPr>
            <a:r>
              <a:rPr sz="1050" b="0">
                <a:solidFill>
                  <a:srgbClr val="262428"/>
                </a:solidFill>
                <a:latin typeface="Open Sans"/>
              </a:rPr>
              <a:t>Send the project link and it goes into the next update.</a:t>
            </a:r>
          </a:p>
        </p:txBody>
      </p:sp>
      <p:sp>
        <p:nvSpPr>
          <p:cNvPr id="23" name="Rectangle 22"/>
          <p:cNvSpPr/>
          <p:nvPr/>
        </p:nvSpPr>
        <p:spPr>
          <a:xfrm>
            <a:off x="502920" y="5029200"/>
            <a:ext cx="11183112" cy="10515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5175504"/>
            <a:ext cx="3291840" cy="777239"/>
          </a:xfrm>
          <a:prstGeom prst="rect">
            <a:avLst/>
          </a:prstGeom>
          <a:noFill/>
        </p:spPr>
        <p:txBody>
          <a:bodyPr wrap="square" lIns="0" rIns="0" tIns="0" bIns="0" anchor="t">
            <a:spAutoFit/>
          </a:bodyPr>
          <a:lstStyle/>
          <a:p>
            <a:pPr algn="l">
              <a:lnSpc>
                <a:spcPct val="120000"/>
              </a:lnSpc>
              <a:spcAft>
                <a:spcPts val="0"/>
              </a:spcAft>
            </a:pPr>
            <a:r>
              <a:rPr sz="1150" b="1">
                <a:solidFill>
                  <a:srgbClr val="59257B"/>
                </a:solidFill>
                <a:latin typeface="Open Sans"/>
              </a:rPr>
              <a:t>Brand and non-brand prompt sets from Monte and Polly</a:t>
            </a:r>
          </a:p>
        </p:txBody>
      </p:sp>
      <p:sp>
        <p:nvSpPr>
          <p:cNvPr id="25" name="TextBox 24"/>
          <p:cNvSpPr txBox="1"/>
          <p:nvPr/>
        </p:nvSpPr>
        <p:spPr>
          <a:xfrm>
            <a:off x="4160520" y="5175504"/>
            <a:ext cx="4937760" cy="777239"/>
          </a:xfrm>
          <a:prstGeom prst="rect">
            <a:avLst/>
          </a:prstGeom>
          <a:noFill/>
        </p:spPr>
        <p:txBody>
          <a:bodyPr wrap="square" lIns="0" rIns="0" tIns="0" bIns="0" anchor="t">
            <a:spAutoFit/>
          </a:bodyPr>
          <a:lstStyle/>
          <a:p>
            <a:pPr algn="l">
              <a:lnSpc>
                <a:spcPct val="125000"/>
              </a:lnSpc>
              <a:spcAft>
                <a:spcPts val="0"/>
              </a:spcAft>
            </a:pPr>
            <a:r>
              <a:rPr sz="1050" b="0">
                <a:solidFill>
                  <a:srgbClr val="595A5B"/>
                </a:solidFill>
                <a:latin typeface="Open Sans"/>
              </a:rPr>
              <a:t>Monte's prompt set is held in a workbook outside this account. Polly's Top 10 priority prompts have not yet been defined — she asked for a working session in her 28 August note.</a:t>
            </a:r>
          </a:p>
        </p:txBody>
      </p:sp>
      <p:sp>
        <p:nvSpPr>
          <p:cNvPr id="26" name="TextBox 25"/>
          <p:cNvSpPr txBox="1"/>
          <p:nvPr/>
        </p:nvSpPr>
        <p:spPr>
          <a:xfrm>
            <a:off x="9281160" y="5175504"/>
            <a:ext cx="2240280" cy="777239"/>
          </a:xfrm>
          <a:prstGeom prst="rect">
            <a:avLst/>
          </a:prstGeom>
          <a:noFill/>
        </p:spPr>
        <p:txBody>
          <a:bodyPr wrap="square" lIns="0" rIns="0" tIns="0" bIns="0" anchor="t">
            <a:spAutoFit/>
          </a:bodyPr>
          <a:lstStyle/>
          <a:p>
            <a:pPr algn="l">
              <a:lnSpc>
                <a:spcPct val="125000"/>
              </a:lnSpc>
              <a:spcAft>
                <a:spcPts val="0"/>
              </a:spcAft>
            </a:pPr>
            <a:r>
              <a:rPr sz="1050" b="0">
                <a:solidFill>
                  <a:srgbClr val="262428"/>
                </a:solidFill>
                <a:latin typeface="Open Sans"/>
              </a:rPr>
              <a:t>Agree the Top 10 on the call in the week of 1 September.</a:t>
            </a:r>
          </a:p>
        </p:txBody>
      </p:sp>
      <p:sp>
        <p:nvSpPr>
          <p:cNvPr id="27" name="TextBox 26"/>
          <p:cNvSpPr txBox="1"/>
          <p:nvPr/>
        </p:nvSpPr>
        <p:spPr>
          <a:xfrm>
            <a:off x="502920" y="6528816"/>
            <a:ext cx="6400800" cy="228600"/>
          </a:xfrm>
          <a:prstGeom prst="rect">
            <a:avLst/>
          </a:prstGeom>
          <a:noFill/>
        </p:spPr>
        <p:txBody>
          <a:bodyPr wrap="square" lIns="0" rIns="0" tIns="0" bIns="0" anchor="t">
            <a:spAutoFit/>
          </a:bodyPr>
          <a:lstStyle/>
          <a:p>
            <a:pPr algn="l">
              <a:lnSpc>
                <a:spcPct val="115000"/>
              </a:lnSpc>
              <a:spcAft>
                <a:spcPts val="0"/>
              </a:spcAft>
            </a:pPr>
            <a:r>
              <a:rPr sz="900" b="0">
                <a:solidFill>
                  <a:srgbClr val="8A8A8D"/>
                </a:solidFill>
                <a:latin typeface="Open Sans"/>
              </a:rPr>
              <a:t>Komprise GEO / SEO  —  Q2 2026 Board Update</a:t>
            </a:r>
          </a:p>
        </p:txBody>
      </p:sp>
      <p:sp>
        <p:nvSpPr>
          <p:cNvPr id="28" name="TextBox 27"/>
          <p:cNvSpPr txBox="1"/>
          <p:nvPr/>
        </p:nvSpPr>
        <p:spPr>
          <a:xfrm>
            <a:off x="10881360" y="6528816"/>
            <a:ext cx="822960" cy="228600"/>
          </a:xfrm>
          <a:prstGeom prst="rect">
            <a:avLst/>
          </a:prstGeom>
          <a:noFill/>
        </p:spPr>
        <p:txBody>
          <a:bodyPr wrap="square" lIns="0" rIns="0" tIns="0" bIns="0" anchor="t">
            <a:spAutoFit/>
          </a:bodyPr>
          <a:lstStyle/>
          <a:p>
            <a:pPr algn="r">
              <a:lnSpc>
                <a:spcPct val="115000"/>
              </a:lnSpc>
              <a:spcAft>
                <a:spcPts val="0"/>
              </a:spcAft>
            </a:pPr>
            <a:r>
              <a:rPr sz="900" b="0">
                <a:solidFill>
                  <a:srgbClr val="8A8A8D"/>
                </a:solidFill>
                <a:latin typeface="Open San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74320"/>
            <a:ext cx="9692640" cy="548640"/>
          </a:xfrm>
          <a:prstGeom prst="rect">
            <a:avLst/>
          </a:prstGeom>
          <a:noFill/>
        </p:spPr>
        <p:txBody>
          <a:bodyPr wrap="square" lIns="0" rIns="0" tIns="0" bIns="0" anchor="t">
            <a:spAutoFit/>
          </a:bodyPr>
          <a:lstStyle/>
          <a:p>
            <a:pPr algn="l">
              <a:lnSpc>
                <a:spcPct val="115000"/>
              </a:lnSpc>
              <a:spcAft>
                <a:spcPts val="0"/>
              </a:spcAft>
            </a:pPr>
            <a:r>
              <a:rPr sz="2500" b="1">
                <a:solidFill>
                  <a:srgbClr val="59257B"/>
                </a:solidFill>
                <a:latin typeface="Open Sans"/>
              </a:rPr>
              <a:t>Q3 2026 Plan</a:t>
            </a:r>
          </a:p>
        </p:txBody>
      </p:sp>
      <p:sp>
        <p:nvSpPr>
          <p:cNvPr id="6" name="TextBox 5"/>
          <p:cNvSpPr txBox="1"/>
          <p:nvPr/>
        </p:nvSpPr>
        <p:spPr>
          <a:xfrm>
            <a:off x="502920" y="804672"/>
            <a:ext cx="10241280" cy="292608"/>
          </a:xfrm>
          <a:prstGeom prst="rect">
            <a:avLst/>
          </a:prstGeom>
          <a:noFill/>
        </p:spPr>
        <p:txBody>
          <a:bodyPr wrap="square" lIns="0" rIns="0" tIns="0" bIns="0" anchor="t">
            <a:spAutoFit/>
          </a:bodyPr>
          <a:lstStyle/>
          <a:p>
            <a:pPr algn="l">
              <a:lnSpc>
                <a:spcPct val="115000"/>
              </a:lnSpc>
              <a:spcAft>
                <a:spcPts val="0"/>
              </a:spcAft>
            </a:pPr>
            <a:r>
              <a:rPr sz="1250" b="0">
                <a:solidFill>
                  <a:srgbClr val="595A5B"/>
                </a:solidFill>
                <a:latin typeface="Open Sans"/>
              </a:rPr>
              <a:t>Where the effort goes next, and how we will know it worked</a:t>
            </a:r>
          </a:p>
        </p:txBody>
      </p:sp>
      <p:sp>
        <p:nvSpPr>
          <p:cNvPr id="7" name="Rectangle 6"/>
          <p:cNvSpPr/>
          <p:nvPr/>
        </p:nvSpPr>
        <p:spPr>
          <a:xfrm>
            <a:off x="502920" y="1325880"/>
            <a:ext cx="11183112" cy="84124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325880"/>
            <a:ext cx="54864" cy="841248"/>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77240" y="1563624"/>
            <a:ext cx="365760" cy="365760"/>
          </a:xfrm>
          <a:prstGeom prst="ellipse">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650492"/>
            <a:ext cx="365760" cy="237744"/>
          </a:xfrm>
          <a:prstGeom prst="rect">
            <a:avLst/>
          </a:prstGeom>
          <a:noFill/>
        </p:spPr>
        <p:txBody>
          <a:bodyPr wrap="square" lIns="0" rIns="0" tIns="0" bIns="0" anchor="t">
            <a:spAutoFit/>
          </a:bodyPr>
          <a:lstStyle/>
          <a:p>
            <a:pPr algn="ctr">
              <a:lnSpc>
                <a:spcPct val="115000"/>
              </a:lnSpc>
              <a:spcAft>
                <a:spcPts val="0"/>
              </a:spcAft>
            </a:pPr>
            <a:r>
              <a:rPr sz="1200" b="1">
                <a:solidFill>
                  <a:srgbClr val="FFFFFF"/>
                </a:solidFill>
                <a:latin typeface="Open Sans"/>
              </a:rPr>
              <a:t>1</a:t>
            </a:r>
          </a:p>
        </p:txBody>
      </p:sp>
      <p:sp>
        <p:nvSpPr>
          <p:cNvPr id="11" name="TextBox 10"/>
          <p:cNvSpPr txBox="1"/>
          <p:nvPr/>
        </p:nvSpPr>
        <p:spPr>
          <a:xfrm>
            <a:off x="1325880" y="1453895"/>
            <a:ext cx="10149840" cy="256032"/>
          </a:xfrm>
          <a:prstGeom prst="rect">
            <a:avLst/>
          </a:prstGeom>
          <a:noFill/>
        </p:spPr>
        <p:txBody>
          <a:bodyPr wrap="square" lIns="0" rIns="0" tIns="0" bIns="0" anchor="t">
            <a:spAutoFit/>
          </a:bodyPr>
          <a:lstStyle/>
          <a:p>
            <a:pPr algn="l">
              <a:lnSpc>
                <a:spcPct val="115000"/>
              </a:lnSpc>
              <a:spcAft>
                <a:spcPts val="0"/>
              </a:spcAft>
            </a:pPr>
            <a:r>
              <a:rPr sz="1250" b="1">
                <a:solidFill>
                  <a:srgbClr val="59257B"/>
                </a:solidFill>
                <a:latin typeface="Open Sans"/>
              </a:rPr>
              <a:t>Weight the effort towards third-party sources, not more pages</a:t>
            </a:r>
          </a:p>
        </p:txBody>
      </p:sp>
      <p:sp>
        <p:nvSpPr>
          <p:cNvPr id="12" name="TextBox 11"/>
          <p:cNvSpPr txBox="1"/>
          <p:nvPr/>
        </p:nvSpPr>
        <p:spPr>
          <a:xfrm>
            <a:off x="1325880" y="1746504"/>
            <a:ext cx="10149840" cy="365760"/>
          </a:xfrm>
          <a:prstGeom prst="rect">
            <a:avLst/>
          </a:prstGeom>
          <a:noFill/>
        </p:spPr>
        <p:txBody>
          <a:bodyPr wrap="square" lIns="0" rIns="0" tIns="0" bIns="0" anchor="t">
            <a:spAutoFit/>
          </a:bodyPr>
          <a:lstStyle/>
          <a:p>
            <a:pPr algn="l">
              <a:lnSpc>
                <a:spcPct val="120000"/>
              </a:lnSpc>
              <a:spcAft>
                <a:spcPts val="0"/>
              </a:spcAft>
            </a:pPr>
            <a:r>
              <a:rPr sz="1050" b="0">
                <a:solidFill>
                  <a:srgbClr val="595A5B"/>
                </a:solidFill>
                <a:latin typeface="Open Sans"/>
              </a:rPr>
              <a:t>Our own domain is a small fraction of what the AI engines read. Digital PR and analyst placements aimed at the sites our competitors are already cited from is the highest-leverage move available.</a:t>
            </a:r>
          </a:p>
        </p:txBody>
      </p:sp>
      <p:sp>
        <p:nvSpPr>
          <p:cNvPr id="13" name="Rectangle 12"/>
          <p:cNvSpPr/>
          <p:nvPr/>
        </p:nvSpPr>
        <p:spPr>
          <a:xfrm>
            <a:off x="502920" y="2231136"/>
            <a:ext cx="11183112" cy="84124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2231136"/>
            <a:ext cx="54864" cy="841248"/>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77240" y="2468880"/>
            <a:ext cx="365760" cy="365760"/>
          </a:xfrm>
          <a:prstGeom prst="ellipse">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555748"/>
            <a:ext cx="365760" cy="237744"/>
          </a:xfrm>
          <a:prstGeom prst="rect">
            <a:avLst/>
          </a:prstGeom>
          <a:noFill/>
        </p:spPr>
        <p:txBody>
          <a:bodyPr wrap="square" lIns="0" rIns="0" tIns="0" bIns="0" anchor="t">
            <a:spAutoFit/>
          </a:bodyPr>
          <a:lstStyle/>
          <a:p>
            <a:pPr algn="ctr">
              <a:lnSpc>
                <a:spcPct val="115000"/>
              </a:lnSpc>
              <a:spcAft>
                <a:spcPts val="0"/>
              </a:spcAft>
            </a:pPr>
            <a:r>
              <a:rPr sz="1200" b="1">
                <a:solidFill>
                  <a:srgbClr val="FFFFFF"/>
                </a:solidFill>
                <a:latin typeface="Open Sans"/>
              </a:rPr>
              <a:t>2</a:t>
            </a:r>
          </a:p>
        </p:txBody>
      </p:sp>
      <p:sp>
        <p:nvSpPr>
          <p:cNvPr id="17" name="TextBox 16"/>
          <p:cNvSpPr txBox="1"/>
          <p:nvPr/>
        </p:nvSpPr>
        <p:spPr>
          <a:xfrm>
            <a:off x="1325880" y="2359152"/>
            <a:ext cx="10149840" cy="256032"/>
          </a:xfrm>
          <a:prstGeom prst="rect">
            <a:avLst/>
          </a:prstGeom>
          <a:noFill/>
        </p:spPr>
        <p:txBody>
          <a:bodyPr wrap="square" lIns="0" rIns="0" tIns="0" bIns="0" anchor="t">
            <a:spAutoFit/>
          </a:bodyPr>
          <a:lstStyle/>
          <a:p>
            <a:pPr algn="l">
              <a:lnSpc>
                <a:spcPct val="115000"/>
              </a:lnSpc>
              <a:spcAft>
                <a:spcPts val="0"/>
              </a:spcAft>
            </a:pPr>
            <a:r>
              <a:rPr sz="1250" b="1">
                <a:solidFill>
                  <a:srgbClr val="59257B"/>
                </a:solidFill>
                <a:latin typeface="Open Sans"/>
              </a:rPr>
              <a:t>Fix the Gemini gap specifically</a:t>
            </a:r>
          </a:p>
        </p:txBody>
      </p:sp>
      <p:sp>
        <p:nvSpPr>
          <p:cNvPr id="18" name="TextBox 17"/>
          <p:cNvSpPr txBox="1"/>
          <p:nvPr/>
        </p:nvSpPr>
        <p:spPr>
          <a:xfrm>
            <a:off x="1325880" y="2651760"/>
            <a:ext cx="10149840" cy="365760"/>
          </a:xfrm>
          <a:prstGeom prst="rect">
            <a:avLst/>
          </a:prstGeom>
          <a:noFill/>
        </p:spPr>
        <p:txBody>
          <a:bodyPr wrap="square" lIns="0" rIns="0" tIns="0" bIns="0" anchor="t">
            <a:spAutoFit/>
          </a:bodyPr>
          <a:lstStyle/>
          <a:p>
            <a:pPr algn="l">
              <a:lnSpc>
                <a:spcPct val="120000"/>
              </a:lnSpc>
              <a:spcAft>
                <a:spcPts val="0"/>
              </a:spcAft>
            </a:pPr>
            <a:r>
              <a:rPr sz="1050" b="0">
                <a:solidFill>
                  <a:srgbClr val="595A5B"/>
                </a:solidFill>
                <a:latin typeface="Open Sans"/>
              </a:rPr>
              <a:t>Testing across all five major assistants through the summer showed ChatGPT, Perplexity and Claude already give Komprise the AI-readiness credit. Gemini is the outlier. Aim the source corrections there first.</a:t>
            </a:r>
          </a:p>
        </p:txBody>
      </p:sp>
      <p:sp>
        <p:nvSpPr>
          <p:cNvPr id="19" name="Rectangle 18"/>
          <p:cNvSpPr/>
          <p:nvPr/>
        </p:nvSpPr>
        <p:spPr>
          <a:xfrm>
            <a:off x="502920" y="3136391"/>
            <a:ext cx="11183112" cy="84124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3136391"/>
            <a:ext cx="54864" cy="841248"/>
          </a:xfrm>
          <a:prstGeom prst="rect">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77240" y="3374135"/>
            <a:ext cx="365760" cy="365760"/>
          </a:xfrm>
          <a:prstGeom prst="ellipse">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3461003"/>
            <a:ext cx="365760" cy="237744"/>
          </a:xfrm>
          <a:prstGeom prst="rect">
            <a:avLst/>
          </a:prstGeom>
          <a:noFill/>
        </p:spPr>
        <p:txBody>
          <a:bodyPr wrap="square" lIns="0" rIns="0" tIns="0" bIns="0" anchor="t">
            <a:spAutoFit/>
          </a:bodyPr>
          <a:lstStyle/>
          <a:p>
            <a:pPr algn="ctr">
              <a:lnSpc>
                <a:spcPct val="115000"/>
              </a:lnSpc>
              <a:spcAft>
                <a:spcPts val="0"/>
              </a:spcAft>
            </a:pPr>
            <a:r>
              <a:rPr sz="1200" b="1">
                <a:solidFill>
                  <a:srgbClr val="FFFFFF"/>
                </a:solidFill>
                <a:latin typeface="Open Sans"/>
              </a:rPr>
              <a:t>3</a:t>
            </a:r>
          </a:p>
        </p:txBody>
      </p:sp>
      <p:sp>
        <p:nvSpPr>
          <p:cNvPr id="23" name="TextBox 22"/>
          <p:cNvSpPr txBox="1"/>
          <p:nvPr/>
        </p:nvSpPr>
        <p:spPr>
          <a:xfrm>
            <a:off x="1325880" y="3264408"/>
            <a:ext cx="10149840" cy="256032"/>
          </a:xfrm>
          <a:prstGeom prst="rect">
            <a:avLst/>
          </a:prstGeom>
          <a:noFill/>
        </p:spPr>
        <p:txBody>
          <a:bodyPr wrap="square" lIns="0" rIns="0" tIns="0" bIns="0" anchor="t">
            <a:spAutoFit/>
          </a:bodyPr>
          <a:lstStyle/>
          <a:p>
            <a:pPr algn="l">
              <a:lnSpc>
                <a:spcPct val="115000"/>
              </a:lnSpc>
              <a:spcAft>
                <a:spcPts val="0"/>
              </a:spcAft>
            </a:pPr>
            <a:r>
              <a:rPr sz="1250" b="1">
                <a:solidFill>
                  <a:srgbClr val="59257B"/>
                </a:solidFill>
                <a:latin typeface="Open Sans"/>
              </a:rPr>
              <a:t>Agree the Top 10 priority prompts with Darren and Polly</a:t>
            </a:r>
          </a:p>
        </p:txBody>
      </p:sp>
      <p:sp>
        <p:nvSpPr>
          <p:cNvPr id="24" name="TextBox 23"/>
          <p:cNvSpPr txBox="1"/>
          <p:nvPr/>
        </p:nvSpPr>
        <p:spPr>
          <a:xfrm>
            <a:off x="1325880" y="3557015"/>
            <a:ext cx="10149840" cy="365760"/>
          </a:xfrm>
          <a:prstGeom prst="rect">
            <a:avLst/>
          </a:prstGeom>
          <a:noFill/>
        </p:spPr>
        <p:txBody>
          <a:bodyPr wrap="square" lIns="0" rIns="0" tIns="0" bIns="0" anchor="t">
            <a:spAutoFit/>
          </a:bodyPr>
          <a:lstStyle/>
          <a:p>
            <a:pPr algn="l">
              <a:lnSpc>
                <a:spcPct val="120000"/>
              </a:lnSpc>
              <a:spcAft>
                <a:spcPts val="0"/>
              </a:spcAft>
            </a:pPr>
            <a:r>
              <a:rPr sz="1050" b="0">
                <a:solidFill>
                  <a:srgbClr val="595A5B"/>
                </a:solidFill>
                <a:latin typeface="Open Sans"/>
              </a:rPr>
              <a:t>Narrow the 50 tracked prompts to the ten that matter most commercially, and report against those. Working session already requested for the week of 1 September.</a:t>
            </a:r>
          </a:p>
        </p:txBody>
      </p:sp>
      <p:sp>
        <p:nvSpPr>
          <p:cNvPr id="25" name="Rectangle 24"/>
          <p:cNvSpPr/>
          <p:nvPr/>
        </p:nvSpPr>
        <p:spPr>
          <a:xfrm>
            <a:off x="502920" y="4041648"/>
            <a:ext cx="11183112" cy="84124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4041648"/>
            <a:ext cx="54864" cy="841248"/>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77240" y="4279392"/>
            <a:ext cx="365760" cy="365760"/>
          </a:xfrm>
          <a:prstGeom prst="ellipse">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4366260"/>
            <a:ext cx="365760" cy="237744"/>
          </a:xfrm>
          <a:prstGeom prst="rect">
            <a:avLst/>
          </a:prstGeom>
          <a:noFill/>
        </p:spPr>
        <p:txBody>
          <a:bodyPr wrap="square" lIns="0" rIns="0" tIns="0" bIns="0" anchor="t">
            <a:spAutoFit/>
          </a:bodyPr>
          <a:lstStyle/>
          <a:p>
            <a:pPr algn="ctr">
              <a:lnSpc>
                <a:spcPct val="115000"/>
              </a:lnSpc>
              <a:spcAft>
                <a:spcPts val="0"/>
              </a:spcAft>
            </a:pPr>
            <a:r>
              <a:rPr sz="1200" b="1">
                <a:solidFill>
                  <a:srgbClr val="FFFFFF"/>
                </a:solidFill>
                <a:latin typeface="Open Sans"/>
              </a:rPr>
              <a:t>4</a:t>
            </a:r>
          </a:p>
        </p:txBody>
      </p:sp>
      <p:sp>
        <p:nvSpPr>
          <p:cNvPr id="29" name="TextBox 28"/>
          <p:cNvSpPr txBox="1"/>
          <p:nvPr/>
        </p:nvSpPr>
        <p:spPr>
          <a:xfrm>
            <a:off x="1325880" y="4169663"/>
            <a:ext cx="10149840" cy="256032"/>
          </a:xfrm>
          <a:prstGeom prst="rect">
            <a:avLst/>
          </a:prstGeom>
          <a:noFill/>
        </p:spPr>
        <p:txBody>
          <a:bodyPr wrap="square" lIns="0" rIns="0" tIns="0" bIns="0" anchor="t">
            <a:spAutoFit/>
          </a:bodyPr>
          <a:lstStyle/>
          <a:p>
            <a:pPr algn="l">
              <a:lnSpc>
                <a:spcPct val="115000"/>
              </a:lnSpc>
              <a:spcAft>
                <a:spcPts val="0"/>
              </a:spcAft>
            </a:pPr>
            <a:r>
              <a:rPr sz="1250" b="1">
                <a:solidFill>
                  <a:srgbClr val="59257B"/>
                </a:solidFill>
                <a:latin typeface="Open Sans"/>
              </a:rPr>
              <a:t>Add Everpure to the standing competitive set</a:t>
            </a:r>
          </a:p>
        </p:txBody>
      </p:sp>
      <p:sp>
        <p:nvSpPr>
          <p:cNvPr id="30" name="TextBox 29"/>
          <p:cNvSpPr txBox="1"/>
          <p:nvPr/>
        </p:nvSpPr>
        <p:spPr>
          <a:xfrm>
            <a:off x="1325880" y="4462272"/>
            <a:ext cx="10149840" cy="365760"/>
          </a:xfrm>
          <a:prstGeom prst="rect">
            <a:avLst/>
          </a:prstGeom>
          <a:noFill/>
        </p:spPr>
        <p:txBody>
          <a:bodyPr wrap="square" lIns="0" rIns="0" tIns="0" bIns="0" anchor="t">
            <a:spAutoFit/>
          </a:bodyPr>
          <a:lstStyle/>
          <a:p>
            <a:pPr algn="l">
              <a:lnSpc>
                <a:spcPct val="120000"/>
              </a:lnSpc>
              <a:spcAft>
                <a:spcPts val="0"/>
              </a:spcAft>
            </a:pPr>
            <a:r>
              <a:rPr sz="1050" b="0">
                <a:solidFill>
                  <a:srgbClr val="595A5B"/>
                </a:solidFill>
                <a:latin typeface="Open Sans"/>
              </a:rPr>
              <a:t>It arrived mid-quarter at three times our AI Overview footprint. It should be tracked alongside Diskover and Hammerspace from now on, not treated as an event.</a:t>
            </a:r>
          </a:p>
        </p:txBody>
      </p:sp>
      <p:sp>
        <p:nvSpPr>
          <p:cNvPr id="31" name="Rectangle 30"/>
          <p:cNvSpPr/>
          <p:nvPr/>
        </p:nvSpPr>
        <p:spPr>
          <a:xfrm>
            <a:off x="502920" y="4946904"/>
            <a:ext cx="11183112" cy="84124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2920" y="4946904"/>
            <a:ext cx="54864" cy="841248"/>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77240" y="5184648"/>
            <a:ext cx="365760" cy="365760"/>
          </a:xfrm>
          <a:prstGeom prst="ellipse">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5271516"/>
            <a:ext cx="365760" cy="237744"/>
          </a:xfrm>
          <a:prstGeom prst="rect">
            <a:avLst/>
          </a:prstGeom>
          <a:noFill/>
        </p:spPr>
        <p:txBody>
          <a:bodyPr wrap="square" lIns="0" rIns="0" tIns="0" bIns="0" anchor="t">
            <a:spAutoFit/>
          </a:bodyPr>
          <a:lstStyle/>
          <a:p>
            <a:pPr algn="ctr">
              <a:lnSpc>
                <a:spcPct val="115000"/>
              </a:lnSpc>
              <a:spcAft>
                <a:spcPts val="0"/>
              </a:spcAft>
            </a:pPr>
            <a:r>
              <a:rPr sz="1200" b="1">
                <a:solidFill>
                  <a:srgbClr val="FFFFFF"/>
                </a:solidFill>
                <a:latin typeface="Open Sans"/>
              </a:rPr>
              <a:t>5</a:t>
            </a:r>
          </a:p>
        </p:txBody>
      </p:sp>
      <p:sp>
        <p:nvSpPr>
          <p:cNvPr id="35" name="TextBox 34"/>
          <p:cNvSpPr txBox="1"/>
          <p:nvPr/>
        </p:nvSpPr>
        <p:spPr>
          <a:xfrm>
            <a:off x="1325880" y="5074920"/>
            <a:ext cx="10149840" cy="256032"/>
          </a:xfrm>
          <a:prstGeom prst="rect">
            <a:avLst/>
          </a:prstGeom>
          <a:noFill/>
        </p:spPr>
        <p:txBody>
          <a:bodyPr wrap="square" lIns="0" rIns="0" tIns="0" bIns="0" anchor="t">
            <a:spAutoFit/>
          </a:bodyPr>
          <a:lstStyle/>
          <a:p>
            <a:pPr algn="l">
              <a:lnSpc>
                <a:spcPct val="115000"/>
              </a:lnSpc>
              <a:spcAft>
                <a:spcPts val="0"/>
              </a:spcAft>
            </a:pPr>
            <a:r>
              <a:rPr sz="1250" b="1">
                <a:solidFill>
                  <a:srgbClr val="59257B"/>
                </a:solidFill>
                <a:latin typeface="Open Sans"/>
              </a:rPr>
              <a:t>Keep converting pages into answer-first, question-and-answer form</a:t>
            </a:r>
          </a:p>
        </p:txBody>
      </p:sp>
      <p:sp>
        <p:nvSpPr>
          <p:cNvPr id="36" name="TextBox 35"/>
          <p:cNvSpPr txBox="1"/>
          <p:nvPr/>
        </p:nvSpPr>
        <p:spPr>
          <a:xfrm>
            <a:off x="1325880" y="5367528"/>
            <a:ext cx="10149840" cy="365760"/>
          </a:xfrm>
          <a:prstGeom prst="rect">
            <a:avLst/>
          </a:prstGeom>
          <a:noFill/>
        </p:spPr>
        <p:txBody>
          <a:bodyPr wrap="square" lIns="0" rIns="0" tIns="0" bIns="0" anchor="t">
            <a:spAutoFit/>
          </a:bodyPr>
          <a:lstStyle/>
          <a:p>
            <a:pPr algn="l">
              <a:lnSpc>
                <a:spcPct val="120000"/>
              </a:lnSpc>
              <a:spcAft>
                <a:spcPts val="0"/>
              </a:spcAft>
            </a:pPr>
            <a:r>
              <a:rPr sz="1050" b="0">
                <a:solidFill>
                  <a:srgbClr val="595A5B"/>
                </a:solidFill>
                <a:latin typeface="Open Sans"/>
              </a:rPr>
              <a:t>This is the one on-site lever with proven Q2 return — People Also Ask presence tripled. Continue across the remaining legacy pages with Tangence.</a:t>
            </a:r>
          </a:p>
        </p:txBody>
      </p:sp>
      <p:sp>
        <p:nvSpPr>
          <p:cNvPr id="37" name="Rectangle 36"/>
          <p:cNvSpPr/>
          <p:nvPr/>
        </p:nvSpPr>
        <p:spPr>
          <a:xfrm>
            <a:off x="502920" y="5870448"/>
            <a:ext cx="11183112" cy="566928"/>
          </a:xfrm>
          <a:prstGeom prst="rect">
            <a:avLst/>
          </a:prstGeom>
          <a:solidFill>
            <a:srgbClr val="E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2920" y="5870448"/>
            <a:ext cx="54864" cy="566928"/>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3232" y="5989320"/>
            <a:ext cx="10789920" cy="402336"/>
          </a:xfrm>
          <a:prstGeom prst="rect">
            <a:avLst/>
          </a:prstGeom>
          <a:noFill/>
        </p:spPr>
        <p:txBody>
          <a:bodyPr wrap="square" lIns="0" rIns="0" tIns="0" bIns="0" anchor="t">
            <a:spAutoFit/>
          </a:bodyPr>
          <a:lstStyle/>
          <a:p>
            <a:pPr algn="l">
              <a:lnSpc>
                <a:spcPct val="120000"/>
              </a:lnSpc>
              <a:spcAft>
                <a:spcPts val="0"/>
              </a:spcAft>
            </a:pPr>
            <a:r>
              <a:rPr sz="1100" b="1">
                <a:solidFill>
                  <a:srgbClr val="59257B"/>
                </a:solidFill>
                <a:latin typeface="Open Sans"/>
              </a:rPr>
              <a:t>How we will know it worked: AI Overview keyword count back above 5,522 and rising, plus a first full quarter of prompt-level movement on the agreed Top 10.</a:t>
            </a:r>
          </a:p>
        </p:txBody>
      </p:sp>
      <p:sp>
        <p:nvSpPr>
          <p:cNvPr id="40" name="TextBox 39"/>
          <p:cNvSpPr txBox="1"/>
          <p:nvPr/>
        </p:nvSpPr>
        <p:spPr>
          <a:xfrm>
            <a:off x="502920" y="6528816"/>
            <a:ext cx="6400800" cy="228600"/>
          </a:xfrm>
          <a:prstGeom prst="rect">
            <a:avLst/>
          </a:prstGeom>
          <a:noFill/>
        </p:spPr>
        <p:txBody>
          <a:bodyPr wrap="square" lIns="0" rIns="0" tIns="0" bIns="0" anchor="t">
            <a:spAutoFit/>
          </a:bodyPr>
          <a:lstStyle/>
          <a:p>
            <a:pPr algn="l">
              <a:lnSpc>
                <a:spcPct val="115000"/>
              </a:lnSpc>
              <a:spcAft>
                <a:spcPts val="0"/>
              </a:spcAft>
            </a:pPr>
            <a:r>
              <a:rPr sz="900" b="0">
                <a:solidFill>
                  <a:srgbClr val="8A8A8D"/>
                </a:solidFill>
                <a:latin typeface="Open Sans"/>
              </a:rPr>
              <a:t>Komprise GEO / SEO  —  Q2 2026 Board Update</a:t>
            </a:r>
          </a:p>
        </p:txBody>
      </p:sp>
      <p:sp>
        <p:nvSpPr>
          <p:cNvPr id="41" name="TextBox 40"/>
          <p:cNvSpPr txBox="1"/>
          <p:nvPr/>
        </p:nvSpPr>
        <p:spPr>
          <a:xfrm>
            <a:off x="10881360" y="6528816"/>
            <a:ext cx="822960" cy="228600"/>
          </a:xfrm>
          <a:prstGeom prst="rect">
            <a:avLst/>
          </a:prstGeom>
          <a:noFill/>
        </p:spPr>
        <p:txBody>
          <a:bodyPr wrap="square" lIns="0" rIns="0" tIns="0" bIns="0" anchor="t">
            <a:spAutoFit/>
          </a:bodyPr>
          <a:lstStyle/>
          <a:p>
            <a:pPr algn="r">
              <a:lnSpc>
                <a:spcPct val="115000"/>
              </a:lnSpc>
              <a:spcAft>
                <a:spcPts val="0"/>
              </a:spcAft>
            </a:pPr>
            <a:r>
              <a:rPr sz="900" b="0">
                <a:solidFill>
                  <a:srgbClr val="8A8A8D"/>
                </a:solidFill>
                <a:latin typeface="Open Sans"/>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