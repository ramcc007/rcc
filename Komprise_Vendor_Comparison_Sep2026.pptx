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92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463040" cy="36576"/>
          </a:xfrm>
          <a:prstGeom prst="rect">
            <a:avLst/>
          </a:prstGeom>
          <a:solidFill>
            <a:srgbClr val="9FC4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ompr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4320"/>
            <a:ext cx="1298448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FC406"/>
                </a:solidFill>
                <a:latin typeface="Open Sans"/>
              </a:rPr>
              <a:t>COMPETITIVE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59257B"/>
                </a:solidFill>
                <a:latin typeface="Open Sans"/>
              </a:rPr>
              <a:t>How Komprise Compares to the Broader Vendor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95A5B"/>
                </a:solidFill>
                <a:latin typeface="Open Sans"/>
              </a:rPr>
              <a:t>Organic search footprint and domain authority across the vendor set the board asked about.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475488"/>
          </a:xfrm>
          <a:prstGeom prst="rect">
            <a:avLst/>
          </a:prstGeom>
          <a:solidFill>
            <a:srgbClr val="592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572768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Ranking Keywords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72768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Monthly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57276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Keywords in AI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57276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Authority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29968"/>
            <a:ext cx="11183112" cy="420624"/>
          </a:xfrm>
          <a:prstGeom prst="rect">
            <a:avLst/>
          </a:prstGeom>
          <a:solidFill>
            <a:srgbClr val="E9E2F0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029968"/>
            <a:ext cx="54864" cy="420624"/>
          </a:xfrm>
          <a:prstGeom prst="rect">
            <a:avLst/>
          </a:prstGeom>
          <a:solidFill>
            <a:srgbClr val="7A99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3969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59257B"/>
                </a:solidFill>
                <a:latin typeface="Open Sans"/>
              </a:rPr>
              <a:t>Komprise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1396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59257B"/>
                </a:solidFill>
                <a:latin typeface="Open Sans"/>
              </a:rPr>
              <a:t>6,139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1396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59257B"/>
                </a:solidFill>
                <a:latin typeface="Open Sans"/>
              </a:rPr>
              <a:t>25,126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13969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59257B"/>
                </a:solidFill>
                <a:latin typeface="Open Sans"/>
              </a:rPr>
              <a:t>5,464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13969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59257B"/>
                </a:solidFill>
                <a:latin typeface="Open Sans"/>
              </a:rPr>
              <a:t>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487168"/>
            <a:ext cx="11183112" cy="420624"/>
          </a:xfrm>
          <a:prstGeom prst="rect">
            <a:avLst/>
          </a:prstGeom>
          <a:solidFill>
            <a:srgbClr val="F7F5F9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59689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62428"/>
                </a:solidFill>
                <a:latin typeface="Open Sans"/>
              </a:rPr>
              <a:t>NetApp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5968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39,118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5968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75,742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59689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32,473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59689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51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944368"/>
            <a:ext cx="1118311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05409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62428"/>
                </a:solidFill>
                <a:latin typeface="Open Sans"/>
              </a:rPr>
              <a:t>Everpure (Pure)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0540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20,134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0540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42,990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305409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17,968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05409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51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401568"/>
            <a:ext cx="11183112" cy="420624"/>
          </a:xfrm>
          <a:prstGeom prst="rect">
            <a:avLst/>
          </a:prstGeom>
          <a:solidFill>
            <a:srgbClr val="F7F5F9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51129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62428"/>
                </a:solidFill>
                <a:latin typeface="Open Sans"/>
              </a:rPr>
              <a:t>Cohesity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35112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13,381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35112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36,773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351129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11,136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51129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43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858768"/>
            <a:ext cx="1118311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96849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62428"/>
                </a:solidFill>
                <a:latin typeface="Open Sans"/>
              </a:rPr>
              <a:t>Commvault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39684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18,472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39684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33,189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396849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14,773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396849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95A5B"/>
                </a:solidFill>
                <a:latin typeface="Open Sans"/>
              </a:rPr>
              <a:t>47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" y="4407408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A8A8D"/>
                </a:solidFill>
                <a:latin typeface="Open Sans"/>
              </a:rPr>
              <a:t>Source: Semrush, US database, snapshot of 15 August 2026. Authority is Semrush's 0 to 100 measure of overall domain strength.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736592"/>
            <a:ext cx="5504688" cy="1316736"/>
          </a:xfrm>
          <a:prstGeom prst="rect">
            <a:avLst/>
          </a:prstGeom>
          <a:solidFill>
            <a:srgbClr val="F7F5F9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736592"/>
            <a:ext cx="54864" cy="1316736"/>
          </a:xfrm>
          <a:prstGeom prst="rect">
            <a:avLst/>
          </a:prstGeom>
          <a:solidFill>
            <a:srgbClr val="7A99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" y="4901184"/>
            <a:ext cx="50749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59257B"/>
                </a:solidFill>
                <a:latin typeface="Open Sans"/>
              </a:rPr>
              <a:t>Smallest footprint, best conversion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Komprise ranks for a sixth of NetApp's keywords and holds a third of its traffic. Each keyword earns 4.1 visits against 1.9 for NetApp, and our authority matches Cohesity on a quarter of the referring domains.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1344" y="4736592"/>
            <a:ext cx="5504688" cy="1316736"/>
          </a:xfrm>
          <a:prstGeom prst="rect">
            <a:avLst/>
          </a:prstGeom>
          <a:solidFill>
            <a:srgbClr val="F7F5F9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81344" y="4736592"/>
            <a:ext cx="54864" cy="1316736"/>
          </a:xfrm>
          <a:prstGeom prst="rect">
            <a:avLst/>
          </a:prstGeom>
          <a:solidFill>
            <a:srgbClr val="592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37376" y="4901184"/>
            <a:ext cx="50749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59257B"/>
                </a:solidFill>
                <a:latin typeface="Open Sans"/>
              </a:rPr>
              <a:t>On their own product terms, we are the answer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Google's AI answer for “fabricpool” names Komprise first. NetApp's own pages do not appear in it at all. The same holds for “dell powerscale”, “dell emc storage” and “netapp bluexp”.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144768"/>
            <a:ext cx="11183112" cy="365760"/>
          </a:xfrm>
          <a:prstGeom prst="rect">
            <a:avLst/>
          </a:prstGeom>
          <a:solidFill>
            <a:srgbClr val="E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6144768"/>
            <a:ext cx="54864" cy="365760"/>
          </a:xfrm>
          <a:prstGeom prst="rect">
            <a:avLst/>
          </a:prstGeom>
          <a:solidFill>
            <a:srgbClr val="592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" y="622706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59257B"/>
                </a:solidFill>
                <a:latin typeface="Open Sans"/>
              </a:rPr>
              <a:t>Worth watching: Everpure, Commvault and Cohesity all grew traffic faster than us since May. The category is in a land grab.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52881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A8D"/>
                </a:solidFill>
                <a:latin typeface="Open Sans"/>
              </a:rPr>
              <a:t>Komprise  ·  Competitive position, September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A8D"/>
                </a:solidFill>
                <a:latin typeface="Open Sans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