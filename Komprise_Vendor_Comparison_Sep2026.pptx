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
            <a:ext cx="1463040" cy="3657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omprise-logo.png"/>
          <p:cNvPicPr>
            <a:picLocks noChangeAspect="1"/>
          </p:cNvPicPr>
          <p:nvPr/>
        </p:nvPicPr>
        <p:blipFill>
          <a:blip r:embed="rId2"/>
          <a:stretch>
            <a:fillRect/>
          </a:stretch>
        </p:blipFill>
        <p:spPr>
          <a:xfrm>
            <a:off x="10561320" y="274320"/>
            <a:ext cx="1298448" cy="274320"/>
          </a:xfrm>
          <a:prstGeom prst="rect">
            <a:avLst/>
          </a:prstGeom>
        </p:spPr>
      </p:pic>
      <p:sp>
        <p:nvSpPr>
          <p:cNvPr id="5" name="TextBox 4"/>
          <p:cNvSpPr txBox="1"/>
          <p:nvPr/>
        </p:nvSpPr>
        <p:spPr>
          <a:xfrm>
            <a:off x="502920" y="237744"/>
            <a:ext cx="9144000" cy="256032"/>
          </a:xfrm>
          <a:prstGeom prst="rect">
            <a:avLst/>
          </a:prstGeom>
          <a:noFill/>
        </p:spPr>
        <p:txBody>
          <a:bodyPr wrap="square" lIns="0" rIns="0" tIns="0" bIns="0" anchor="t">
            <a:spAutoFit/>
          </a:bodyPr>
          <a:lstStyle/>
          <a:p>
            <a:pPr algn="l">
              <a:lnSpc>
                <a:spcPct val="115000"/>
              </a:lnSpc>
              <a:spcAft>
                <a:spcPts val="0"/>
              </a:spcAft>
            </a:pPr>
            <a:r>
              <a:rPr sz="1050" b="1">
                <a:solidFill>
                  <a:srgbClr val="9FC406"/>
                </a:solidFill>
                <a:latin typeface="Open Sans"/>
              </a:rPr>
              <a:t>COMPETITIVE POSITION</a:t>
            </a:r>
          </a:p>
        </p:txBody>
      </p:sp>
      <p:sp>
        <p:nvSpPr>
          <p:cNvPr id="6" name="TextBox 5"/>
          <p:cNvSpPr txBox="1"/>
          <p:nvPr/>
        </p:nvSpPr>
        <p:spPr>
          <a:xfrm>
            <a:off x="502920" y="502920"/>
            <a:ext cx="9692640" cy="457200"/>
          </a:xfrm>
          <a:prstGeom prst="rect">
            <a:avLst/>
          </a:prstGeom>
          <a:noFill/>
        </p:spPr>
        <p:txBody>
          <a:bodyPr wrap="square" lIns="0" rIns="0" tIns="0" bIns="0" anchor="t">
            <a:spAutoFit/>
          </a:bodyPr>
          <a:lstStyle/>
          <a:p>
            <a:pPr algn="l">
              <a:lnSpc>
                <a:spcPct val="115000"/>
              </a:lnSpc>
              <a:spcAft>
                <a:spcPts val="0"/>
              </a:spcAft>
            </a:pPr>
            <a:r>
              <a:rPr sz="2500" b="1">
                <a:solidFill>
                  <a:srgbClr val="59257B"/>
                </a:solidFill>
                <a:latin typeface="Open Sans"/>
              </a:rPr>
              <a:t>How Komprise Compares to the Broader Vendor Set</a:t>
            </a:r>
          </a:p>
        </p:txBody>
      </p:sp>
      <p:sp>
        <p:nvSpPr>
          <p:cNvPr id="7" name="TextBox 6"/>
          <p:cNvSpPr txBox="1"/>
          <p:nvPr/>
        </p:nvSpPr>
        <p:spPr>
          <a:xfrm>
            <a:off x="502920" y="987552"/>
            <a:ext cx="10241280" cy="292608"/>
          </a:xfrm>
          <a:prstGeom prst="rect">
            <a:avLst/>
          </a:prstGeom>
          <a:noFill/>
        </p:spPr>
        <p:txBody>
          <a:bodyPr wrap="square" lIns="0" rIns="0" tIns="0" bIns="0" anchor="t">
            <a:spAutoFit/>
          </a:bodyPr>
          <a:lstStyle/>
          <a:p>
            <a:pPr algn="l">
              <a:lnSpc>
                <a:spcPct val="115000"/>
              </a:lnSpc>
              <a:spcAft>
                <a:spcPts val="0"/>
              </a:spcAft>
            </a:pPr>
            <a:r>
              <a:rPr sz="1250" b="0">
                <a:solidFill>
                  <a:srgbClr val="595A5B"/>
                </a:solidFill>
                <a:latin typeface="Open Sans"/>
              </a:rPr>
              <a:t>Organic search footprint and domain authority across the vendor set the board asked about.</a:t>
            </a:r>
          </a:p>
        </p:txBody>
      </p:sp>
      <p:sp>
        <p:nvSpPr>
          <p:cNvPr id="8" name="Rectangle 7"/>
          <p:cNvSpPr/>
          <p:nvPr/>
        </p:nvSpPr>
        <p:spPr>
          <a:xfrm>
            <a:off x="502920" y="1481328"/>
            <a:ext cx="11183112" cy="475488"/>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572768"/>
            <a:ext cx="2697480" cy="329184"/>
          </a:xfrm>
          <a:prstGeom prst="rect">
            <a:avLst/>
          </a:prstGeom>
          <a:noFill/>
        </p:spPr>
        <p:txBody>
          <a:bodyPr wrap="square" lIns="0" rIns="0" tIns="0" bIns="0" anchor="t">
            <a:spAutoFit/>
          </a:bodyPr>
          <a:lstStyle/>
          <a:p>
            <a:pPr algn="l">
              <a:lnSpc>
                <a:spcPct val="108000"/>
              </a:lnSpc>
              <a:spcAft>
                <a:spcPts val="0"/>
              </a:spcAft>
            </a:pPr>
            <a:r>
              <a:rPr sz="950" b="1">
                <a:solidFill>
                  <a:srgbClr val="FFFFFF"/>
                </a:solidFill>
                <a:latin typeface="Open Sans"/>
              </a:rPr>
              <a:t>Company</a:t>
            </a:r>
          </a:p>
        </p:txBody>
      </p:sp>
      <p:sp>
        <p:nvSpPr>
          <p:cNvPr id="10" name="TextBox 9"/>
          <p:cNvSpPr txBox="1"/>
          <p:nvPr/>
        </p:nvSpPr>
        <p:spPr>
          <a:xfrm>
            <a:off x="3474720" y="1572768"/>
            <a:ext cx="1554480" cy="329184"/>
          </a:xfrm>
          <a:prstGeom prst="rect">
            <a:avLst/>
          </a:prstGeom>
          <a:noFill/>
        </p:spPr>
        <p:txBody>
          <a:bodyPr wrap="square" lIns="0" rIns="0" tIns="0" bIns="0" anchor="t">
            <a:spAutoFit/>
          </a:bodyPr>
          <a:lstStyle/>
          <a:p>
            <a:pPr algn="ctr">
              <a:lnSpc>
                <a:spcPct val="108000"/>
              </a:lnSpc>
              <a:spcAft>
                <a:spcPts val="0"/>
              </a:spcAft>
            </a:pPr>
            <a:r>
              <a:rPr sz="950" b="1">
                <a:solidFill>
                  <a:srgbClr val="FFFFFF"/>
                </a:solidFill>
                <a:latin typeface="Open Sans"/>
              </a:rPr>
              <a:t>Ranking Keywords</a:t>
            </a:r>
          </a:p>
        </p:txBody>
      </p:sp>
      <p:sp>
        <p:nvSpPr>
          <p:cNvPr id="11" name="TextBox 10"/>
          <p:cNvSpPr txBox="1"/>
          <p:nvPr/>
        </p:nvSpPr>
        <p:spPr>
          <a:xfrm>
            <a:off x="5074920" y="1572768"/>
            <a:ext cx="1463040" cy="329184"/>
          </a:xfrm>
          <a:prstGeom prst="rect">
            <a:avLst/>
          </a:prstGeom>
          <a:noFill/>
        </p:spPr>
        <p:txBody>
          <a:bodyPr wrap="square" lIns="0" rIns="0" tIns="0" bIns="0" anchor="t">
            <a:spAutoFit/>
          </a:bodyPr>
          <a:lstStyle/>
          <a:p>
            <a:pPr algn="ctr">
              <a:lnSpc>
                <a:spcPct val="108000"/>
              </a:lnSpc>
              <a:spcAft>
                <a:spcPts val="0"/>
              </a:spcAft>
            </a:pPr>
            <a:r>
              <a:rPr sz="950" b="1">
                <a:solidFill>
                  <a:srgbClr val="FFFFFF"/>
                </a:solidFill>
                <a:latin typeface="Open Sans"/>
              </a:rPr>
              <a:t>Pages Indexed</a:t>
            </a:r>
          </a:p>
        </p:txBody>
      </p:sp>
      <p:sp>
        <p:nvSpPr>
          <p:cNvPr id="12" name="TextBox 11"/>
          <p:cNvSpPr txBox="1"/>
          <p:nvPr/>
        </p:nvSpPr>
        <p:spPr>
          <a:xfrm>
            <a:off x="6583680" y="1572768"/>
            <a:ext cx="1554480" cy="329184"/>
          </a:xfrm>
          <a:prstGeom prst="rect">
            <a:avLst/>
          </a:prstGeom>
          <a:noFill/>
        </p:spPr>
        <p:txBody>
          <a:bodyPr wrap="square" lIns="0" rIns="0" tIns="0" bIns="0" anchor="t">
            <a:spAutoFit/>
          </a:bodyPr>
          <a:lstStyle/>
          <a:p>
            <a:pPr algn="ctr">
              <a:lnSpc>
                <a:spcPct val="108000"/>
              </a:lnSpc>
              <a:spcAft>
                <a:spcPts val="0"/>
              </a:spcAft>
            </a:pPr>
            <a:r>
              <a:rPr sz="950" b="1">
                <a:solidFill>
                  <a:srgbClr val="FFFFFF"/>
                </a:solidFill>
                <a:latin typeface="Open Sans"/>
              </a:rPr>
              <a:t>Monthly Traffic</a:t>
            </a:r>
          </a:p>
        </p:txBody>
      </p:sp>
      <p:sp>
        <p:nvSpPr>
          <p:cNvPr id="13" name="TextBox 12"/>
          <p:cNvSpPr txBox="1"/>
          <p:nvPr/>
        </p:nvSpPr>
        <p:spPr>
          <a:xfrm>
            <a:off x="8183879" y="1572768"/>
            <a:ext cx="1965960" cy="329184"/>
          </a:xfrm>
          <a:prstGeom prst="rect">
            <a:avLst/>
          </a:prstGeom>
          <a:noFill/>
        </p:spPr>
        <p:txBody>
          <a:bodyPr wrap="square" lIns="0" rIns="0" tIns="0" bIns="0" anchor="t">
            <a:spAutoFit/>
          </a:bodyPr>
          <a:lstStyle/>
          <a:p>
            <a:pPr algn="ctr">
              <a:lnSpc>
                <a:spcPct val="108000"/>
              </a:lnSpc>
              <a:spcAft>
                <a:spcPts val="0"/>
              </a:spcAft>
            </a:pPr>
            <a:r>
              <a:rPr sz="950" b="1">
                <a:solidFill>
                  <a:srgbClr val="FFFFFF"/>
                </a:solidFill>
                <a:latin typeface="Open Sans"/>
              </a:rPr>
              <a:t>Keywords in AI Answers</a:t>
            </a:r>
          </a:p>
        </p:txBody>
      </p:sp>
      <p:sp>
        <p:nvSpPr>
          <p:cNvPr id="14" name="TextBox 13"/>
          <p:cNvSpPr txBox="1"/>
          <p:nvPr/>
        </p:nvSpPr>
        <p:spPr>
          <a:xfrm>
            <a:off x="10195560" y="1572768"/>
            <a:ext cx="1280160" cy="329184"/>
          </a:xfrm>
          <a:prstGeom prst="rect">
            <a:avLst/>
          </a:prstGeom>
          <a:noFill/>
        </p:spPr>
        <p:txBody>
          <a:bodyPr wrap="square" lIns="0" rIns="0" tIns="0" bIns="0" anchor="t">
            <a:spAutoFit/>
          </a:bodyPr>
          <a:lstStyle/>
          <a:p>
            <a:pPr algn="ctr">
              <a:lnSpc>
                <a:spcPct val="108000"/>
              </a:lnSpc>
              <a:spcAft>
                <a:spcPts val="0"/>
              </a:spcAft>
            </a:pPr>
            <a:r>
              <a:rPr sz="950" b="1">
                <a:solidFill>
                  <a:srgbClr val="FFFFFF"/>
                </a:solidFill>
                <a:latin typeface="Open Sans"/>
              </a:rPr>
              <a:t>Authority</a:t>
            </a:r>
          </a:p>
        </p:txBody>
      </p:sp>
      <p:sp>
        <p:nvSpPr>
          <p:cNvPr id="15" name="Rectangle 14"/>
          <p:cNvSpPr/>
          <p:nvPr/>
        </p:nvSpPr>
        <p:spPr>
          <a:xfrm>
            <a:off x="502920" y="2029968"/>
            <a:ext cx="11183112" cy="420624"/>
          </a:xfrm>
          <a:prstGeom prst="rect">
            <a:avLst/>
          </a:prstGeom>
          <a:solidFill>
            <a:srgbClr val="E9E2F0"/>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029968"/>
            <a:ext cx="54864" cy="420624"/>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139696"/>
            <a:ext cx="2697480" cy="237744"/>
          </a:xfrm>
          <a:prstGeom prst="rect">
            <a:avLst/>
          </a:prstGeom>
          <a:noFill/>
        </p:spPr>
        <p:txBody>
          <a:bodyPr wrap="square" lIns="0" rIns="0" tIns="0" bIns="0" anchor="t">
            <a:spAutoFit/>
          </a:bodyPr>
          <a:lstStyle/>
          <a:p>
            <a:pPr algn="l">
              <a:lnSpc>
                <a:spcPct val="115000"/>
              </a:lnSpc>
              <a:spcAft>
                <a:spcPts val="0"/>
              </a:spcAft>
            </a:pPr>
            <a:r>
              <a:rPr sz="1150" b="1">
                <a:solidFill>
                  <a:srgbClr val="59257B"/>
                </a:solidFill>
                <a:latin typeface="Open Sans"/>
              </a:rPr>
              <a:t>Komprise</a:t>
            </a:r>
          </a:p>
        </p:txBody>
      </p:sp>
      <p:sp>
        <p:nvSpPr>
          <p:cNvPr id="18" name="TextBox 17"/>
          <p:cNvSpPr txBox="1"/>
          <p:nvPr/>
        </p:nvSpPr>
        <p:spPr>
          <a:xfrm>
            <a:off x="3474720" y="2139696"/>
            <a:ext cx="1554480" cy="237744"/>
          </a:xfrm>
          <a:prstGeom prst="rect">
            <a:avLst/>
          </a:prstGeom>
          <a:noFill/>
        </p:spPr>
        <p:txBody>
          <a:bodyPr wrap="square" lIns="0" rIns="0" tIns="0" bIns="0" anchor="t">
            <a:spAutoFit/>
          </a:bodyPr>
          <a:lstStyle/>
          <a:p>
            <a:pPr algn="ctr">
              <a:lnSpc>
                <a:spcPct val="115000"/>
              </a:lnSpc>
              <a:spcAft>
                <a:spcPts val="0"/>
              </a:spcAft>
            </a:pPr>
            <a:r>
              <a:rPr sz="1150" b="1">
                <a:solidFill>
                  <a:srgbClr val="59257B"/>
                </a:solidFill>
                <a:latin typeface="Open Sans"/>
              </a:rPr>
              <a:t>6,139</a:t>
            </a:r>
          </a:p>
        </p:txBody>
      </p:sp>
      <p:sp>
        <p:nvSpPr>
          <p:cNvPr id="19" name="TextBox 18"/>
          <p:cNvSpPr txBox="1"/>
          <p:nvPr/>
        </p:nvSpPr>
        <p:spPr>
          <a:xfrm>
            <a:off x="5074920" y="2139696"/>
            <a:ext cx="1463040" cy="237744"/>
          </a:xfrm>
          <a:prstGeom prst="rect">
            <a:avLst/>
          </a:prstGeom>
          <a:noFill/>
        </p:spPr>
        <p:txBody>
          <a:bodyPr wrap="square" lIns="0" rIns="0" tIns="0" bIns="0" anchor="t">
            <a:spAutoFit/>
          </a:bodyPr>
          <a:lstStyle/>
          <a:p>
            <a:pPr algn="ctr">
              <a:lnSpc>
                <a:spcPct val="115000"/>
              </a:lnSpc>
              <a:spcAft>
                <a:spcPts val="0"/>
              </a:spcAft>
            </a:pPr>
            <a:r>
              <a:rPr sz="1150" b="1">
                <a:solidFill>
                  <a:srgbClr val="59257B"/>
                </a:solidFill>
                <a:latin typeface="Open Sans"/>
              </a:rPr>
              <a:t>1,610</a:t>
            </a:r>
          </a:p>
        </p:txBody>
      </p:sp>
      <p:sp>
        <p:nvSpPr>
          <p:cNvPr id="20" name="TextBox 19"/>
          <p:cNvSpPr txBox="1"/>
          <p:nvPr/>
        </p:nvSpPr>
        <p:spPr>
          <a:xfrm>
            <a:off x="6583680" y="2139696"/>
            <a:ext cx="1554480" cy="237744"/>
          </a:xfrm>
          <a:prstGeom prst="rect">
            <a:avLst/>
          </a:prstGeom>
          <a:noFill/>
        </p:spPr>
        <p:txBody>
          <a:bodyPr wrap="square" lIns="0" rIns="0" tIns="0" bIns="0" anchor="t">
            <a:spAutoFit/>
          </a:bodyPr>
          <a:lstStyle/>
          <a:p>
            <a:pPr algn="ctr">
              <a:lnSpc>
                <a:spcPct val="115000"/>
              </a:lnSpc>
              <a:spcAft>
                <a:spcPts val="0"/>
              </a:spcAft>
            </a:pPr>
            <a:r>
              <a:rPr sz="1150" b="1">
                <a:solidFill>
                  <a:srgbClr val="59257B"/>
                </a:solidFill>
                <a:latin typeface="Open Sans"/>
              </a:rPr>
              <a:t>4,600 *</a:t>
            </a:r>
          </a:p>
        </p:txBody>
      </p:sp>
      <p:sp>
        <p:nvSpPr>
          <p:cNvPr id="21" name="TextBox 20"/>
          <p:cNvSpPr txBox="1"/>
          <p:nvPr/>
        </p:nvSpPr>
        <p:spPr>
          <a:xfrm>
            <a:off x="8183879" y="2139696"/>
            <a:ext cx="1965960" cy="237744"/>
          </a:xfrm>
          <a:prstGeom prst="rect">
            <a:avLst/>
          </a:prstGeom>
          <a:noFill/>
        </p:spPr>
        <p:txBody>
          <a:bodyPr wrap="square" lIns="0" rIns="0" tIns="0" bIns="0" anchor="t">
            <a:spAutoFit/>
          </a:bodyPr>
          <a:lstStyle/>
          <a:p>
            <a:pPr algn="ctr">
              <a:lnSpc>
                <a:spcPct val="115000"/>
              </a:lnSpc>
              <a:spcAft>
                <a:spcPts val="0"/>
              </a:spcAft>
            </a:pPr>
            <a:r>
              <a:rPr sz="1150" b="1">
                <a:solidFill>
                  <a:srgbClr val="59257B"/>
                </a:solidFill>
                <a:latin typeface="Open Sans"/>
              </a:rPr>
              <a:t>5,464</a:t>
            </a:r>
          </a:p>
        </p:txBody>
      </p:sp>
      <p:sp>
        <p:nvSpPr>
          <p:cNvPr id="22" name="TextBox 21"/>
          <p:cNvSpPr txBox="1"/>
          <p:nvPr/>
        </p:nvSpPr>
        <p:spPr>
          <a:xfrm>
            <a:off x="10195560" y="2139696"/>
            <a:ext cx="1280160" cy="237744"/>
          </a:xfrm>
          <a:prstGeom prst="rect">
            <a:avLst/>
          </a:prstGeom>
          <a:noFill/>
        </p:spPr>
        <p:txBody>
          <a:bodyPr wrap="square" lIns="0" rIns="0" tIns="0" bIns="0" anchor="t">
            <a:spAutoFit/>
          </a:bodyPr>
          <a:lstStyle/>
          <a:p>
            <a:pPr algn="ctr">
              <a:lnSpc>
                <a:spcPct val="115000"/>
              </a:lnSpc>
              <a:spcAft>
                <a:spcPts val="0"/>
              </a:spcAft>
            </a:pPr>
            <a:r>
              <a:rPr sz="1150" b="1">
                <a:solidFill>
                  <a:srgbClr val="59257B"/>
                </a:solidFill>
                <a:latin typeface="Open Sans"/>
              </a:rPr>
              <a:t>43</a:t>
            </a:r>
          </a:p>
        </p:txBody>
      </p:sp>
      <p:sp>
        <p:nvSpPr>
          <p:cNvPr id="23" name="Rectangle 22"/>
          <p:cNvSpPr/>
          <p:nvPr/>
        </p:nvSpPr>
        <p:spPr>
          <a:xfrm>
            <a:off x="502920" y="2487168"/>
            <a:ext cx="11183112" cy="420624"/>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596896"/>
            <a:ext cx="2697480" cy="237744"/>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NetApp</a:t>
            </a:r>
          </a:p>
        </p:txBody>
      </p:sp>
      <p:sp>
        <p:nvSpPr>
          <p:cNvPr id="25" name="TextBox 24"/>
          <p:cNvSpPr txBox="1"/>
          <p:nvPr/>
        </p:nvSpPr>
        <p:spPr>
          <a:xfrm>
            <a:off x="3474720" y="25968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39,118</a:t>
            </a:r>
          </a:p>
        </p:txBody>
      </p:sp>
      <p:sp>
        <p:nvSpPr>
          <p:cNvPr id="26" name="TextBox 25"/>
          <p:cNvSpPr txBox="1"/>
          <p:nvPr/>
        </p:nvSpPr>
        <p:spPr>
          <a:xfrm>
            <a:off x="5074920" y="2596896"/>
            <a:ext cx="146304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621,000</a:t>
            </a:r>
          </a:p>
        </p:txBody>
      </p:sp>
      <p:sp>
        <p:nvSpPr>
          <p:cNvPr id="27" name="TextBox 26"/>
          <p:cNvSpPr txBox="1"/>
          <p:nvPr/>
        </p:nvSpPr>
        <p:spPr>
          <a:xfrm>
            <a:off x="6583680" y="25968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75,742</a:t>
            </a:r>
          </a:p>
        </p:txBody>
      </p:sp>
      <p:sp>
        <p:nvSpPr>
          <p:cNvPr id="28" name="TextBox 27"/>
          <p:cNvSpPr txBox="1"/>
          <p:nvPr/>
        </p:nvSpPr>
        <p:spPr>
          <a:xfrm>
            <a:off x="8183879" y="2596896"/>
            <a:ext cx="19659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32,473</a:t>
            </a:r>
          </a:p>
        </p:txBody>
      </p:sp>
      <p:sp>
        <p:nvSpPr>
          <p:cNvPr id="29" name="TextBox 28"/>
          <p:cNvSpPr txBox="1"/>
          <p:nvPr/>
        </p:nvSpPr>
        <p:spPr>
          <a:xfrm>
            <a:off x="10195560" y="2596896"/>
            <a:ext cx="12801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51</a:t>
            </a:r>
          </a:p>
        </p:txBody>
      </p:sp>
      <p:sp>
        <p:nvSpPr>
          <p:cNvPr id="30" name="Rectangle 29"/>
          <p:cNvSpPr/>
          <p:nvPr/>
        </p:nvSpPr>
        <p:spPr>
          <a:xfrm>
            <a:off x="502920" y="2944368"/>
            <a:ext cx="11183112" cy="420624"/>
          </a:xfrm>
          <a:prstGeom prst="rect">
            <a:avLst/>
          </a:prstGeom>
          <a:solidFill>
            <a:srgbClr val="FFFFFF"/>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3054096"/>
            <a:ext cx="2697480" cy="237744"/>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Everpure (Pure)</a:t>
            </a:r>
          </a:p>
        </p:txBody>
      </p:sp>
      <p:sp>
        <p:nvSpPr>
          <p:cNvPr id="32" name="TextBox 31"/>
          <p:cNvSpPr txBox="1"/>
          <p:nvPr/>
        </p:nvSpPr>
        <p:spPr>
          <a:xfrm>
            <a:off x="3474720" y="30540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20,134</a:t>
            </a:r>
          </a:p>
        </p:txBody>
      </p:sp>
      <p:sp>
        <p:nvSpPr>
          <p:cNvPr id="33" name="TextBox 32"/>
          <p:cNvSpPr txBox="1"/>
          <p:nvPr/>
        </p:nvSpPr>
        <p:spPr>
          <a:xfrm>
            <a:off x="5074920" y="3054096"/>
            <a:ext cx="146304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32,900</a:t>
            </a:r>
          </a:p>
        </p:txBody>
      </p:sp>
      <p:sp>
        <p:nvSpPr>
          <p:cNvPr id="34" name="TextBox 33"/>
          <p:cNvSpPr txBox="1"/>
          <p:nvPr/>
        </p:nvSpPr>
        <p:spPr>
          <a:xfrm>
            <a:off x="6583680" y="30540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42,990</a:t>
            </a:r>
          </a:p>
        </p:txBody>
      </p:sp>
      <p:sp>
        <p:nvSpPr>
          <p:cNvPr id="35" name="TextBox 34"/>
          <p:cNvSpPr txBox="1"/>
          <p:nvPr/>
        </p:nvSpPr>
        <p:spPr>
          <a:xfrm>
            <a:off x="8183879" y="3054096"/>
            <a:ext cx="19659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17,968</a:t>
            </a:r>
          </a:p>
        </p:txBody>
      </p:sp>
      <p:sp>
        <p:nvSpPr>
          <p:cNvPr id="36" name="TextBox 35"/>
          <p:cNvSpPr txBox="1"/>
          <p:nvPr/>
        </p:nvSpPr>
        <p:spPr>
          <a:xfrm>
            <a:off x="10195560" y="3054096"/>
            <a:ext cx="12801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51</a:t>
            </a:r>
          </a:p>
        </p:txBody>
      </p:sp>
      <p:sp>
        <p:nvSpPr>
          <p:cNvPr id="37" name="Rectangle 36"/>
          <p:cNvSpPr/>
          <p:nvPr/>
        </p:nvSpPr>
        <p:spPr>
          <a:xfrm>
            <a:off x="502920" y="3401568"/>
            <a:ext cx="11183112" cy="420624"/>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3511296"/>
            <a:ext cx="2697480" cy="237744"/>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Cohesity</a:t>
            </a:r>
          </a:p>
        </p:txBody>
      </p:sp>
      <p:sp>
        <p:nvSpPr>
          <p:cNvPr id="39" name="TextBox 38"/>
          <p:cNvSpPr txBox="1"/>
          <p:nvPr/>
        </p:nvSpPr>
        <p:spPr>
          <a:xfrm>
            <a:off x="3474720" y="35112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13,381</a:t>
            </a:r>
          </a:p>
        </p:txBody>
      </p:sp>
      <p:sp>
        <p:nvSpPr>
          <p:cNvPr id="40" name="TextBox 39"/>
          <p:cNvSpPr txBox="1"/>
          <p:nvPr/>
        </p:nvSpPr>
        <p:spPr>
          <a:xfrm>
            <a:off x="5074920" y="3511296"/>
            <a:ext cx="146304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310,000</a:t>
            </a:r>
          </a:p>
        </p:txBody>
      </p:sp>
      <p:sp>
        <p:nvSpPr>
          <p:cNvPr id="41" name="TextBox 40"/>
          <p:cNvSpPr txBox="1"/>
          <p:nvPr/>
        </p:nvSpPr>
        <p:spPr>
          <a:xfrm>
            <a:off x="6583680" y="35112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36,773</a:t>
            </a:r>
          </a:p>
        </p:txBody>
      </p:sp>
      <p:sp>
        <p:nvSpPr>
          <p:cNvPr id="42" name="TextBox 41"/>
          <p:cNvSpPr txBox="1"/>
          <p:nvPr/>
        </p:nvSpPr>
        <p:spPr>
          <a:xfrm>
            <a:off x="8183879" y="3511296"/>
            <a:ext cx="19659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11,136</a:t>
            </a:r>
          </a:p>
        </p:txBody>
      </p:sp>
      <p:sp>
        <p:nvSpPr>
          <p:cNvPr id="43" name="TextBox 42"/>
          <p:cNvSpPr txBox="1"/>
          <p:nvPr/>
        </p:nvSpPr>
        <p:spPr>
          <a:xfrm>
            <a:off x="10195560" y="3511296"/>
            <a:ext cx="12801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43</a:t>
            </a:r>
          </a:p>
        </p:txBody>
      </p:sp>
      <p:sp>
        <p:nvSpPr>
          <p:cNvPr id="44" name="Rectangle 43"/>
          <p:cNvSpPr/>
          <p:nvPr/>
        </p:nvSpPr>
        <p:spPr>
          <a:xfrm>
            <a:off x="502920" y="3858768"/>
            <a:ext cx="11183112" cy="420624"/>
          </a:xfrm>
          <a:prstGeom prst="rect">
            <a:avLst/>
          </a:prstGeom>
          <a:solidFill>
            <a:srgbClr val="FFFFFF"/>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3968496"/>
            <a:ext cx="2697480" cy="237744"/>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Commvault</a:t>
            </a:r>
          </a:p>
        </p:txBody>
      </p:sp>
      <p:sp>
        <p:nvSpPr>
          <p:cNvPr id="46" name="TextBox 45"/>
          <p:cNvSpPr txBox="1"/>
          <p:nvPr/>
        </p:nvSpPr>
        <p:spPr>
          <a:xfrm>
            <a:off x="3474720" y="39684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18,472</a:t>
            </a:r>
          </a:p>
        </p:txBody>
      </p:sp>
      <p:sp>
        <p:nvSpPr>
          <p:cNvPr id="47" name="TextBox 46"/>
          <p:cNvSpPr txBox="1"/>
          <p:nvPr/>
        </p:nvSpPr>
        <p:spPr>
          <a:xfrm>
            <a:off x="5074920" y="3968496"/>
            <a:ext cx="146304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172,000</a:t>
            </a:r>
          </a:p>
        </p:txBody>
      </p:sp>
      <p:sp>
        <p:nvSpPr>
          <p:cNvPr id="48" name="TextBox 47"/>
          <p:cNvSpPr txBox="1"/>
          <p:nvPr/>
        </p:nvSpPr>
        <p:spPr>
          <a:xfrm>
            <a:off x="6583680" y="39684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33,189</a:t>
            </a:r>
          </a:p>
        </p:txBody>
      </p:sp>
      <p:sp>
        <p:nvSpPr>
          <p:cNvPr id="49" name="TextBox 48"/>
          <p:cNvSpPr txBox="1"/>
          <p:nvPr/>
        </p:nvSpPr>
        <p:spPr>
          <a:xfrm>
            <a:off x="8183879" y="3968496"/>
            <a:ext cx="19659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14,773</a:t>
            </a:r>
          </a:p>
        </p:txBody>
      </p:sp>
      <p:sp>
        <p:nvSpPr>
          <p:cNvPr id="50" name="TextBox 49"/>
          <p:cNvSpPr txBox="1"/>
          <p:nvPr/>
        </p:nvSpPr>
        <p:spPr>
          <a:xfrm>
            <a:off x="10195560" y="3968496"/>
            <a:ext cx="12801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47</a:t>
            </a:r>
          </a:p>
        </p:txBody>
      </p:sp>
      <p:sp>
        <p:nvSpPr>
          <p:cNvPr id="51" name="TextBox 50"/>
          <p:cNvSpPr txBox="1"/>
          <p:nvPr/>
        </p:nvSpPr>
        <p:spPr>
          <a:xfrm>
            <a:off x="557784" y="4389120"/>
            <a:ext cx="11064240" cy="457200"/>
          </a:xfrm>
          <a:prstGeom prst="rect">
            <a:avLst/>
          </a:prstGeom>
          <a:noFill/>
        </p:spPr>
        <p:txBody>
          <a:bodyPr wrap="square" lIns="0" rIns="0" tIns="0" bIns="0" anchor="t">
            <a:spAutoFit/>
          </a:bodyPr>
          <a:lstStyle/>
          <a:p>
            <a:pPr algn="l">
              <a:lnSpc>
                <a:spcPct val="120000"/>
              </a:lnSpc>
              <a:spcAft>
                <a:spcPts val="0"/>
              </a:spcAft>
            </a:pPr>
            <a:r>
              <a:rPr sz="900" b="0">
                <a:solidFill>
                  <a:srgbClr val="8A8A8D"/>
                </a:solidFill>
                <a:latin typeface="Open Sans"/>
              </a:rPr>
              <a:t>* Komprise is measured clicks from Google Search Console, twelve-month average to September 2026. The other four are Semrush estimates, which model clicks from ranking position and typically run several times higher. Sources: Semrush 15 August 2026, Google Search Console, Google site: queries September 2026. Page counts are Google estimates and include subdomains.</a:t>
            </a:r>
          </a:p>
        </p:txBody>
      </p:sp>
      <p:sp>
        <p:nvSpPr>
          <p:cNvPr id="52" name="Rectangle 51"/>
          <p:cNvSpPr/>
          <p:nvPr/>
        </p:nvSpPr>
        <p:spPr>
          <a:xfrm>
            <a:off x="502920" y="4919472"/>
            <a:ext cx="5504688" cy="1152144"/>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02920" y="4919472"/>
            <a:ext cx="54864" cy="1152144"/>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58952" y="5065776"/>
            <a:ext cx="5074920" cy="950976"/>
          </a:xfrm>
          <a:prstGeom prst="rect">
            <a:avLst/>
          </a:prstGeom>
          <a:noFill/>
        </p:spPr>
        <p:txBody>
          <a:bodyPr wrap="square" lIns="0" rIns="0" tIns="0" bIns="0" anchor="t">
            <a:spAutoFit/>
          </a:bodyPr>
          <a:lstStyle/>
          <a:p>
            <a:pPr algn="l">
              <a:lnSpc>
                <a:spcPct val="115000"/>
              </a:lnSpc>
              <a:spcAft>
                <a:spcPts val="500"/>
              </a:spcAft>
            </a:pPr>
            <a:r>
              <a:rPr sz="1250" b="1">
                <a:solidFill>
                  <a:srgbClr val="59257B"/>
                </a:solidFill>
                <a:latin typeface="Open Sans"/>
              </a:rPr>
              <a:t>Smallest footprint, best conversion</a:t>
            </a:r>
          </a:p>
          <a:p>
            <a:pPr algn="l">
              <a:lnSpc>
                <a:spcPct val="124000"/>
              </a:lnSpc>
              <a:spcAft>
                <a:spcPts val="0"/>
              </a:spcAft>
            </a:pPr>
            <a:r>
              <a:rPr sz="1050" b="0">
                <a:solidFill>
                  <a:srgbClr val="595A5B"/>
                </a:solidFill>
                <a:latin typeface="Open Sans"/>
              </a:rPr>
              <a:t>Komprise ranks for 6,139 keywords from around 1,610 indexed pages. NetApp needs roughly 621,000 pages to rank for 39,118. Far more of what we publish is working. Our authority matches Cohesity on a quarter of the referring domains.</a:t>
            </a:r>
          </a:p>
        </p:txBody>
      </p:sp>
      <p:sp>
        <p:nvSpPr>
          <p:cNvPr id="55" name="Rectangle 54"/>
          <p:cNvSpPr/>
          <p:nvPr/>
        </p:nvSpPr>
        <p:spPr>
          <a:xfrm>
            <a:off x="6181344" y="4919472"/>
            <a:ext cx="5504688" cy="1152144"/>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81344" y="4919472"/>
            <a:ext cx="54864" cy="1152144"/>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7376" y="5065776"/>
            <a:ext cx="5074920" cy="950976"/>
          </a:xfrm>
          <a:prstGeom prst="rect">
            <a:avLst/>
          </a:prstGeom>
          <a:noFill/>
        </p:spPr>
        <p:txBody>
          <a:bodyPr wrap="square" lIns="0" rIns="0" tIns="0" bIns="0" anchor="t">
            <a:spAutoFit/>
          </a:bodyPr>
          <a:lstStyle/>
          <a:p>
            <a:pPr algn="l">
              <a:lnSpc>
                <a:spcPct val="115000"/>
              </a:lnSpc>
              <a:spcAft>
                <a:spcPts val="500"/>
              </a:spcAft>
            </a:pPr>
            <a:r>
              <a:rPr sz="1250" b="1">
                <a:solidFill>
                  <a:srgbClr val="59257B"/>
                </a:solidFill>
                <a:latin typeface="Open Sans"/>
              </a:rPr>
              <a:t>On their own product terms, we are the answer</a:t>
            </a:r>
          </a:p>
          <a:p>
            <a:pPr algn="l">
              <a:lnSpc>
                <a:spcPct val="124000"/>
              </a:lnSpc>
              <a:spcAft>
                <a:spcPts val="0"/>
              </a:spcAft>
            </a:pPr>
            <a:r>
              <a:rPr sz="1050" b="0">
                <a:solidFill>
                  <a:srgbClr val="595A5B"/>
                </a:solidFill>
                <a:latin typeface="Open Sans"/>
              </a:rPr>
              <a:t>Google's AI answer for “fabricpool” names Komprise first. NetApp's own pages do not appear in it at all. The same holds for “dell powerscale”, “dell emc storage” and “netapp bluexp”.</a:t>
            </a:r>
          </a:p>
        </p:txBody>
      </p:sp>
      <p:sp>
        <p:nvSpPr>
          <p:cNvPr id="58" name="Rectangle 57"/>
          <p:cNvSpPr/>
          <p:nvPr/>
        </p:nvSpPr>
        <p:spPr>
          <a:xfrm>
            <a:off x="502920" y="6163056"/>
            <a:ext cx="11183112" cy="365760"/>
          </a:xfrm>
          <a:prstGeom prst="rect">
            <a:avLst/>
          </a:prstGeom>
          <a:solidFill>
            <a:srgbClr val="E9E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2920" y="6163056"/>
            <a:ext cx="54864" cy="365760"/>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58952" y="6245352"/>
            <a:ext cx="10789920" cy="237744"/>
          </a:xfrm>
          <a:prstGeom prst="rect">
            <a:avLst/>
          </a:prstGeom>
          <a:noFill/>
        </p:spPr>
        <p:txBody>
          <a:bodyPr wrap="square" lIns="0" rIns="0" tIns="0" bIns="0" anchor="t">
            <a:spAutoFit/>
          </a:bodyPr>
          <a:lstStyle/>
          <a:p>
            <a:pPr algn="l">
              <a:lnSpc>
                <a:spcPct val="115000"/>
              </a:lnSpc>
              <a:spcAft>
                <a:spcPts val="0"/>
              </a:spcAft>
            </a:pPr>
            <a:r>
              <a:rPr sz="1050" b="1">
                <a:solidFill>
                  <a:srgbClr val="59257B"/>
                </a:solidFill>
                <a:latin typeface="Open Sans"/>
              </a:rPr>
              <a:t>Worth watching: Everpure, Commvault and Cohesity all grew traffic faster than us since May. The category is in a land grab.</a:t>
            </a:r>
          </a:p>
        </p:txBody>
      </p:sp>
      <p:sp>
        <p:nvSpPr>
          <p:cNvPr id="61" name="TextBox 60"/>
          <p:cNvSpPr txBox="1"/>
          <p:nvPr/>
        </p:nvSpPr>
        <p:spPr>
          <a:xfrm>
            <a:off x="502920" y="6528816"/>
            <a:ext cx="6400800" cy="228600"/>
          </a:xfrm>
          <a:prstGeom prst="rect">
            <a:avLst/>
          </a:prstGeom>
          <a:noFill/>
        </p:spPr>
        <p:txBody>
          <a:bodyPr wrap="square" lIns="0" rIns="0" tIns="0" bIns="0" anchor="t">
            <a:spAutoFit/>
          </a:bodyPr>
          <a:lstStyle/>
          <a:p>
            <a:pPr algn="l">
              <a:lnSpc>
                <a:spcPct val="115000"/>
              </a:lnSpc>
              <a:spcAft>
                <a:spcPts val="0"/>
              </a:spcAft>
            </a:pPr>
            <a:r>
              <a:rPr sz="900" b="0">
                <a:solidFill>
                  <a:srgbClr val="8A8A8D"/>
                </a:solidFill>
                <a:latin typeface="Open Sans"/>
              </a:rPr>
              <a:t>Komprise  ·  Competitive position, September 2026</a:t>
            </a:r>
          </a:p>
        </p:txBody>
      </p:sp>
      <p:sp>
        <p:nvSpPr>
          <p:cNvPr id="62" name="TextBox 61"/>
          <p:cNvSpPr txBox="1"/>
          <p:nvPr/>
        </p:nvSpPr>
        <p:spPr>
          <a:xfrm>
            <a:off x="10881360" y="6528816"/>
            <a:ext cx="822960" cy="228600"/>
          </a:xfrm>
          <a:prstGeom prst="rect">
            <a:avLst/>
          </a:prstGeom>
          <a:noFill/>
        </p:spPr>
        <p:txBody>
          <a:bodyPr wrap="square" lIns="0" rIns="0" tIns="0" bIns="0" anchor="t">
            <a:spAutoFit/>
          </a:bodyPr>
          <a:lstStyle/>
          <a:p>
            <a:pPr algn="r">
              <a:lnSpc>
                <a:spcPct val="115000"/>
              </a:lnSpc>
              <a:spcAft>
                <a:spcPts val="0"/>
              </a:spcAft>
            </a:pPr>
            <a:r>
              <a:rPr sz="900" b="0">
                <a:solidFill>
                  <a:srgbClr val="8A8A8D"/>
                </a:solidFill>
                <a:latin typeface="Open Sans"/>
              </a:rPr>
              <a:t>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