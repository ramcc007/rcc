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592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"/>
            <a:ext cx="1463040" cy="36576"/>
          </a:xfrm>
          <a:prstGeom prst="rect">
            <a:avLst/>
          </a:prstGeom>
          <a:solidFill>
            <a:srgbClr val="9FC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ompr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274320"/>
            <a:ext cx="1298448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37744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9FC406"/>
                </a:solidFill>
                <a:latin typeface="Open Sans"/>
              </a:rPr>
              <a:t>COMPETITIVE 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292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59257B"/>
                </a:solidFill>
                <a:latin typeface="Open Sans"/>
              </a:rPr>
              <a:t>How Komprise Compares to the Broader Vendor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87552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595A5B"/>
                </a:solidFill>
                <a:latin typeface="Open Sans"/>
              </a:rPr>
              <a:t>Semrush, US database, August 2026. Sorted by visits earned per ranking keyword.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81328"/>
            <a:ext cx="11183112" cy="475488"/>
          </a:xfrm>
          <a:prstGeom prst="rect">
            <a:avLst/>
          </a:prstGeom>
          <a:solidFill>
            <a:srgbClr val="592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Open Sans"/>
              </a:rPr>
              <a:t>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1572768"/>
            <a:ext cx="1600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Open Sans"/>
              </a:rPr>
              <a:t>Ranking Keywords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157276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Open Sans"/>
              </a:rPr>
              <a:t>Monthly Traffic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1572768"/>
            <a:ext cx="1783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Open Sans"/>
              </a:rPr>
              <a:t>Keywords in AI Answers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34272" y="1572768"/>
            <a:ext cx="1371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Open Sans"/>
              </a:rPr>
              <a:t>Visits per Keyword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1572768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Open Sans"/>
              </a:rPr>
              <a:t>Authority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29968"/>
            <a:ext cx="11183112" cy="420624"/>
          </a:xfrm>
          <a:prstGeom prst="rect">
            <a:avLst/>
          </a:prstGeom>
          <a:solidFill>
            <a:srgbClr val="E9E2F0"/>
          </a:solidFill>
          <a:ln w="9525">
            <a:solidFill>
              <a:srgbClr val="E3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029968"/>
            <a:ext cx="54864" cy="420624"/>
          </a:xfrm>
          <a:prstGeom prst="rect">
            <a:avLst/>
          </a:prstGeom>
          <a:solidFill>
            <a:srgbClr val="7A99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13969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59257B"/>
                </a:solidFill>
                <a:latin typeface="Open Sans"/>
              </a:rPr>
              <a:t>Komprise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13969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59257B"/>
                </a:solidFill>
                <a:latin typeface="Open Sans"/>
              </a:rPr>
              <a:t>6,139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13969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59257B"/>
                </a:solidFill>
                <a:latin typeface="Open Sans"/>
              </a:rPr>
              <a:t>25,126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139696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59257B"/>
                </a:solidFill>
                <a:latin typeface="Open Sans"/>
              </a:rPr>
              <a:t>5,464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4272" y="213969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7A9905"/>
                </a:solidFill>
                <a:latin typeface="Open Sans"/>
              </a:rPr>
              <a:t>4.1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2139696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59257B"/>
                </a:solidFill>
                <a:latin typeface="Open Sans"/>
              </a:rPr>
              <a:t>43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487168"/>
            <a:ext cx="11183112" cy="420624"/>
          </a:xfrm>
          <a:prstGeom prst="rect">
            <a:avLst/>
          </a:prstGeom>
          <a:solidFill>
            <a:srgbClr val="F7F5F9"/>
          </a:solidFill>
          <a:ln w="9525">
            <a:solidFill>
              <a:srgbClr val="E3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59689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262428"/>
                </a:solidFill>
                <a:latin typeface="Open Sans"/>
              </a:rPr>
              <a:t>Cohesity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259689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13,381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259689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36,773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2596896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11,136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59689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2.7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2596896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43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944368"/>
            <a:ext cx="11183112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305409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262428"/>
                </a:solidFill>
                <a:latin typeface="Open Sans"/>
              </a:rPr>
              <a:t>Everpure (Pure)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305409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20,134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305409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42,990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3054096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17,968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34272" y="305409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2.1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3054096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51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401568"/>
            <a:ext cx="11183112" cy="420624"/>
          </a:xfrm>
          <a:prstGeom prst="rect">
            <a:avLst/>
          </a:prstGeom>
          <a:solidFill>
            <a:srgbClr val="F7F5F9"/>
          </a:solidFill>
          <a:ln w="9525">
            <a:solidFill>
              <a:srgbClr val="E3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351129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262428"/>
                </a:solidFill>
                <a:latin typeface="Open Sans"/>
              </a:rPr>
              <a:t>NetApp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03320" y="351129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39,118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49240" y="351129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75,742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0" y="3511296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32,473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34272" y="351129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1.9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60" y="3511296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51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858768"/>
            <a:ext cx="11183112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396849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262428"/>
                </a:solidFill>
                <a:latin typeface="Open Sans"/>
              </a:rPr>
              <a:t>Commvault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3320" y="396849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18,472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396849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33,189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23760" y="3968496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14,773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34272" y="396849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1.8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60" y="3968496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47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498848"/>
            <a:ext cx="5504688" cy="1481328"/>
          </a:xfrm>
          <a:prstGeom prst="rect">
            <a:avLst/>
          </a:prstGeom>
          <a:solidFill>
            <a:srgbClr val="F7F5F9"/>
          </a:solidFill>
          <a:ln w="9525">
            <a:solidFill>
              <a:srgbClr val="E3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2920" y="4498848"/>
            <a:ext cx="54864" cy="1481328"/>
          </a:xfrm>
          <a:prstGeom prst="rect">
            <a:avLst/>
          </a:prstGeom>
          <a:solidFill>
            <a:srgbClr val="7A99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8952" y="4681728"/>
            <a:ext cx="5074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59257B"/>
                </a:solidFill>
                <a:latin typeface="Open Sans"/>
              </a:rPr>
              <a:t>Smallest footprint, best conversion</a:t>
            </a:r>
          </a:p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Komprise ranks for a sixth of NetApp's keywords and holds a third of its organic traffic. Every ranking keyword works harder here than at any vendor in the set, and the authority score matches Cohesity on a quarter of the referring domains.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81344" y="4498848"/>
            <a:ext cx="5504688" cy="1481328"/>
          </a:xfrm>
          <a:prstGeom prst="rect">
            <a:avLst/>
          </a:prstGeom>
          <a:solidFill>
            <a:srgbClr val="F7F5F9"/>
          </a:solidFill>
          <a:ln w="9525">
            <a:solidFill>
              <a:srgbClr val="E3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181344" y="4498848"/>
            <a:ext cx="54864" cy="1481328"/>
          </a:xfrm>
          <a:prstGeom prst="rect">
            <a:avLst/>
          </a:prstGeom>
          <a:solidFill>
            <a:srgbClr val="592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37376" y="4681728"/>
            <a:ext cx="5074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59257B"/>
                </a:solidFill>
                <a:latin typeface="Open Sans"/>
              </a:rPr>
              <a:t>On their own product terms, we are the answer</a:t>
            </a:r>
          </a:p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595A5B"/>
                </a:solidFill>
                <a:latin typeface="Open Sans"/>
              </a:rPr>
              <a:t>Google's AI answer for “fabricpool” names Komprise first. NetApp's own pages do not appear in it at all. The same holds for “dell powerscale”, “dell emc storage” and “netapp bluexp”.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6089904"/>
            <a:ext cx="11183112" cy="438912"/>
          </a:xfrm>
          <a:prstGeom prst="rect">
            <a:avLst/>
          </a:prstGeom>
          <a:solidFill>
            <a:srgbClr val="E9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2920" y="6089904"/>
            <a:ext cx="54864" cy="438912"/>
          </a:xfrm>
          <a:prstGeom prst="rect">
            <a:avLst/>
          </a:prstGeom>
          <a:solidFill>
            <a:srgbClr val="592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8952" y="6199632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9257B"/>
                </a:solidFill>
                <a:latin typeface="Open Sans"/>
              </a:rPr>
              <a:t>Worth watching: Everpure, Commvault and Cohesity all grew traffic faster than us since May. The category is in a land grab.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652881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8A8D"/>
                </a:solidFill>
                <a:latin typeface="Open Sans"/>
              </a:rPr>
              <a:t>Komprise  ·  Competitive position, September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81360" y="6528816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8A8A8D"/>
                </a:solidFill>
                <a:latin typeface="Open Sans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