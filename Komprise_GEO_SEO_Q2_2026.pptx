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Citations</c:v>
                </c:pt>
              </c:strCache>
            </c:strRef>
          </c:tx>
          <c:spPr>
            <a:ln w="34925">
              <a:solidFill>
                <a:srgbClr val="7A9905"/>
              </a:solidFill>
            </a:ln>
          </c:spPr>
          <c:marker>
            <c:spPr>
              <a:solidFill>
                <a:srgbClr val="7A9905"/>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1700</c:v>
                </c:pt>
                <c:pt idx="1">
                  <c:v>1750</c:v>
                </c:pt>
                <c:pt idx="2">
                  <c:v>1680</c:v>
                </c:pt>
                <c:pt idx="3">
                  <c:v>1870</c:v>
                </c:pt>
                <c:pt idx="4">
                  <c:v>2000</c:v>
                </c:pt>
                <c:pt idx="5">
                  <c:v>2050</c:v>
                </c:pt>
              </c:numCache>
            </c:numRef>
          </c:val>
          <c:smooth val="0"/>
        </c:ser>
        <c:ser>
          <c:idx val="1"/>
          <c:order val="1"/>
          <c:tx>
            <c:strRef>
              <c:f>Sheet1!$C$1</c:f>
              <c:strCache>
                <c:ptCount val="1"/>
                <c:pt idx="0">
                  <c:v>Cited Pages</c:v>
                </c:pt>
              </c:strCache>
            </c:strRef>
          </c:tx>
          <c:spPr>
            <a:ln w="34925">
              <a:solidFill>
                <a:srgbClr val="59257B"/>
              </a:solidFill>
            </a:ln>
          </c:spPr>
          <c:marker>
            <c:spPr>
              <a:solidFill>
                <a:srgbClr val="59257B"/>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600</c:v>
                </c:pt>
                <c:pt idx="1">
                  <c:v>575</c:v>
                </c:pt>
                <c:pt idx="2">
                  <c:v>545</c:v>
                </c:pt>
                <c:pt idx="3">
                  <c:v>620</c:v>
                </c:pt>
                <c:pt idx="4">
                  <c:v>700</c:v>
                </c:pt>
                <c:pt idx="5">
                  <c:v>715</c:v>
                </c:pt>
              </c:numCache>
            </c:numRef>
          </c:val>
          <c:smooth val="0"/>
        </c:ser>
        <c:ser>
          <c:idx val="2"/>
          <c:order val="2"/>
          <c:tx>
            <c:strRef>
              <c:f>Sheet1!$D$1</c:f>
              <c:strCache>
                <c:ptCount val="1"/>
                <c:pt idx="0">
                  <c:v>Mentions</c:v>
                </c:pt>
              </c:strCache>
            </c:strRef>
          </c:tx>
          <c:spPr>
            <a:ln w="34925">
              <a:solidFill>
                <a:srgbClr val="B03A2E"/>
              </a:solidFill>
            </a:ln>
          </c:spPr>
          <c:marker>
            <c:spPr>
              <a:solidFill>
                <a:srgbClr val="B03A2E"/>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Sheet1!$D$2:$D$7</c:f>
              <c:numCache>
                <c:formatCode>General</c:formatCode>
                <c:ptCount val="6"/>
                <c:pt idx="0">
                  <c:v>595</c:v>
                </c:pt>
                <c:pt idx="1">
                  <c:v>565</c:v>
                </c:pt>
                <c:pt idx="2">
                  <c:v>425</c:v>
                </c:pt>
                <c:pt idx="3">
                  <c:v>225</c:v>
                </c:pt>
                <c:pt idx="4">
                  <c:v>190</c:v>
                </c:pt>
                <c:pt idx="5">
                  <c:v>163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DAE0"/>
            </a:solidFill>
          </a:ln>
        </c:spPr>
        <c:txPr>
          <a:bodyPr/>
          <a:lstStyle/>
          <a:p>
            <a:pPr>
              <a:defRPr sz="1100">
                <a:solidFill>
                  <a:srgbClr val="595A5B"/>
                </a:solidFill>
                <a:latin typeface="Open Sans"/>
              </a:defRPr>
            </a:pPr>
          </a:p>
        </c:txPr>
        <c:crossAx val="2140495176"/>
        <c:crosses val="autoZero"/>
        <c:auto val="1"/>
        <c:lblAlgn val="ctr"/>
        <c:lblOffset val="100"/>
        <c:noMultiLvlLbl val="0"/>
      </c:catAx>
      <c:valAx>
        <c:axId val="2140495176"/>
        <c:scaling>
          <c:max val="2500.0"/>
          <c:min val="0.0"/>
        </c:scaling>
        <c:delete val="0"/>
        <c:axPos val="l"/>
        <c:majorGridlines>
          <c:spPr>
            <a:ln w="9525">
              <a:solidFill>
                <a:srgbClr val="ECEAEE"/>
              </a:solidFill>
            </a:ln>
          </c:spPr>
        </c:majorGridlines>
        <c:majorTickMark val="out"/>
        <c:minorTickMark val="none"/>
        <c:tickLblPos val="nextTo"/>
        <c:spPr>
          <a:ln>
            <a:solidFill>
              <a:srgbClr val="DDDAE0"/>
            </a:solidFill>
          </a:ln>
        </c:spPr>
        <c:txPr>
          <a:bodyPr/>
          <a:lstStyle/>
          <a:p>
            <a:pPr>
              <a:defRPr sz="1000">
                <a:solidFill>
                  <a:srgbClr val="595A5B"/>
                </a:solidFill>
                <a:latin typeface="Open Sans"/>
              </a:defRPr>
            </a:pPr>
          </a:p>
        </c:txPr>
        <c:crossAx val="2118791784"/>
        <c:crosses val="autoZero"/>
      </c:valAx>
    </c:plotArea>
    <c:legend>
      <c:legendPos val="t"/>
      <c:layout/>
      <c:overlay val="0"/>
      <c:txPr>
        <a:bodyPr/>
        <a:lstStyle/>
        <a:p>
          <a:pPr>
            <a:defRPr sz="1100">
              <a:solidFill>
                <a:srgbClr val="595A5B"/>
              </a:solidFill>
              <a:latin typeface="Open Sans"/>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Positions 4–10</c:v>
                </c:pt>
              </c:strCache>
            </c:strRef>
          </c:tx>
          <c:spPr>
            <a:solidFill>
              <a:srgbClr val="D6C4E3"/>
            </a:solidFill>
            <a:ln>
              <a:noFill/>
            </a:ln>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841</c:v>
                </c:pt>
                <c:pt idx="1">
                  <c:v>907</c:v>
                </c:pt>
                <c:pt idx="2">
                  <c:v>1033</c:v>
                </c:pt>
                <c:pt idx="3">
                  <c:v>972</c:v>
                </c:pt>
                <c:pt idx="4">
                  <c:v>997</c:v>
                </c:pt>
                <c:pt idx="5">
                  <c:v>1095</c:v>
                </c:pt>
              </c:numCache>
            </c:numRef>
          </c:val>
        </c:ser>
        <c:ser>
          <c:idx val="1"/>
          <c:order val="1"/>
          <c:tx>
            <c:strRef>
              <c:f>Sheet1!$C$1</c:f>
              <c:strCache>
                <c:ptCount val="1"/>
                <c:pt idx="0">
                  <c:v>Top 3</c:v>
                </c:pt>
              </c:strCache>
            </c:strRef>
          </c:tx>
          <c:spPr>
            <a:solidFill>
              <a:srgbClr val="59257B"/>
            </a:solidFill>
            <a:ln>
              <a:noFill/>
            </a:ln>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333</c:v>
                </c:pt>
                <c:pt idx="1">
                  <c:v>349</c:v>
                </c:pt>
                <c:pt idx="2">
                  <c:v>354</c:v>
                </c:pt>
                <c:pt idx="3">
                  <c:v>366</c:v>
                </c:pt>
                <c:pt idx="4">
                  <c:v>387</c:v>
                </c:pt>
                <c:pt idx="5">
                  <c:v>420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DDDAE0"/>
            </a:solidFill>
          </a:ln>
        </c:spPr>
        <c:txPr>
          <a:bodyPr/>
          <a:lstStyle/>
          <a:p>
            <a:pPr>
              <a:defRPr sz="1100">
                <a:solidFill>
                  <a:srgbClr val="595A5B"/>
                </a:solidFill>
                <a:latin typeface="Open Sans"/>
              </a:defRPr>
            </a:pPr>
          </a:p>
        </c:txPr>
        <c:crossAx val="-2113994440"/>
        <c:crosses val="autoZero"/>
        <c:auto val="1"/>
        <c:lblAlgn val="ctr"/>
        <c:lblOffset val="100"/>
        <c:noMultiLvlLbl val="0"/>
      </c:catAx>
      <c:valAx>
        <c:axId val="-2113994440"/>
        <c:scaling>
          <c:max val="1700.0"/>
          <c:min val="0.0"/>
        </c:scaling>
        <c:delete val="0"/>
        <c:axPos val="l"/>
        <c:majorGridlines>
          <c:spPr>
            <a:ln w="9525">
              <a:solidFill>
                <a:srgbClr val="ECEAEE"/>
              </a:solidFill>
            </a:ln>
          </c:spPr>
        </c:majorGridlines>
        <c:majorTickMark val="out"/>
        <c:minorTickMark val="none"/>
        <c:tickLblPos val="nextTo"/>
        <c:spPr>
          <a:ln>
            <a:solidFill>
              <a:srgbClr val="DDDAE0"/>
            </a:solidFill>
          </a:ln>
        </c:spPr>
        <c:txPr>
          <a:bodyPr/>
          <a:lstStyle/>
          <a:p>
            <a:pPr>
              <a:defRPr sz="1000">
                <a:solidFill>
                  <a:srgbClr val="595A5B"/>
                </a:solidFill>
                <a:latin typeface="Open Sans"/>
              </a:defRPr>
            </a:pPr>
          </a:p>
        </c:txPr>
        <c:crossAx val="-2068027336"/>
        <c:crosses val="autoZero"/>
      </c:valAx>
    </c:plotArea>
    <c:legend>
      <c:legendPos val="t"/>
      <c:overlay val="0"/>
      <c:txPr>
        <a:bodyPr/>
        <a:lstStyle/>
        <a:p>
          <a:pPr>
            <a:defRPr sz="1100">
              <a:solidFill>
                <a:srgbClr val="595A5B"/>
              </a:solidFill>
              <a:latin typeface="Open Sans"/>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Direct</c:v>
                </c:pt>
              </c:strCache>
            </c:strRef>
          </c:tx>
          <c:spPr>
            <a:solidFill>
              <a:srgbClr val="59257B"/>
            </a:solidFill>
            <a:ln>
              <a:noFill/>
            </a:ln>
          </c:spPr>
          <c:cat>
            <c:strRef>
              <c:f>Sheet1!$A$2:$A$4</c:f>
              <c:strCache>
                <c:ptCount val="3"/>
                <c:pt idx="0">
                  <c:v>Jan  (Q1)</c:v>
                </c:pt>
                <c:pt idx="1">
                  <c:v>Apr  (Q2)</c:v>
                </c:pt>
                <c:pt idx="2">
                  <c:v>Jun  (Q2)</c:v>
                </c:pt>
              </c:strCache>
            </c:strRef>
          </c:cat>
          <c:val>
            <c:numRef>
              <c:f>Sheet1!$B$2:$B$4</c:f>
              <c:numCache>
                <c:formatCode>General</c:formatCode>
                <c:ptCount val="3"/>
                <c:pt idx="0">
                  <c:v>5956</c:v>
                </c:pt>
                <c:pt idx="1">
                  <c:v>5938</c:v>
                </c:pt>
                <c:pt idx="2">
                  <c:v>6726</c:v>
                </c:pt>
              </c:numCache>
            </c:numRef>
          </c:val>
        </c:ser>
        <c:ser>
          <c:idx val="1"/>
          <c:order val="1"/>
          <c:tx>
            <c:strRef>
              <c:f>Sheet1!$C$1</c:f>
              <c:strCache>
                <c:ptCount val="1"/>
                <c:pt idx="0">
                  <c:v>Organic Search</c:v>
                </c:pt>
              </c:strCache>
            </c:strRef>
          </c:tx>
          <c:spPr>
            <a:solidFill>
              <a:srgbClr val="D6C4E3"/>
            </a:solidFill>
            <a:ln>
              <a:noFill/>
            </a:ln>
          </c:spPr>
          <c:cat>
            <c:strRef>
              <c:f>Sheet1!$A$2:$A$4</c:f>
              <c:strCache>
                <c:ptCount val="3"/>
                <c:pt idx="0">
                  <c:v>Jan  (Q1)</c:v>
                </c:pt>
                <c:pt idx="1">
                  <c:v>Apr  (Q2)</c:v>
                </c:pt>
                <c:pt idx="2">
                  <c:v>Jun  (Q2)</c:v>
                </c:pt>
              </c:strCache>
            </c:strRef>
          </c:cat>
          <c:val>
            <c:numRef>
              <c:f>Sheet1!$C$2:$C$4</c:f>
              <c:numCache>
                <c:formatCode>General</c:formatCode>
                <c:ptCount val="3"/>
                <c:pt idx="0">
                  <c:v>5074</c:v>
                </c:pt>
                <c:pt idx="1">
                  <c:v>4769</c:v>
                </c:pt>
                <c:pt idx="2">
                  <c:v>4139</c:v>
                </c:pt>
              </c:numCache>
            </c:numRef>
          </c:val>
        </c:ser>
        <c:dLbls>
          <c:numFmt formatCode="#,##0" sourceLinked="0"/>
          <c:txPr>
            <a:bodyPr/>
            <a:lstStyle/>
            <a:p>
              <a:pPr>
                <a:defRPr sz="1050" b="1">
                  <a:solidFill>
                    <a:srgbClr val="262428"/>
                  </a:solidFill>
                  <a:latin typeface="Open Sans"/>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DDAE0"/>
            </a:solidFill>
          </a:ln>
        </c:spPr>
        <c:txPr>
          <a:bodyPr/>
          <a:lstStyle/>
          <a:p>
            <a:pPr>
              <a:defRPr sz="1100">
                <a:solidFill>
                  <a:srgbClr val="595A5B"/>
                </a:solidFill>
                <a:latin typeface="Open Sans"/>
              </a:defRPr>
            </a:pPr>
          </a:p>
        </c:txPr>
        <c:crossAx val="-2113994440"/>
        <c:crosses val="autoZero"/>
        <c:auto val="1"/>
        <c:lblAlgn val="ctr"/>
        <c:lblOffset val="100"/>
        <c:noMultiLvlLbl val="0"/>
      </c:catAx>
      <c:valAx>
        <c:axId val="-2113994440"/>
        <c:scaling>
          <c:max val="8000.0"/>
          <c:min val="0.0"/>
        </c:scaling>
        <c:delete val="0"/>
        <c:axPos val="l"/>
        <c:majorGridlines>
          <c:spPr>
            <a:ln w="9525">
              <a:solidFill>
                <a:srgbClr val="ECEAEE"/>
              </a:solidFill>
            </a:ln>
          </c:spPr>
        </c:majorGridlines>
        <c:majorTickMark val="out"/>
        <c:minorTickMark val="none"/>
        <c:tickLblPos val="nextTo"/>
        <c:spPr>
          <a:ln>
            <a:solidFill>
              <a:srgbClr val="DDDAE0"/>
            </a:solidFill>
          </a:ln>
        </c:spPr>
        <c:txPr>
          <a:bodyPr/>
          <a:lstStyle/>
          <a:p>
            <a:pPr>
              <a:defRPr sz="1000">
                <a:solidFill>
                  <a:srgbClr val="595A5B"/>
                </a:solidFill>
                <a:latin typeface="Open Sans"/>
              </a:defRPr>
            </a:pPr>
          </a:p>
        </c:txPr>
        <c:crossAx val="-2068027336"/>
        <c:crosses val="autoZero"/>
      </c:valAx>
    </c:plotArea>
    <c:legend>
      <c:legendPos val="t"/>
      <c:overlay val="0"/>
      <c:txPr>
        <a:bodyPr/>
        <a:lstStyle/>
        <a:p>
          <a:pPr>
            <a:defRPr sz="1100">
              <a:solidFill>
                <a:srgbClr val="595A5B"/>
              </a:solidFill>
              <a:latin typeface="Open Sans"/>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206240" cy="685800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0" y="0"/>
            <a:ext cx="82296" cy="6858000"/>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50292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omprise-logo.png"/>
          <p:cNvPicPr>
            <a:picLocks noChangeAspect="1"/>
          </p:cNvPicPr>
          <p:nvPr/>
        </p:nvPicPr>
        <p:blipFill>
          <a:blip r:embed="rId2"/>
          <a:stretch>
            <a:fillRect/>
          </a:stretch>
        </p:blipFill>
        <p:spPr>
          <a:xfrm>
            <a:off x="713232" y="713232"/>
            <a:ext cx="1920240" cy="411480"/>
          </a:xfrm>
          <a:prstGeom prst="rect">
            <a:avLst/>
          </a:prstGeom>
        </p:spPr>
      </p:pic>
      <p:sp>
        <p:nvSpPr>
          <p:cNvPr id="6" name="TextBox 5"/>
          <p:cNvSpPr txBox="1"/>
          <p:nvPr/>
        </p:nvSpPr>
        <p:spPr>
          <a:xfrm>
            <a:off x="502920" y="2514600"/>
            <a:ext cx="3520440" cy="1828800"/>
          </a:xfrm>
          <a:prstGeom prst="rect">
            <a:avLst/>
          </a:prstGeom>
          <a:noFill/>
        </p:spPr>
        <p:txBody>
          <a:bodyPr wrap="square" lIns="0" rIns="0" tIns="0" bIns="0" anchor="t">
            <a:spAutoFit/>
          </a:bodyPr>
          <a:lstStyle/>
          <a:p>
            <a:pPr algn="l">
              <a:lnSpc>
                <a:spcPct val="115000"/>
              </a:lnSpc>
              <a:spcAft>
                <a:spcPts val="300"/>
              </a:spcAft>
            </a:pPr>
            <a:r>
              <a:rPr sz="3100" b="1">
                <a:solidFill>
                  <a:srgbClr val="FFFFFF"/>
                </a:solidFill>
                <a:latin typeface="Open Sans"/>
              </a:rPr>
              <a:t>GEO &amp; SEO</a:t>
            </a:r>
          </a:p>
          <a:p>
            <a:pPr algn="l">
              <a:lnSpc>
                <a:spcPct val="115000"/>
              </a:lnSpc>
              <a:spcAft>
                <a:spcPts val="0"/>
              </a:spcAft>
            </a:pPr>
            <a:r>
              <a:rPr sz="3100" b="1">
                <a:solidFill>
                  <a:srgbClr val="FFFFFF"/>
                </a:solidFill>
                <a:latin typeface="Open Sans"/>
              </a:rPr>
              <a:t>Performance</a:t>
            </a:r>
          </a:p>
        </p:txBody>
      </p:sp>
      <p:sp>
        <p:nvSpPr>
          <p:cNvPr id="7" name="TextBox 6"/>
          <p:cNvSpPr txBox="1"/>
          <p:nvPr/>
        </p:nvSpPr>
        <p:spPr>
          <a:xfrm>
            <a:off x="502920" y="3931920"/>
            <a:ext cx="3520440" cy="384048"/>
          </a:xfrm>
          <a:prstGeom prst="rect">
            <a:avLst/>
          </a:prstGeom>
          <a:noFill/>
        </p:spPr>
        <p:txBody>
          <a:bodyPr wrap="square" lIns="0" rIns="0" tIns="0" bIns="0" anchor="t">
            <a:spAutoFit/>
          </a:bodyPr>
          <a:lstStyle/>
          <a:p>
            <a:pPr algn="l">
              <a:lnSpc>
                <a:spcPct val="115000"/>
              </a:lnSpc>
              <a:spcAft>
                <a:spcPts val="0"/>
              </a:spcAft>
            </a:pPr>
            <a:r>
              <a:rPr sz="1600" b="1">
                <a:solidFill>
                  <a:srgbClr val="9FC406"/>
                </a:solidFill>
                <a:latin typeface="Open Sans"/>
              </a:rPr>
              <a:t>Q2 2026  ·  April – June</a:t>
            </a:r>
          </a:p>
        </p:txBody>
      </p:sp>
      <p:sp>
        <p:nvSpPr>
          <p:cNvPr id="8" name="TextBox 7"/>
          <p:cNvSpPr txBox="1"/>
          <p:nvPr/>
        </p:nvSpPr>
        <p:spPr>
          <a:xfrm>
            <a:off x="502920" y="5989320"/>
            <a:ext cx="3520440" cy="457200"/>
          </a:xfrm>
          <a:prstGeom prst="rect">
            <a:avLst/>
          </a:prstGeom>
          <a:noFill/>
        </p:spPr>
        <p:txBody>
          <a:bodyPr wrap="square" lIns="0" rIns="0" tIns="0" bIns="0" anchor="t">
            <a:spAutoFit/>
          </a:bodyPr>
          <a:lstStyle/>
          <a:p>
            <a:pPr algn="l">
              <a:lnSpc>
                <a:spcPct val="115000"/>
              </a:lnSpc>
              <a:spcAft>
                <a:spcPts val="0"/>
              </a:spcAft>
            </a:pPr>
            <a:r>
              <a:rPr sz="1050" b="0">
                <a:solidFill>
                  <a:srgbClr val="D6C4E3"/>
                </a:solidFill>
                <a:latin typeface="Open Sans"/>
              </a:rPr>
              <a:t>Sources: Semrush, Google Analytics</a:t>
            </a:r>
          </a:p>
        </p:txBody>
      </p:sp>
      <p:sp>
        <p:nvSpPr>
          <p:cNvPr id="9" name="TextBox 8"/>
          <p:cNvSpPr txBox="1"/>
          <p:nvPr/>
        </p:nvSpPr>
        <p:spPr>
          <a:xfrm>
            <a:off x="4608576" y="2331720"/>
            <a:ext cx="7132320" cy="1783080"/>
          </a:xfrm>
          <a:prstGeom prst="rect">
            <a:avLst/>
          </a:prstGeom>
          <a:noFill/>
        </p:spPr>
        <p:txBody>
          <a:bodyPr wrap="square" lIns="0" rIns="0" tIns="0" bIns="0" anchor="t">
            <a:spAutoFit/>
          </a:bodyPr>
          <a:lstStyle/>
          <a:p>
            <a:pPr algn="l">
              <a:lnSpc>
                <a:spcPct val="115000"/>
              </a:lnSpc>
              <a:spcAft>
                <a:spcPts val="500"/>
              </a:spcAft>
            </a:pPr>
            <a:r>
              <a:rPr sz="2500" b="1">
                <a:solidFill>
                  <a:srgbClr val="59257B"/>
                </a:solidFill>
                <a:latin typeface="Open Sans"/>
              </a:rPr>
              <a:t>How AI search describes</a:t>
            </a:r>
          </a:p>
          <a:p>
            <a:pPr algn="l">
              <a:lnSpc>
                <a:spcPct val="115000"/>
              </a:lnSpc>
              <a:spcAft>
                <a:spcPts val="500"/>
              </a:spcAft>
            </a:pPr>
            <a:r>
              <a:rPr sz="2500" b="1">
                <a:solidFill>
                  <a:srgbClr val="59257B"/>
                </a:solidFill>
                <a:latin typeface="Open Sans"/>
              </a:rPr>
              <a:t>Komprise today — and what</a:t>
            </a:r>
          </a:p>
          <a:p>
            <a:pPr algn="l">
              <a:lnSpc>
                <a:spcPct val="115000"/>
              </a:lnSpc>
              <a:spcAft>
                <a:spcPts val="0"/>
              </a:spcAft>
            </a:pPr>
            <a:r>
              <a:rPr sz="2500" b="1">
                <a:solidFill>
                  <a:srgbClr val="59257B"/>
                </a:solidFill>
                <a:latin typeface="Open Sans"/>
              </a:rPr>
              <a:t>we changed to move it</a:t>
            </a:r>
          </a:p>
        </p:txBody>
      </p:sp>
      <p:sp>
        <p:nvSpPr>
          <p:cNvPr id="10" name="Rectangle 9"/>
          <p:cNvSpPr/>
          <p:nvPr/>
        </p:nvSpPr>
        <p:spPr>
          <a:xfrm>
            <a:off x="4608576" y="4443984"/>
            <a:ext cx="128016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4773168"/>
            <a:ext cx="7132320" cy="1280160"/>
          </a:xfrm>
          <a:prstGeom prst="rect">
            <a:avLst/>
          </a:prstGeom>
          <a:noFill/>
        </p:spPr>
        <p:txBody>
          <a:bodyPr wrap="square" lIns="0" rIns="0" tIns="0" bIns="0" anchor="t">
            <a:spAutoFit/>
          </a:bodyPr>
          <a:lstStyle/>
          <a:p>
            <a:pPr algn="l">
              <a:lnSpc>
                <a:spcPct val="115000"/>
              </a:lnSpc>
              <a:spcAft>
                <a:spcPts val="800"/>
              </a:spcAft>
            </a:pPr>
            <a:r>
              <a:rPr sz="1300" b="1">
                <a:solidFill>
                  <a:srgbClr val="262428"/>
                </a:solidFill>
                <a:latin typeface="Open Sans"/>
              </a:rPr>
              <a:t>Two lanes:</a:t>
            </a:r>
          </a:p>
          <a:p>
            <a:pPr algn="l">
              <a:lnSpc>
                <a:spcPct val="115000"/>
              </a:lnSpc>
              <a:spcAft>
                <a:spcPts val="600"/>
              </a:spcAft>
            </a:pPr>
            <a:r>
              <a:rPr sz="1250" b="0">
                <a:solidFill>
                  <a:srgbClr val="595A5B"/>
                </a:solidFill>
                <a:latin typeface="Open Sans"/>
              </a:rPr>
              <a:t>Be the answer for AI-ready data — unstructured data for AI, AI data management.</a:t>
            </a:r>
          </a:p>
          <a:p>
            <a:pPr algn="l">
              <a:lnSpc>
                <a:spcPct val="115000"/>
              </a:lnSpc>
              <a:spcAft>
                <a:spcPts val="0"/>
              </a:spcAft>
            </a:pPr>
            <a:r>
              <a:rPr sz="1250" b="0">
                <a:solidFill>
                  <a:srgbClr val="595A5B"/>
                </a:solidFill>
                <a:latin typeface="Open Sans"/>
              </a:rPr>
              <a:t>Be the answer for storage price hikes — tiering, cost savings, NetApp, Dell, Everpure.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Executive Summary</a:t>
            </a:r>
          </a:p>
        </p:txBody>
      </p:sp>
      <p:sp>
        <p:nvSpPr>
          <p:cNvPr id="6" name="TextBox 5"/>
          <p:cNvSpPr txBox="1"/>
          <p:nvPr/>
        </p:nvSpPr>
        <p:spPr>
          <a:xfrm>
            <a:off x="502920" y="80467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Q2 2026 — where we stand on being seen as an AI company</a:t>
            </a:r>
          </a:p>
        </p:txBody>
      </p:sp>
      <p:sp>
        <p:nvSpPr>
          <p:cNvPr id="7" name="Rectangle 6"/>
          <p:cNvSpPr/>
          <p:nvPr/>
        </p:nvSpPr>
        <p:spPr>
          <a:xfrm>
            <a:off x="5029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444751"/>
            <a:ext cx="2167128" cy="457200"/>
          </a:xfrm>
          <a:prstGeom prst="rect">
            <a:avLst/>
          </a:prstGeom>
          <a:noFill/>
        </p:spPr>
        <p:txBody>
          <a:bodyPr wrap="square" lIns="0" rIns="0" tIns="0" bIns="0" anchor="t">
            <a:spAutoFit/>
          </a:bodyPr>
          <a:lstStyle/>
          <a:p>
            <a:pPr algn="l">
              <a:lnSpc>
                <a:spcPct val="115000"/>
              </a:lnSpc>
              <a:spcAft>
                <a:spcPts val="0"/>
              </a:spcAft>
            </a:pPr>
            <a:r>
              <a:rPr sz="3000" b="1">
                <a:solidFill>
                  <a:srgbClr val="7A9905"/>
                </a:solidFill>
                <a:latin typeface="Open Sans"/>
              </a:rPr>
              <a:t>+20%</a:t>
            </a:r>
          </a:p>
        </p:txBody>
      </p:sp>
      <p:sp>
        <p:nvSpPr>
          <p:cNvPr id="10" name="TextBox 9"/>
          <p:cNvSpPr txBox="1"/>
          <p:nvPr/>
        </p:nvSpPr>
        <p:spPr>
          <a:xfrm>
            <a:off x="758952" y="1883663"/>
            <a:ext cx="2167128"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Citations in AI Answers</a:t>
            </a:r>
          </a:p>
        </p:txBody>
      </p:sp>
      <p:sp>
        <p:nvSpPr>
          <p:cNvPr id="11" name="TextBox 10"/>
          <p:cNvSpPr txBox="1"/>
          <p:nvPr/>
        </p:nvSpPr>
        <p:spPr>
          <a:xfrm>
            <a:off x="758952" y="2176272"/>
            <a:ext cx="2167128"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AI answers now point to a Komprise page 2.1K times a month.</a:t>
            </a:r>
          </a:p>
        </p:txBody>
      </p:sp>
      <p:sp>
        <p:nvSpPr>
          <p:cNvPr id="12" name="Rectangle 11"/>
          <p:cNvSpPr/>
          <p:nvPr/>
        </p:nvSpPr>
        <p:spPr>
          <a:xfrm>
            <a:off x="32461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280160"/>
            <a:ext cx="54864" cy="1389888"/>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444751"/>
            <a:ext cx="2167128" cy="457200"/>
          </a:xfrm>
          <a:prstGeom prst="rect">
            <a:avLst/>
          </a:prstGeom>
          <a:noFill/>
        </p:spPr>
        <p:txBody>
          <a:bodyPr wrap="square" lIns="0" rIns="0" tIns="0" bIns="0" anchor="t">
            <a:spAutoFit/>
          </a:bodyPr>
          <a:lstStyle/>
          <a:p>
            <a:pPr algn="l">
              <a:lnSpc>
                <a:spcPct val="115000"/>
              </a:lnSpc>
              <a:spcAft>
                <a:spcPts val="0"/>
              </a:spcAft>
            </a:pPr>
            <a:r>
              <a:rPr sz="3000" b="1">
                <a:solidFill>
                  <a:srgbClr val="B03A2E"/>
                </a:solidFill>
                <a:latin typeface="Open Sans"/>
              </a:rPr>
              <a:t>‒72%</a:t>
            </a:r>
          </a:p>
        </p:txBody>
      </p:sp>
      <p:sp>
        <p:nvSpPr>
          <p:cNvPr id="15" name="TextBox 14"/>
          <p:cNvSpPr txBox="1"/>
          <p:nvPr/>
        </p:nvSpPr>
        <p:spPr>
          <a:xfrm>
            <a:off x="3502152" y="1883663"/>
            <a:ext cx="2167128"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Name Mentions</a:t>
            </a:r>
          </a:p>
        </p:txBody>
      </p:sp>
      <p:sp>
        <p:nvSpPr>
          <p:cNvPr id="16" name="TextBox 15"/>
          <p:cNvSpPr txBox="1"/>
          <p:nvPr/>
        </p:nvSpPr>
        <p:spPr>
          <a:xfrm>
            <a:off x="3502152" y="2176272"/>
            <a:ext cx="2167128"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Being cited is not the same as being named. This is the gap.</a:t>
            </a:r>
          </a:p>
        </p:txBody>
      </p:sp>
      <p:sp>
        <p:nvSpPr>
          <p:cNvPr id="17" name="Rectangle 16"/>
          <p:cNvSpPr/>
          <p:nvPr/>
        </p:nvSpPr>
        <p:spPr>
          <a:xfrm>
            <a:off x="59893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89320" y="1280160"/>
            <a:ext cx="54864" cy="13898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5352" y="1444751"/>
            <a:ext cx="2167128" cy="457200"/>
          </a:xfrm>
          <a:prstGeom prst="rect">
            <a:avLst/>
          </a:prstGeom>
          <a:noFill/>
        </p:spPr>
        <p:txBody>
          <a:bodyPr wrap="square" lIns="0" rIns="0" tIns="0" bIns="0" anchor="t">
            <a:spAutoFit/>
          </a:bodyPr>
          <a:lstStyle/>
          <a:p>
            <a:pPr algn="l">
              <a:lnSpc>
                <a:spcPct val="115000"/>
              </a:lnSpc>
              <a:spcAft>
                <a:spcPts val="0"/>
              </a:spcAft>
            </a:pPr>
            <a:r>
              <a:rPr sz="3000" b="1">
                <a:solidFill>
                  <a:srgbClr val="59257B"/>
                </a:solidFill>
                <a:latin typeface="Open Sans"/>
              </a:rPr>
              <a:t>1,515</a:t>
            </a:r>
          </a:p>
        </p:txBody>
      </p:sp>
      <p:sp>
        <p:nvSpPr>
          <p:cNvPr id="20" name="TextBox 19"/>
          <p:cNvSpPr txBox="1"/>
          <p:nvPr/>
        </p:nvSpPr>
        <p:spPr>
          <a:xfrm>
            <a:off x="6245352" y="1883663"/>
            <a:ext cx="2167128"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Google Top-10 Keywords</a:t>
            </a:r>
          </a:p>
        </p:txBody>
      </p:sp>
      <p:sp>
        <p:nvSpPr>
          <p:cNvPr id="21" name="TextBox 20"/>
          <p:cNvSpPr txBox="1"/>
          <p:nvPr/>
        </p:nvSpPr>
        <p:spPr>
          <a:xfrm>
            <a:off x="6245352" y="2176272"/>
            <a:ext cx="2167128"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Up 128 across the quarter, and up 66 in the top three.</a:t>
            </a:r>
          </a:p>
        </p:txBody>
      </p:sp>
      <p:sp>
        <p:nvSpPr>
          <p:cNvPr id="22" name="Rectangle 21"/>
          <p:cNvSpPr/>
          <p:nvPr/>
        </p:nvSpPr>
        <p:spPr>
          <a:xfrm>
            <a:off x="87325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325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1444751"/>
            <a:ext cx="2167128" cy="457200"/>
          </a:xfrm>
          <a:prstGeom prst="rect">
            <a:avLst/>
          </a:prstGeom>
          <a:noFill/>
        </p:spPr>
        <p:txBody>
          <a:bodyPr wrap="square" lIns="0" rIns="0" tIns="0" bIns="0" anchor="t">
            <a:spAutoFit/>
          </a:bodyPr>
          <a:lstStyle/>
          <a:p>
            <a:pPr algn="l">
              <a:lnSpc>
                <a:spcPct val="115000"/>
              </a:lnSpc>
              <a:spcAft>
                <a:spcPts val="0"/>
              </a:spcAft>
            </a:pPr>
            <a:r>
              <a:rPr sz="3000" b="1">
                <a:solidFill>
                  <a:srgbClr val="7A9905"/>
                </a:solidFill>
                <a:latin typeface="Open Sans"/>
              </a:rPr>
              <a:t>52%</a:t>
            </a:r>
          </a:p>
        </p:txBody>
      </p:sp>
      <p:sp>
        <p:nvSpPr>
          <p:cNvPr id="25" name="TextBox 24"/>
          <p:cNvSpPr txBox="1"/>
          <p:nvPr/>
        </p:nvSpPr>
        <p:spPr>
          <a:xfrm>
            <a:off x="8988552" y="1883663"/>
            <a:ext cx="2167128"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of Traffic Now Direct</a:t>
            </a:r>
          </a:p>
        </p:txBody>
      </p:sp>
      <p:sp>
        <p:nvSpPr>
          <p:cNvPr id="26" name="TextBox 25"/>
          <p:cNvSpPr txBox="1"/>
          <p:nvPr/>
        </p:nvSpPr>
        <p:spPr>
          <a:xfrm>
            <a:off x="8988552" y="2176272"/>
            <a:ext cx="2167128"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Up from 41%. People read the AI answer, then type us in.</a:t>
            </a:r>
          </a:p>
        </p:txBody>
      </p:sp>
      <p:sp>
        <p:nvSpPr>
          <p:cNvPr id="27" name="Rectangle 26"/>
          <p:cNvSpPr/>
          <p:nvPr/>
        </p:nvSpPr>
        <p:spPr>
          <a:xfrm>
            <a:off x="502920" y="2944368"/>
            <a:ext cx="11183112"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3012948"/>
            <a:ext cx="10908792" cy="237744"/>
          </a:xfrm>
          <a:prstGeom prst="rect">
            <a:avLst/>
          </a:prstGeom>
          <a:noFill/>
        </p:spPr>
        <p:txBody>
          <a:bodyPr wrap="square" lIns="0" rIns="0" tIns="0" bIns="0" anchor="t">
            <a:spAutoFit/>
          </a:bodyPr>
          <a:lstStyle/>
          <a:p>
            <a:pPr algn="l">
              <a:lnSpc>
                <a:spcPct val="115000"/>
              </a:lnSpc>
              <a:spcAft>
                <a:spcPts val="0"/>
              </a:spcAft>
            </a:pPr>
            <a:r>
              <a:rPr sz="1350" b="1">
                <a:solidFill>
                  <a:srgbClr val="FFFFFF"/>
                </a:solidFill>
                <a:latin typeface="Open Sans"/>
              </a:rPr>
              <a:t>What This Means</a:t>
            </a:r>
          </a:p>
        </p:txBody>
      </p:sp>
      <p:sp>
        <p:nvSpPr>
          <p:cNvPr id="29" name="Rectangle 28"/>
          <p:cNvSpPr/>
          <p:nvPr/>
        </p:nvSpPr>
        <p:spPr>
          <a:xfrm>
            <a:off x="548640" y="356158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3493008"/>
            <a:ext cx="10881360" cy="457200"/>
          </a:xfrm>
          <a:prstGeom prst="rect">
            <a:avLst/>
          </a:prstGeom>
          <a:noFill/>
        </p:spPr>
        <p:txBody>
          <a:bodyPr wrap="square" lIns="0" rIns="0" tIns="0" bIns="0" anchor="t">
            <a:spAutoFit/>
          </a:bodyPr>
          <a:lstStyle/>
          <a:p>
            <a:pPr algn="l">
              <a:lnSpc>
                <a:spcPct val="122000"/>
              </a:lnSpc>
              <a:spcAft>
                <a:spcPts val="0"/>
              </a:spcAft>
            </a:pPr>
            <a:r>
              <a:rPr sz="1250" b="1">
                <a:solidFill>
                  <a:srgbClr val="59257B"/>
                </a:solidFill>
                <a:latin typeface="Open Sans"/>
              </a:rPr>
              <a:t>We already win the storage-cost lane inside AI answers. On tiering and storage-cost questions, Google's AI answer names Komprise first.</a:t>
            </a:r>
          </a:p>
        </p:txBody>
      </p:sp>
      <p:sp>
        <p:nvSpPr>
          <p:cNvPr id="31" name="Rectangle 30"/>
          <p:cNvSpPr/>
          <p:nvPr/>
        </p:nvSpPr>
        <p:spPr>
          <a:xfrm>
            <a:off x="548640" y="420166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4133087"/>
            <a:ext cx="10881360" cy="457200"/>
          </a:xfrm>
          <a:prstGeom prst="rect">
            <a:avLst/>
          </a:prstGeom>
          <a:noFill/>
        </p:spPr>
        <p:txBody>
          <a:bodyPr wrap="square" lIns="0" rIns="0" tIns="0" bIns="0" anchor="t">
            <a:spAutoFit/>
          </a:bodyPr>
          <a:lstStyle/>
          <a:p>
            <a:pPr algn="l">
              <a:lnSpc>
                <a:spcPct val="122000"/>
              </a:lnSpc>
              <a:spcAft>
                <a:spcPts val="0"/>
              </a:spcAft>
            </a:pPr>
            <a:r>
              <a:rPr sz="1250" b="1">
                <a:solidFill>
                  <a:srgbClr val="59257B"/>
                </a:solidFill>
                <a:latin typeface="Open Sans"/>
              </a:rPr>
              <a:t>We do not yet win the AI-data lane. On “AI data management” — the term buyers start with — we sit at position 15 and are absent from the AI answer entirely.</a:t>
            </a:r>
          </a:p>
        </p:txBody>
      </p:sp>
      <p:sp>
        <p:nvSpPr>
          <p:cNvPr id="33" name="Rectangle 32"/>
          <p:cNvSpPr/>
          <p:nvPr/>
        </p:nvSpPr>
        <p:spPr>
          <a:xfrm>
            <a:off x="548640" y="484174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 y="4773168"/>
            <a:ext cx="10881360" cy="457200"/>
          </a:xfrm>
          <a:prstGeom prst="rect">
            <a:avLst/>
          </a:prstGeom>
          <a:noFill/>
        </p:spPr>
        <p:txBody>
          <a:bodyPr wrap="square" lIns="0" rIns="0" tIns="0" bIns="0" anchor="t">
            <a:spAutoFit/>
          </a:bodyPr>
          <a:lstStyle/>
          <a:p>
            <a:pPr algn="l">
              <a:lnSpc>
                <a:spcPct val="122000"/>
              </a:lnSpc>
              <a:spcAft>
                <a:spcPts val="0"/>
              </a:spcAft>
            </a:pPr>
            <a:r>
              <a:rPr sz="1250" b="1">
                <a:solidFill>
                  <a:srgbClr val="59257B"/>
                </a:solidFill>
                <a:latin typeface="Open Sans"/>
              </a:rPr>
              <a:t>Citations are rising, mentions are falling. Our content earns links in AI answers; only third-party coverage makes the model say our name.</a:t>
            </a:r>
          </a:p>
        </p:txBody>
      </p:sp>
      <p:sp>
        <p:nvSpPr>
          <p:cNvPr id="35" name="Rectangle 34"/>
          <p:cNvSpPr/>
          <p:nvPr/>
        </p:nvSpPr>
        <p:spPr>
          <a:xfrm>
            <a:off x="548640" y="548182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413248"/>
            <a:ext cx="10881360" cy="457200"/>
          </a:xfrm>
          <a:prstGeom prst="rect">
            <a:avLst/>
          </a:prstGeom>
          <a:noFill/>
        </p:spPr>
        <p:txBody>
          <a:bodyPr wrap="square" lIns="0" rIns="0" tIns="0" bIns="0" anchor="t">
            <a:spAutoFit/>
          </a:bodyPr>
          <a:lstStyle/>
          <a:p>
            <a:pPr algn="l">
              <a:lnSpc>
                <a:spcPct val="122000"/>
              </a:lnSpc>
              <a:spcAft>
                <a:spcPts val="0"/>
              </a:spcAft>
            </a:pPr>
            <a:r>
              <a:rPr sz="1250" b="1">
                <a:solidFill>
                  <a:srgbClr val="59257B"/>
                </a:solidFill>
                <a:latin typeface="Open Sans"/>
              </a:rPr>
              <a:t>The traffic mix is changing underneath us. Direct has overtaken organic search — the visible proof that AI answers are doing the discovery.</a:t>
            </a:r>
          </a:p>
        </p:txBody>
      </p:sp>
      <p:sp>
        <p:nvSpPr>
          <p:cNvPr id="37" name="Rectangle 36"/>
          <p:cNvSpPr/>
          <p:nvPr/>
        </p:nvSpPr>
        <p:spPr>
          <a:xfrm>
            <a:off x="502920" y="6016752"/>
            <a:ext cx="11183112" cy="438912"/>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6016752"/>
            <a:ext cx="54864" cy="43891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6126480"/>
            <a:ext cx="10881360" cy="274320"/>
          </a:xfrm>
          <a:prstGeom prst="rect">
            <a:avLst/>
          </a:prstGeom>
          <a:noFill/>
        </p:spPr>
        <p:txBody>
          <a:bodyPr wrap="square" lIns="0" rIns="0" tIns="0" bIns="0" anchor="t">
            <a:spAutoFit/>
          </a:bodyPr>
          <a:lstStyle/>
          <a:p>
            <a:pPr algn="l">
              <a:lnSpc>
                <a:spcPct val="115000"/>
              </a:lnSpc>
              <a:spcAft>
                <a:spcPts val="0"/>
              </a:spcAft>
            </a:pPr>
            <a:r>
              <a:rPr sz="1200" b="1">
                <a:solidFill>
                  <a:srgbClr val="59257B"/>
                </a:solidFill>
                <a:latin typeface="Open Sans"/>
              </a:rPr>
              <a:t>In short: the storage story is won in AI search. The AI story is half-built — and that is where Q3 goes.</a:t>
            </a:r>
          </a:p>
        </p:txBody>
      </p:sp>
      <p:sp>
        <p:nvSpPr>
          <p:cNvPr id="40" name="TextBox 39"/>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  GEO &amp; SEO Performance, Q2 2026</a:t>
            </a:r>
          </a:p>
        </p:txBody>
      </p:sp>
      <p:sp>
        <p:nvSpPr>
          <p:cNvPr id="41" name="TextBox 40"/>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rIns="0" tIns="0" bIns="0" anchor="t">
            <a:spAutoFit/>
          </a:bodyPr>
          <a:lstStyle/>
          <a:p>
            <a:pPr algn="l">
              <a:lnSpc>
                <a:spcPct val="115000"/>
              </a:lnSpc>
              <a:spcAft>
                <a:spcPts val="0"/>
              </a:spcAft>
            </a:pPr>
            <a:r>
              <a:rPr sz="1050" b="1">
                <a:solidFill>
                  <a:srgbClr val="9FC406"/>
                </a:solidFill>
                <a:latin typeface="Open Sans"/>
              </a:rPr>
              <a:t>HOW AI SEARCH WORKS</a:t>
            </a:r>
          </a:p>
        </p:txBody>
      </p:sp>
      <p:sp>
        <p:nvSpPr>
          <p:cNvPr id="6" name="TextBox 5"/>
          <p:cNvSpPr txBox="1"/>
          <p:nvPr/>
        </p:nvSpPr>
        <p:spPr>
          <a:xfrm>
            <a:off x="502920" y="502920"/>
            <a:ext cx="9692640" cy="45720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What Decides Whether an AI Names You</a:t>
            </a:r>
          </a:p>
        </p:txBody>
      </p:sp>
      <p:sp>
        <p:nvSpPr>
          <p:cNvPr id="7" name="TextBox 6"/>
          <p:cNvSpPr txBox="1"/>
          <p:nvPr/>
        </p:nvSpPr>
        <p:spPr>
          <a:xfrm>
            <a:off x="502920" y="98755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Three things, and only the first is your own website</a:t>
            </a:r>
          </a:p>
        </p:txBody>
      </p:sp>
      <p:sp>
        <p:nvSpPr>
          <p:cNvPr id="8" name="Rectangle 7"/>
          <p:cNvSpPr/>
          <p:nvPr/>
        </p:nvSpPr>
        <p:spPr>
          <a:xfrm>
            <a:off x="502920"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3566160" cy="6400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58952" y="1755648"/>
            <a:ext cx="457200" cy="45720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865376"/>
            <a:ext cx="457200" cy="256032"/>
          </a:xfrm>
          <a:prstGeom prst="rect">
            <a:avLst/>
          </a:prstGeom>
          <a:noFill/>
        </p:spPr>
        <p:txBody>
          <a:bodyPr wrap="square" lIns="0" rIns="0" tIns="0" bIns="0" anchor="t">
            <a:spAutoFit/>
          </a:bodyPr>
          <a:lstStyle/>
          <a:p>
            <a:pPr algn="ctr">
              <a:lnSpc>
                <a:spcPct val="115000"/>
              </a:lnSpc>
              <a:spcAft>
                <a:spcPts val="0"/>
              </a:spcAft>
            </a:pPr>
            <a:r>
              <a:rPr sz="1450" b="1">
                <a:solidFill>
                  <a:srgbClr val="FFFFFF"/>
                </a:solidFill>
                <a:latin typeface="Open Sans"/>
              </a:rPr>
              <a:t>1</a:t>
            </a:r>
          </a:p>
        </p:txBody>
      </p:sp>
      <p:sp>
        <p:nvSpPr>
          <p:cNvPr id="12" name="TextBox 11"/>
          <p:cNvSpPr txBox="1"/>
          <p:nvPr/>
        </p:nvSpPr>
        <p:spPr>
          <a:xfrm>
            <a:off x="758952" y="2377440"/>
            <a:ext cx="3063240" cy="310896"/>
          </a:xfrm>
          <a:prstGeom prst="rect">
            <a:avLst/>
          </a:prstGeom>
          <a:noFill/>
        </p:spPr>
        <p:txBody>
          <a:bodyPr wrap="square" lIns="0" rIns="0" tIns="0" bIns="0" anchor="t">
            <a:spAutoFit/>
          </a:bodyPr>
          <a:lstStyle/>
          <a:p>
            <a:pPr algn="l">
              <a:lnSpc>
                <a:spcPct val="115000"/>
              </a:lnSpc>
              <a:spcAft>
                <a:spcPts val="0"/>
              </a:spcAft>
            </a:pPr>
            <a:r>
              <a:rPr sz="1400" b="1">
                <a:solidFill>
                  <a:srgbClr val="59257B"/>
                </a:solidFill>
                <a:latin typeface="Open Sans"/>
              </a:rPr>
              <a:t>Be machine-readable</a:t>
            </a:r>
          </a:p>
        </p:txBody>
      </p:sp>
      <p:sp>
        <p:nvSpPr>
          <p:cNvPr id="13" name="TextBox 12"/>
          <p:cNvSpPr txBox="1"/>
          <p:nvPr/>
        </p:nvSpPr>
        <p:spPr>
          <a:xfrm>
            <a:off x="758952" y="2761488"/>
            <a:ext cx="3063240" cy="1188720"/>
          </a:xfrm>
          <a:prstGeom prst="rect">
            <a:avLst/>
          </a:prstGeom>
          <a:noFill/>
        </p:spPr>
        <p:txBody>
          <a:bodyPr wrap="square" lIns="0" rIns="0" tIns="0" bIns="0" anchor="t">
            <a:spAutoFit/>
          </a:bodyPr>
          <a:lstStyle/>
          <a:p>
            <a:pPr algn="l">
              <a:lnSpc>
                <a:spcPct val="128000"/>
              </a:lnSpc>
              <a:spcAft>
                <a:spcPts val="0"/>
              </a:spcAft>
            </a:pPr>
            <a:r>
              <a:rPr sz="1150" b="0">
                <a:solidFill>
                  <a:srgbClr val="595A5B"/>
                </a:solidFill>
                <a:latin typeface="Open Sans"/>
              </a:rPr>
              <a:t>AI crawlers read plain text and structured data. A page with no schema, or one that blocks the crawler, effectively does not exist to the model — however good the writing is.</a:t>
            </a:r>
          </a:p>
        </p:txBody>
      </p:sp>
      <p:sp>
        <p:nvSpPr>
          <p:cNvPr id="14" name="Rectangle 13"/>
          <p:cNvSpPr/>
          <p:nvPr/>
        </p:nvSpPr>
        <p:spPr>
          <a:xfrm>
            <a:off x="758952"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4142232"/>
            <a:ext cx="2834640" cy="402336"/>
          </a:xfrm>
          <a:prstGeom prst="rect">
            <a:avLst/>
          </a:prstGeom>
          <a:noFill/>
        </p:spPr>
        <p:txBody>
          <a:bodyPr wrap="square" lIns="0" rIns="0" tIns="0" bIns="0" anchor="t">
            <a:spAutoFit/>
          </a:bodyPr>
          <a:lstStyle/>
          <a:p>
            <a:pPr algn="l">
              <a:lnSpc>
                <a:spcPct val="116000"/>
              </a:lnSpc>
              <a:spcAft>
                <a:spcPts val="0"/>
              </a:spcAft>
            </a:pPr>
            <a:r>
              <a:rPr sz="1000" b="1">
                <a:solidFill>
                  <a:srgbClr val="59257B"/>
                </a:solidFill>
                <a:latin typeface="Open Sans"/>
              </a:rPr>
              <a:t>Done: AI crawlers admitted, llms.txt rebuilt, FAQ schema added.</a:t>
            </a:r>
          </a:p>
        </p:txBody>
      </p:sp>
      <p:sp>
        <p:nvSpPr>
          <p:cNvPr id="16" name="Rectangle 15"/>
          <p:cNvSpPr/>
          <p:nvPr/>
        </p:nvSpPr>
        <p:spPr>
          <a:xfrm>
            <a:off x="4315968"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15968" y="1481328"/>
            <a:ext cx="3566160" cy="6400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72000" y="1755648"/>
            <a:ext cx="457200" cy="45720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1865376"/>
            <a:ext cx="457200" cy="256032"/>
          </a:xfrm>
          <a:prstGeom prst="rect">
            <a:avLst/>
          </a:prstGeom>
          <a:noFill/>
        </p:spPr>
        <p:txBody>
          <a:bodyPr wrap="square" lIns="0" rIns="0" tIns="0" bIns="0" anchor="t">
            <a:spAutoFit/>
          </a:bodyPr>
          <a:lstStyle/>
          <a:p>
            <a:pPr algn="ctr">
              <a:lnSpc>
                <a:spcPct val="115000"/>
              </a:lnSpc>
              <a:spcAft>
                <a:spcPts val="0"/>
              </a:spcAft>
            </a:pPr>
            <a:r>
              <a:rPr sz="1450" b="1">
                <a:solidFill>
                  <a:srgbClr val="FFFFFF"/>
                </a:solidFill>
                <a:latin typeface="Open Sans"/>
              </a:rPr>
              <a:t>2</a:t>
            </a:r>
          </a:p>
        </p:txBody>
      </p:sp>
      <p:sp>
        <p:nvSpPr>
          <p:cNvPr id="20" name="TextBox 19"/>
          <p:cNvSpPr txBox="1"/>
          <p:nvPr/>
        </p:nvSpPr>
        <p:spPr>
          <a:xfrm>
            <a:off x="4572000" y="2377440"/>
            <a:ext cx="3063240" cy="310896"/>
          </a:xfrm>
          <a:prstGeom prst="rect">
            <a:avLst/>
          </a:prstGeom>
          <a:noFill/>
        </p:spPr>
        <p:txBody>
          <a:bodyPr wrap="square" lIns="0" rIns="0" tIns="0" bIns="0" anchor="t">
            <a:spAutoFit/>
          </a:bodyPr>
          <a:lstStyle/>
          <a:p>
            <a:pPr algn="l">
              <a:lnSpc>
                <a:spcPct val="115000"/>
              </a:lnSpc>
              <a:spcAft>
                <a:spcPts val="0"/>
              </a:spcAft>
            </a:pPr>
            <a:r>
              <a:rPr sz="1400" b="1">
                <a:solidFill>
                  <a:srgbClr val="59257B"/>
                </a:solidFill>
                <a:latin typeface="Open Sans"/>
              </a:rPr>
              <a:t>Be repeated</a:t>
            </a:r>
          </a:p>
        </p:txBody>
      </p:sp>
      <p:sp>
        <p:nvSpPr>
          <p:cNvPr id="21" name="TextBox 20"/>
          <p:cNvSpPr txBox="1"/>
          <p:nvPr/>
        </p:nvSpPr>
        <p:spPr>
          <a:xfrm>
            <a:off x="4572000" y="2761488"/>
            <a:ext cx="3063240" cy="1188720"/>
          </a:xfrm>
          <a:prstGeom prst="rect">
            <a:avLst/>
          </a:prstGeom>
          <a:noFill/>
        </p:spPr>
        <p:txBody>
          <a:bodyPr wrap="square" lIns="0" rIns="0" tIns="0" bIns="0" anchor="t">
            <a:spAutoFit/>
          </a:bodyPr>
          <a:lstStyle/>
          <a:p>
            <a:pPr algn="l">
              <a:lnSpc>
                <a:spcPct val="128000"/>
              </a:lnSpc>
              <a:spcAft>
                <a:spcPts val="0"/>
              </a:spcAft>
            </a:pPr>
            <a:r>
              <a:rPr sz="1150" b="0">
                <a:solidFill>
                  <a:srgbClr val="595A5B"/>
                </a:solidFill>
                <a:latin typeface="Open Sans"/>
              </a:rPr>
              <a:t>A model forms its view of a company from the same description repeated across many trusted sites. One excellent page cannot outweigh a hundred third-party sources that say something older.</a:t>
            </a:r>
          </a:p>
        </p:txBody>
      </p:sp>
      <p:sp>
        <p:nvSpPr>
          <p:cNvPr id="22" name="Rectangle 21"/>
          <p:cNvSpPr/>
          <p:nvPr/>
        </p:nvSpPr>
        <p:spPr>
          <a:xfrm>
            <a:off x="4572000"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0016" y="4142232"/>
            <a:ext cx="2834640" cy="402336"/>
          </a:xfrm>
          <a:prstGeom prst="rect">
            <a:avLst/>
          </a:prstGeom>
          <a:noFill/>
        </p:spPr>
        <p:txBody>
          <a:bodyPr wrap="square" lIns="0" rIns="0" tIns="0" bIns="0" anchor="t">
            <a:spAutoFit/>
          </a:bodyPr>
          <a:lstStyle/>
          <a:p>
            <a:pPr algn="l">
              <a:lnSpc>
                <a:spcPct val="116000"/>
              </a:lnSpc>
              <a:spcAft>
                <a:spcPts val="0"/>
              </a:spcAft>
            </a:pPr>
            <a:r>
              <a:rPr sz="1000" b="1">
                <a:solidFill>
                  <a:srgbClr val="59257B"/>
                </a:solidFill>
                <a:latin typeface="Open Sans"/>
              </a:rPr>
              <a:t>Done: one company description rolled out across third-party sites.</a:t>
            </a:r>
          </a:p>
        </p:txBody>
      </p:sp>
      <p:sp>
        <p:nvSpPr>
          <p:cNvPr id="24" name="Rectangle 23"/>
          <p:cNvSpPr/>
          <p:nvPr/>
        </p:nvSpPr>
        <p:spPr>
          <a:xfrm>
            <a:off x="8119872"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19872" y="1481328"/>
            <a:ext cx="3566160" cy="6400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75904" y="1755648"/>
            <a:ext cx="457200" cy="45720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75904" y="1865376"/>
            <a:ext cx="457200" cy="256032"/>
          </a:xfrm>
          <a:prstGeom prst="rect">
            <a:avLst/>
          </a:prstGeom>
          <a:noFill/>
        </p:spPr>
        <p:txBody>
          <a:bodyPr wrap="square" lIns="0" rIns="0" tIns="0" bIns="0" anchor="t">
            <a:spAutoFit/>
          </a:bodyPr>
          <a:lstStyle/>
          <a:p>
            <a:pPr algn="ctr">
              <a:lnSpc>
                <a:spcPct val="115000"/>
              </a:lnSpc>
              <a:spcAft>
                <a:spcPts val="0"/>
              </a:spcAft>
            </a:pPr>
            <a:r>
              <a:rPr sz="1450" b="1">
                <a:solidFill>
                  <a:srgbClr val="FFFFFF"/>
                </a:solidFill>
                <a:latin typeface="Open Sans"/>
              </a:rPr>
              <a:t>3</a:t>
            </a:r>
          </a:p>
        </p:txBody>
      </p:sp>
      <p:sp>
        <p:nvSpPr>
          <p:cNvPr id="28" name="TextBox 27"/>
          <p:cNvSpPr txBox="1"/>
          <p:nvPr/>
        </p:nvSpPr>
        <p:spPr>
          <a:xfrm>
            <a:off x="8375904" y="2377440"/>
            <a:ext cx="3063240" cy="310896"/>
          </a:xfrm>
          <a:prstGeom prst="rect">
            <a:avLst/>
          </a:prstGeom>
          <a:noFill/>
        </p:spPr>
        <p:txBody>
          <a:bodyPr wrap="square" lIns="0" rIns="0" tIns="0" bIns="0" anchor="t">
            <a:spAutoFit/>
          </a:bodyPr>
          <a:lstStyle/>
          <a:p>
            <a:pPr algn="l">
              <a:lnSpc>
                <a:spcPct val="115000"/>
              </a:lnSpc>
              <a:spcAft>
                <a:spcPts val="0"/>
              </a:spcAft>
            </a:pPr>
            <a:r>
              <a:rPr sz="1400" b="1">
                <a:solidFill>
                  <a:srgbClr val="59257B"/>
                </a:solidFill>
                <a:latin typeface="Open Sans"/>
              </a:rPr>
              <a:t>Be named, not just cited</a:t>
            </a:r>
          </a:p>
        </p:txBody>
      </p:sp>
      <p:sp>
        <p:nvSpPr>
          <p:cNvPr id="29" name="TextBox 28"/>
          <p:cNvSpPr txBox="1"/>
          <p:nvPr/>
        </p:nvSpPr>
        <p:spPr>
          <a:xfrm>
            <a:off x="8375904" y="2761488"/>
            <a:ext cx="3063240" cy="1188720"/>
          </a:xfrm>
          <a:prstGeom prst="rect">
            <a:avLst/>
          </a:prstGeom>
          <a:noFill/>
        </p:spPr>
        <p:txBody>
          <a:bodyPr wrap="square" lIns="0" rIns="0" tIns="0" bIns="0" anchor="t">
            <a:spAutoFit/>
          </a:bodyPr>
          <a:lstStyle/>
          <a:p>
            <a:pPr algn="l">
              <a:lnSpc>
                <a:spcPct val="128000"/>
              </a:lnSpc>
              <a:spcAft>
                <a:spcPts val="0"/>
              </a:spcAft>
            </a:pPr>
            <a:r>
              <a:rPr sz="1150" b="0">
                <a:solidFill>
                  <a:srgbClr val="595A5B"/>
                </a:solidFill>
                <a:latin typeface="Open Sans"/>
              </a:rPr>
              <a:t>A citation is a link inside the answer. A mention is the model actually saying “Komprise”. Citations follow good content. Mentions follow earned coverage — analysts, press, independent authority.</a:t>
            </a:r>
          </a:p>
        </p:txBody>
      </p:sp>
      <p:sp>
        <p:nvSpPr>
          <p:cNvPr id="30" name="Rectangle 29"/>
          <p:cNvSpPr/>
          <p:nvPr/>
        </p:nvSpPr>
        <p:spPr>
          <a:xfrm>
            <a:off x="8375904"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4142232"/>
            <a:ext cx="2834640" cy="402336"/>
          </a:xfrm>
          <a:prstGeom prst="rect">
            <a:avLst/>
          </a:prstGeom>
          <a:noFill/>
        </p:spPr>
        <p:txBody>
          <a:bodyPr wrap="square" lIns="0" rIns="0" tIns="0" bIns="0" anchor="t">
            <a:spAutoFit/>
          </a:bodyPr>
          <a:lstStyle/>
          <a:p>
            <a:pPr algn="l">
              <a:lnSpc>
                <a:spcPct val="116000"/>
              </a:lnSpc>
              <a:spcAft>
                <a:spcPts val="0"/>
              </a:spcAft>
            </a:pPr>
            <a:r>
              <a:rPr sz="1000" b="1">
                <a:solidFill>
                  <a:srgbClr val="59257B"/>
                </a:solidFill>
                <a:latin typeface="Open Sans"/>
              </a:rPr>
              <a:t>Open: this is the metric still moving the wrong way.</a:t>
            </a:r>
          </a:p>
        </p:txBody>
      </p:sp>
      <p:sp>
        <p:nvSpPr>
          <p:cNvPr id="32" name="Rectangle 31"/>
          <p:cNvSpPr/>
          <p:nvPr/>
        </p:nvSpPr>
        <p:spPr>
          <a:xfrm>
            <a:off x="502920" y="5029200"/>
            <a:ext cx="11183112" cy="117043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029200"/>
            <a:ext cx="54864" cy="117043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230368"/>
            <a:ext cx="10789920" cy="914400"/>
          </a:xfrm>
          <a:prstGeom prst="rect">
            <a:avLst/>
          </a:prstGeom>
          <a:noFill/>
        </p:spPr>
        <p:txBody>
          <a:bodyPr wrap="square" lIns="0" rIns="0" tIns="0" bIns="0" anchor="t">
            <a:spAutoFit/>
          </a:bodyPr>
          <a:lstStyle/>
          <a:p>
            <a:pPr algn="l">
              <a:lnSpc>
                <a:spcPct val="115000"/>
              </a:lnSpc>
              <a:spcAft>
                <a:spcPts val="600"/>
              </a:spcAft>
            </a:pPr>
            <a:r>
              <a:rPr sz="1250" b="1">
                <a:solidFill>
                  <a:srgbClr val="59257B"/>
                </a:solidFill>
                <a:latin typeface="Open Sans"/>
              </a:rPr>
              <a:t>What this looks like in practice</a:t>
            </a:r>
          </a:p>
          <a:p>
            <a:pPr algn="l">
              <a:lnSpc>
                <a:spcPct val="125000"/>
              </a:lnSpc>
              <a:spcAft>
                <a:spcPts val="0"/>
              </a:spcAft>
            </a:pPr>
            <a:r>
              <a:rPr sz="1100" b="0">
                <a:solidFill>
                  <a:srgbClr val="595A5B"/>
                </a:solidFill>
                <a:latin typeface="Open Sans"/>
              </a:rPr>
              <a:t>In July we asked ChatGPT “How to address rising enterprise storage costs — please cite sources.” It answered with Microsoft Learn, AWS, TechTarget and an academic paper. No vendor content at all, including ours — even though we have strong, well-sourced pages on exactly that question. When a buyer asks for sources, the model reaches for independent publications over any vendor. That single behaviour is why the next lever is third-party placement, not more pages.</a:t>
            </a:r>
          </a:p>
        </p:txBody>
      </p:sp>
      <p:sp>
        <p:nvSpPr>
          <p:cNvPr id="35" name="TextBox 34"/>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  GEO &amp; SEO Performance, Q2 2026</a:t>
            </a:r>
          </a:p>
        </p:txBody>
      </p:sp>
      <p:sp>
        <p:nvSpPr>
          <p:cNvPr id="36" name="TextBox 35"/>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rIns="0" tIns="0" bIns="0" anchor="t">
            <a:spAutoFit/>
          </a:bodyPr>
          <a:lstStyle/>
          <a:p>
            <a:pPr algn="l">
              <a:lnSpc>
                <a:spcPct val="115000"/>
              </a:lnSpc>
              <a:spcAft>
                <a:spcPts val="0"/>
              </a:spcAft>
            </a:pPr>
            <a:r>
              <a:rPr sz="1050" b="1">
                <a:solidFill>
                  <a:srgbClr val="9FC406"/>
                </a:solidFill>
                <a:latin typeface="Open Sans"/>
              </a:rPr>
              <a:t>WHAT WE DID</a:t>
            </a:r>
          </a:p>
        </p:txBody>
      </p:sp>
      <p:sp>
        <p:nvSpPr>
          <p:cNvPr id="6" name="TextBox 5"/>
          <p:cNvSpPr txBox="1"/>
          <p:nvPr/>
        </p:nvSpPr>
        <p:spPr>
          <a:xfrm>
            <a:off x="502920" y="502920"/>
            <a:ext cx="9692640" cy="45720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Changing How We Are Described</a:t>
            </a:r>
          </a:p>
        </p:txBody>
      </p:sp>
      <p:sp>
        <p:nvSpPr>
          <p:cNvPr id="7" name="TextBox 6"/>
          <p:cNvSpPr txBox="1"/>
          <p:nvPr/>
        </p:nvSpPr>
        <p:spPr>
          <a:xfrm>
            <a:off x="502920" y="98755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Content and technical work delivered against the two lanes</a:t>
            </a:r>
          </a:p>
        </p:txBody>
      </p:sp>
      <p:sp>
        <p:nvSpPr>
          <p:cNvPr id="8" name="Rectangle 7"/>
          <p:cNvSpPr/>
          <p:nvPr/>
        </p:nvSpPr>
        <p:spPr>
          <a:xfrm>
            <a:off x="502920" y="1481328"/>
            <a:ext cx="5504688"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549908"/>
            <a:ext cx="5212080" cy="237744"/>
          </a:xfrm>
          <a:prstGeom prst="rect">
            <a:avLst/>
          </a:prstGeom>
          <a:noFill/>
        </p:spPr>
        <p:txBody>
          <a:bodyPr wrap="square" lIns="0" rIns="0" tIns="0" bIns="0" anchor="t">
            <a:spAutoFit/>
          </a:bodyPr>
          <a:lstStyle/>
          <a:p>
            <a:pPr algn="l">
              <a:lnSpc>
                <a:spcPct val="115000"/>
              </a:lnSpc>
              <a:spcAft>
                <a:spcPts val="0"/>
              </a:spcAft>
            </a:pPr>
            <a:r>
              <a:rPr sz="1200" b="1">
                <a:solidFill>
                  <a:srgbClr val="FFFFFF"/>
                </a:solidFill>
                <a:latin typeface="Open Sans"/>
              </a:rPr>
              <a:t>CONTENT  ·  CLAIMING THE LANGUAGE</a:t>
            </a:r>
          </a:p>
        </p:txBody>
      </p:sp>
      <p:sp>
        <p:nvSpPr>
          <p:cNvPr id="10" name="Rectangle 9"/>
          <p:cNvSpPr/>
          <p:nvPr/>
        </p:nvSpPr>
        <p:spPr>
          <a:xfrm>
            <a:off x="6181344" y="1481328"/>
            <a:ext cx="5504688" cy="3474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5936" y="1549908"/>
            <a:ext cx="5212080" cy="237744"/>
          </a:xfrm>
          <a:prstGeom prst="rect">
            <a:avLst/>
          </a:prstGeom>
          <a:noFill/>
        </p:spPr>
        <p:txBody>
          <a:bodyPr wrap="square" lIns="0" rIns="0" tIns="0" bIns="0" anchor="t">
            <a:spAutoFit/>
          </a:bodyPr>
          <a:lstStyle/>
          <a:p>
            <a:pPr algn="l">
              <a:lnSpc>
                <a:spcPct val="115000"/>
              </a:lnSpc>
              <a:spcAft>
                <a:spcPts val="0"/>
              </a:spcAft>
            </a:pPr>
            <a:r>
              <a:rPr sz="1200" b="1">
                <a:solidFill>
                  <a:srgbClr val="FFFFFF"/>
                </a:solidFill>
                <a:latin typeface="Open Sans"/>
              </a:rPr>
              <a:t>TECHNICAL  ·  MAKING IT READABLE</a:t>
            </a:r>
          </a:p>
        </p:txBody>
      </p:sp>
      <p:sp>
        <p:nvSpPr>
          <p:cNvPr id="12" name="Rectangle 11"/>
          <p:cNvSpPr/>
          <p:nvPr/>
        </p:nvSpPr>
        <p:spPr>
          <a:xfrm>
            <a:off x="530352" y="2011680"/>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1929384"/>
            <a:ext cx="5120640" cy="841247"/>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More than 20 new AI glossary pages published to claim the language buyers and models use — AI Data Platform, AI-Ready Data, AI Data Ingestion, AI Data Curation, Vector Embeddings, Synthetic Data, AI Token, Tokenization.</a:t>
            </a:r>
          </a:p>
        </p:txBody>
      </p:sp>
      <p:sp>
        <p:nvSpPr>
          <p:cNvPr id="14" name="Rectangle 13"/>
          <p:cNvSpPr/>
          <p:nvPr/>
        </p:nvSpPr>
        <p:spPr>
          <a:xfrm>
            <a:off x="530352" y="298094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898648"/>
            <a:ext cx="5120640" cy="466344"/>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Memflation and flash-pricing pages created to meet buyers searching on storage price rises rather than product names.</a:t>
            </a:r>
          </a:p>
        </p:txBody>
      </p:sp>
      <p:sp>
        <p:nvSpPr>
          <p:cNvPr id="16" name="Rectangle 15"/>
          <p:cNvSpPr/>
          <p:nvPr/>
        </p:nvSpPr>
        <p:spPr>
          <a:xfrm>
            <a:off x="530352" y="357530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493008"/>
            <a:ext cx="5120640" cy="653796"/>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Homepage hero and product page titles reframed to lead with AI readiness, with the 70% cost saving moved to a supporting proof point.</a:t>
            </a:r>
          </a:p>
        </p:txBody>
      </p:sp>
      <p:sp>
        <p:nvSpPr>
          <p:cNvPr id="18" name="Rectangle 17"/>
          <p:cNvSpPr/>
          <p:nvPr/>
        </p:nvSpPr>
        <p:spPr>
          <a:xfrm>
            <a:off x="530352" y="4357116"/>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274820"/>
            <a:ext cx="5120640" cy="466344"/>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Transparent File Tables launched with a product page, demo page, interview and press coverage.</a:t>
            </a:r>
          </a:p>
        </p:txBody>
      </p:sp>
      <p:sp>
        <p:nvSpPr>
          <p:cNvPr id="20" name="Rectangle 19"/>
          <p:cNvSpPr/>
          <p:nvPr/>
        </p:nvSpPr>
        <p:spPr>
          <a:xfrm>
            <a:off x="530352" y="4951476"/>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869180"/>
            <a:ext cx="5120640" cy="466344"/>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AI-pipeline explainer content published and comparison tables added across the glossary.</a:t>
            </a:r>
          </a:p>
        </p:txBody>
      </p:sp>
      <p:sp>
        <p:nvSpPr>
          <p:cNvPr id="22" name="Rectangle 21"/>
          <p:cNvSpPr/>
          <p:nvPr/>
        </p:nvSpPr>
        <p:spPr>
          <a:xfrm>
            <a:off x="6208776" y="201168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929384"/>
            <a:ext cx="5120640" cy="466344"/>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Full audit of all 1,433 site URLs, separating copy fixes from engineering fixes.</a:t>
            </a:r>
          </a:p>
        </p:txBody>
      </p:sp>
      <p:sp>
        <p:nvSpPr>
          <p:cNvPr id="24" name="Rectangle 23"/>
          <p:cNvSpPr/>
          <p:nvPr/>
        </p:nvSpPr>
        <p:spPr>
          <a:xfrm>
            <a:off x="6208776" y="260604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523744"/>
            <a:ext cx="5120640" cy="466344"/>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AI crawlers explicitly admitted in robots.txt — previously two major assistants could not read the site at all.</a:t>
            </a:r>
          </a:p>
        </p:txBody>
      </p:sp>
      <p:sp>
        <p:nvSpPr>
          <p:cNvPr id="26" name="Rectangle 25"/>
          <p:cNvSpPr/>
          <p:nvPr/>
        </p:nvSpPr>
        <p:spPr>
          <a:xfrm>
            <a:off x="6208776" y="320040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118104"/>
            <a:ext cx="5120640" cy="466344"/>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llms.txt rebuilt and repointed away from cost-led framing to current section indexes.</a:t>
            </a:r>
          </a:p>
        </p:txBody>
      </p:sp>
      <p:sp>
        <p:nvSpPr>
          <p:cNvPr id="28" name="Rectangle 27"/>
          <p:cNvSpPr/>
          <p:nvPr/>
        </p:nvSpPr>
        <p:spPr>
          <a:xfrm>
            <a:off x="6208776" y="3794759"/>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3712463"/>
            <a:ext cx="5120640" cy="466344"/>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FAQ and structured data added across the Flash Stretch page, blog posts and glossary terms.</a:t>
            </a:r>
          </a:p>
        </p:txBody>
      </p:sp>
      <p:sp>
        <p:nvSpPr>
          <p:cNvPr id="30" name="Rectangle 29"/>
          <p:cNvSpPr/>
          <p:nvPr/>
        </p:nvSpPr>
        <p:spPr>
          <a:xfrm>
            <a:off x="6208776" y="438912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306824"/>
            <a:ext cx="5120640" cy="466344"/>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Canonical repair on 20 new AI glossary pages that were pointing crawlers at broken URLs.</a:t>
            </a:r>
          </a:p>
        </p:txBody>
      </p:sp>
      <p:sp>
        <p:nvSpPr>
          <p:cNvPr id="32" name="Rectangle 31"/>
          <p:cNvSpPr/>
          <p:nvPr/>
        </p:nvSpPr>
        <p:spPr>
          <a:xfrm>
            <a:off x="6208776" y="498348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4901184"/>
            <a:ext cx="5120640" cy="466344"/>
          </a:xfrm>
          <a:prstGeom prst="rect">
            <a:avLst/>
          </a:prstGeom>
          <a:noFill/>
        </p:spPr>
        <p:txBody>
          <a:bodyPr wrap="square" lIns="0" rIns="0" tIns="0" bIns="0" anchor="t">
            <a:spAutoFit/>
          </a:bodyPr>
          <a:lstStyle/>
          <a:p>
            <a:pPr algn="l">
              <a:lnSpc>
                <a:spcPct val="122000"/>
              </a:lnSpc>
              <a:spcAft>
                <a:spcPts val="0"/>
              </a:spcAft>
            </a:pPr>
            <a:r>
              <a:rPr sz="1050" b="0">
                <a:solidFill>
                  <a:srgbClr val="262428"/>
                </a:solidFill>
                <a:latin typeface="Open Sans"/>
              </a:rPr>
              <a:t>Legacy cost-led meta template retired from 58 pages; duplicate blog index resolved and sitemap cleaned.</a:t>
            </a:r>
          </a:p>
        </p:txBody>
      </p:sp>
      <p:sp>
        <p:nvSpPr>
          <p:cNvPr id="34" name="Rectangle 33"/>
          <p:cNvSpPr/>
          <p:nvPr/>
        </p:nvSpPr>
        <p:spPr>
          <a:xfrm>
            <a:off x="502920" y="5870448"/>
            <a:ext cx="11183112"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5870448"/>
            <a:ext cx="54864" cy="56692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5989320"/>
            <a:ext cx="10789920" cy="384048"/>
          </a:xfrm>
          <a:prstGeom prst="rect">
            <a:avLst/>
          </a:prstGeom>
          <a:noFill/>
        </p:spPr>
        <p:txBody>
          <a:bodyPr wrap="square" lIns="0" rIns="0" tIns="0" bIns="0" anchor="t">
            <a:spAutoFit/>
          </a:bodyPr>
          <a:lstStyle/>
          <a:p>
            <a:pPr algn="l">
              <a:lnSpc>
                <a:spcPct val="120000"/>
              </a:lnSpc>
              <a:spcAft>
                <a:spcPts val="0"/>
              </a:spcAft>
            </a:pPr>
            <a:r>
              <a:rPr sz="1100" b="1">
                <a:solidFill>
                  <a:srgbClr val="59257B"/>
                </a:solidFill>
                <a:latin typeface="Open Sans"/>
              </a:rPr>
              <a:t>Early proof it works: product names we deliberately repeated across trusted sites — Transparent Move Technology, Global Metadatabase — are now being repeated back to us by AI assistants, unprompted.</a:t>
            </a:r>
          </a:p>
        </p:txBody>
      </p:sp>
      <p:sp>
        <p:nvSpPr>
          <p:cNvPr id="37" name="TextBox 36"/>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  GEO &amp; SEO Performance, Q2 2026</a:t>
            </a:r>
          </a:p>
        </p:txBody>
      </p:sp>
      <p:sp>
        <p:nvSpPr>
          <p:cNvPr id="38" name="TextBox 37"/>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rIns="0" tIns="0" bIns="0" anchor="t">
            <a:spAutoFit/>
          </a:bodyPr>
          <a:lstStyle/>
          <a:p>
            <a:pPr algn="l">
              <a:lnSpc>
                <a:spcPct val="115000"/>
              </a:lnSpc>
              <a:spcAft>
                <a:spcPts val="0"/>
              </a:spcAft>
            </a:pPr>
            <a:r>
              <a:rPr sz="1050" b="1">
                <a:solidFill>
                  <a:srgbClr val="9FC406"/>
                </a:solidFill>
                <a:latin typeface="Open Sans"/>
              </a:rPr>
              <a:t>THE RESULT, LANE BY LANE</a:t>
            </a:r>
          </a:p>
        </p:txBody>
      </p:sp>
      <p:sp>
        <p:nvSpPr>
          <p:cNvPr id="6" name="TextBox 5"/>
          <p:cNvSpPr txBox="1"/>
          <p:nvPr/>
        </p:nvSpPr>
        <p:spPr>
          <a:xfrm>
            <a:off x="502920" y="502920"/>
            <a:ext cx="9692640" cy="45720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Are We the Answer, or Not?</a:t>
            </a:r>
          </a:p>
        </p:txBody>
      </p:sp>
      <p:sp>
        <p:nvSpPr>
          <p:cNvPr id="7" name="TextBox 6"/>
          <p:cNvSpPr txBox="1"/>
          <p:nvPr/>
        </p:nvSpPr>
        <p:spPr>
          <a:xfrm>
            <a:off x="502920" y="98755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Whether Komprise appears inside Google's AI answer for the questions each lane is built on</a:t>
            </a:r>
          </a:p>
        </p:txBody>
      </p:sp>
      <p:sp>
        <p:nvSpPr>
          <p:cNvPr id="8" name="Rectangle 7"/>
          <p:cNvSpPr/>
          <p:nvPr/>
        </p:nvSpPr>
        <p:spPr>
          <a:xfrm>
            <a:off x="502920" y="1481328"/>
            <a:ext cx="5504688"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549908"/>
            <a:ext cx="5212080" cy="237744"/>
          </a:xfrm>
          <a:prstGeom prst="rect">
            <a:avLst/>
          </a:prstGeom>
          <a:noFill/>
        </p:spPr>
        <p:txBody>
          <a:bodyPr wrap="square" lIns="0" rIns="0" tIns="0" bIns="0" anchor="t">
            <a:spAutoFit/>
          </a:bodyPr>
          <a:lstStyle/>
          <a:p>
            <a:pPr algn="l">
              <a:lnSpc>
                <a:spcPct val="115000"/>
              </a:lnSpc>
              <a:spcAft>
                <a:spcPts val="0"/>
              </a:spcAft>
            </a:pPr>
            <a:r>
              <a:rPr sz="1200" b="1">
                <a:solidFill>
                  <a:srgbClr val="FFFFFF"/>
                </a:solidFill>
                <a:latin typeface="Open Sans"/>
              </a:rPr>
              <a:t>LANE 1  ·  AI-READY DATA</a:t>
            </a:r>
          </a:p>
        </p:txBody>
      </p:sp>
      <p:sp>
        <p:nvSpPr>
          <p:cNvPr id="10" name="Rectangle 9"/>
          <p:cNvSpPr/>
          <p:nvPr/>
        </p:nvSpPr>
        <p:spPr>
          <a:xfrm>
            <a:off x="6181344" y="1481328"/>
            <a:ext cx="5504688" cy="3474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5936" y="1549908"/>
            <a:ext cx="5212080" cy="237744"/>
          </a:xfrm>
          <a:prstGeom prst="rect">
            <a:avLst/>
          </a:prstGeom>
          <a:noFill/>
        </p:spPr>
        <p:txBody>
          <a:bodyPr wrap="square" lIns="0" rIns="0" tIns="0" bIns="0" anchor="t">
            <a:spAutoFit/>
          </a:bodyPr>
          <a:lstStyle/>
          <a:p>
            <a:pPr algn="l">
              <a:lnSpc>
                <a:spcPct val="115000"/>
              </a:lnSpc>
              <a:spcAft>
                <a:spcPts val="0"/>
              </a:spcAft>
            </a:pPr>
            <a:r>
              <a:rPr sz="1200" b="1">
                <a:solidFill>
                  <a:srgbClr val="FFFFFF"/>
                </a:solidFill>
                <a:latin typeface="Open Sans"/>
              </a:rPr>
              <a:t>LANE 2  ·  STORAGE PRICE HIKES</a:t>
            </a:r>
          </a:p>
        </p:txBody>
      </p:sp>
      <p:sp>
        <p:nvSpPr>
          <p:cNvPr id="12" name="Rectangle 11"/>
          <p:cNvSpPr/>
          <p:nvPr/>
        </p:nvSpPr>
        <p:spPr>
          <a:xfrm>
            <a:off x="502920" y="1938528"/>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039112"/>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ai data ingestion</a:t>
            </a:r>
          </a:p>
        </p:txBody>
      </p:sp>
      <p:sp>
        <p:nvSpPr>
          <p:cNvPr id="15" name="Rounded Rectangle 14"/>
          <p:cNvSpPr/>
          <p:nvPr/>
        </p:nvSpPr>
        <p:spPr>
          <a:xfrm>
            <a:off x="3776472" y="2011680"/>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6472" y="2043684"/>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17" name="TextBox 16"/>
          <p:cNvSpPr txBox="1"/>
          <p:nvPr/>
        </p:nvSpPr>
        <p:spPr>
          <a:xfrm>
            <a:off x="5111496" y="2039112"/>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18" name="Rectangle 17"/>
          <p:cNvSpPr/>
          <p:nvPr/>
        </p:nvSpPr>
        <p:spPr>
          <a:xfrm>
            <a:off x="502920" y="2359152"/>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459736"/>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ai data curation</a:t>
            </a:r>
          </a:p>
        </p:txBody>
      </p:sp>
      <p:sp>
        <p:nvSpPr>
          <p:cNvPr id="21" name="Rounded Rectangle 20"/>
          <p:cNvSpPr/>
          <p:nvPr/>
        </p:nvSpPr>
        <p:spPr>
          <a:xfrm>
            <a:off x="3776472" y="2432304"/>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6472" y="2464308"/>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23" name="TextBox 22"/>
          <p:cNvSpPr txBox="1"/>
          <p:nvPr/>
        </p:nvSpPr>
        <p:spPr>
          <a:xfrm>
            <a:off x="5111496" y="2459736"/>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24" name="Rectangle 23"/>
          <p:cNvSpPr/>
          <p:nvPr/>
        </p:nvSpPr>
        <p:spPr>
          <a:xfrm>
            <a:off x="502920" y="2779776"/>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2880360"/>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unstructured data management solutions</a:t>
            </a:r>
          </a:p>
        </p:txBody>
      </p:sp>
      <p:sp>
        <p:nvSpPr>
          <p:cNvPr id="27" name="Rounded Rectangle 26"/>
          <p:cNvSpPr/>
          <p:nvPr/>
        </p:nvSpPr>
        <p:spPr>
          <a:xfrm>
            <a:off x="3776472" y="2852928"/>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76472" y="2884932"/>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29" name="TextBox 28"/>
          <p:cNvSpPr txBox="1"/>
          <p:nvPr/>
        </p:nvSpPr>
        <p:spPr>
          <a:xfrm>
            <a:off x="5111496" y="2880360"/>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30" name="Rectangle 29"/>
          <p:cNvSpPr/>
          <p:nvPr/>
        </p:nvSpPr>
        <p:spPr>
          <a:xfrm>
            <a:off x="502920" y="3200400"/>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3200400"/>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3300984"/>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ai data leakage</a:t>
            </a:r>
          </a:p>
        </p:txBody>
      </p:sp>
      <p:sp>
        <p:nvSpPr>
          <p:cNvPr id="33" name="Rounded Rectangle 32"/>
          <p:cNvSpPr/>
          <p:nvPr/>
        </p:nvSpPr>
        <p:spPr>
          <a:xfrm>
            <a:off x="3776472" y="3273552"/>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76472" y="3305556"/>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35" name="TextBox 34"/>
          <p:cNvSpPr txBox="1"/>
          <p:nvPr/>
        </p:nvSpPr>
        <p:spPr>
          <a:xfrm>
            <a:off x="5111496" y="3300984"/>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36" name="Rectangle 35"/>
          <p:cNvSpPr/>
          <p:nvPr/>
        </p:nvSpPr>
        <p:spPr>
          <a:xfrm>
            <a:off x="502920" y="3621024"/>
            <a:ext cx="5504688"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3621024"/>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4088" y="3721608"/>
            <a:ext cx="3017520" cy="219456"/>
          </a:xfrm>
          <a:prstGeom prst="rect">
            <a:avLst/>
          </a:prstGeom>
          <a:noFill/>
        </p:spPr>
        <p:txBody>
          <a:bodyPr wrap="square" lIns="0" rIns="0" tIns="0" bIns="0" anchor="t">
            <a:spAutoFit/>
          </a:bodyPr>
          <a:lstStyle/>
          <a:p>
            <a:pPr algn="l">
              <a:lnSpc>
                <a:spcPct val="115000"/>
              </a:lnSpc>
              <a:spcAft>
                <a:spcPts val="0"/>
              </a:spcAft>
            </a:pPr>
            <a:r>
              <a:rPr sz="1050" b="0">
                <a:solidFill>
                  <a:srgbClr val="595A5B"/>
                </a:solidFill>
                <a:latin typeface="Open Sans"/>
              </a:rPr>
              <a:t>ai data management</a:t>
            </a:r>
          </a:p>
        </p:txBody>
      </p:sp>
      <p:sp>
        <p:nvSpPr>
          <p:cNvPr id="39" name="Rounded Rectangle 38"/>
          <p:cNvSpPr/>
          <p:nvPr/>
        </p:nvSpPr>
        <p:spPr>
          <a:xfrm>
            <a:off x="3776472" y="3694176"/>
            <a:ext cx="1243584"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76472" y="3726180"/>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NOT YET</a:t>
            </a:r>
          </a:p>
        </p:txBody>
      </p:sp>
      <p:sp>
        <p:nvSpPr>
          <p:cNvPr id="41" name="TextBox 40"/>
          <p:cNvSpPr txBox="1"/>
          <p:nvPr/>
        </p:nvSpPr>
        <p:spPr>
          <a:xfrm>
            <a:off x="5111496" y="3726180"/>
            <a:ext cx="749808"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Google #15</a:t>
            </a:r>
          </a:p>
        </p:txBody>
      </p:sp>
      <p:sp>
        <p:nvSpPr>
          <p:cNvPr id="42" name="Rectangle 41"/>
          <p:cNvSpPr/>
          <p:nvPr/>
        </p:nvSpPr>
        <p:spPr>
          <a:xfrm>
            <a:off x="502920" y="4041648"/>
            <a:ext cx="5504688"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4041648"/>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4142232"/>
            <a:ext cx="3017520" cy="219456"/>
          </a:xfrm>
          <a:prstGeom prst="rect">
            <a:avLst/>
          </a:prstGeom>
          <a:noFill/>
        </p:spPr>
        <p:txBody>
          <a:bodyPr wrap="square" lIns="0" rIns="0" tIns="0" bIns="0" anchor="t">
            <a:spAutoFit/>
          </a:bodyPr>
          <a:lstStyle/>
          <a:p>
            <a:pPr algn="l">
              <a:lnSpc>
                <a:spcPct val="115000"/>
              </a:lnSpc>
              <a:spcAft>
                <a:spcPts val="0"/>
              </a:spcAft>
            </a:pPr>
            <a:r>
              <a:rPr sz="1050" b="0">
                <a:solidFill>
                  <a:srgbClr val="595A5B"/>
                </a:solidFill>
                <a:latin typeface="Open Sans"/>
              </a:rPr>
              <a:t>ai data platform</a:t>
            </a:r>
          </a:p>
        </p:txBody>
      </p:sp>
      <p:sp>
        <p:nvSpPr>
          <p:cNvPr id="45" name="Rounded Rectangle 44"/>
          <p:cNvSpPr/>
          <p:nvPr/>
        </p:nvSpPr>
        <p:spPr>
          <a:xfrm>
            <a:off x="3776472" y="4114800"/>
            <a:ext cx="1243584"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76472" y="4146804"/>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NOT YET</a:t>
            </a:r>
          </a:p>
        </p:txBody>
      </p:sp>
      <p:sp>
        <p:nvSpPr>
          <p:cNvPr id="47" name="TextBox 46"/>
          <p:cNvSpPr txBox="1"/>
          <p:nvPr/>
        </p:nvSpPr>
        <p:spPr>
          <a:xfrm>
            <a:off x="5111496" y="4146804"/>
            <a:ext cx="749808"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Google #10</a:t>
            </a:r>
          </a:p>
        </p:txBody>
      </p:sp>
      <p:sp>
        <p:nvSpPr>
          <p:cNvPr id="48" name="Rectangle 47"/>
          <p:cNvSpPr/>
          <p:nvPr/>
        </p:nvSpPr>
        <p:spPr>
          <a:xfrm>
            <a:off x="502920" y="4462272"/>
            <a:ext cx="5504688"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 y="4462272"/>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4088" y="4562856"/>
            <a:ext cx="3017520" cy="219456"/>
          </a:xfrm>
          <a:prstGeom prst="rect">
            <a:avLst/>
          </a:prstGeom>
          <a:noFill/>
        </p:spPr>
        <p:txBody>
          <a:bodyPr wrap="square" lIns="0" rIns="0" tIns="0" bIns="0" anchor="t">
            <a:spAutoFit/>
          </a:bodyPr>
          <a:lstStyle/>
          <a:p>
            <a:pPr algn="l">
              <a:lnSpc>
                <a:spcPct val="115000"/>
              </a:lnSpc>
              <a:spcAft>
                <a:spcPts val="0"/>
              </a:spcAft>
            </a:pPr>
            <a:r>
              <a:rPr sz="1050" b="0">
                <a:solidFill>
                  <a:srgbClr val="595A5B"/>
                </a:solidFill>
                <a:latin typeface="Open Sans"/>
              </a:rPr>
              <a:t>ai data preparation</a:t>
            </a:r>
          </a:p>
        </p:txBody>
      </p:sp>
      <p:sp>
        <p:nvSpPr>
          <p:cNvPr id="51" name="Rounded Rectangle 50"/>
          <p:cNvSpPr/>
          <p:nvPr/>
        </p:nvSpPr>
        <p:spPr>
          <a:xfrm>
            <a:off x="3776472" y="4535424"/>
            <a:ext cx="1243584"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76472" y="4567428"/>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NOT YET</a:t>
            </a:r>
          </a:p>
        </p:txBody>
      </p:sp>
      <p:sp>
        <p:nvSpPr>
          <p:cNvPr id="53" name="TextBox 52"/>
          <p:cNvSpPr txBox="1"/>
          <p:nvPr/>
        </p:nvSpPr>
        <p:spPr>
          <a:xfrm>
            <a:off x="5111496" y="4567428"/>
            <a:ext cx="749808"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Google #9</a:t>
            </a:r>
          </a:p>
        </p:txBody>
      </p:sp>
      <p:sp>
        <p:nvSpPr>
          <p:cNvPr id="54" name="Rectangle 53"/>
          <p:cNvSpPr/>
          <p:nvPr/>
        </p:nvSpPr>
        <p:spPr>
          <a:xfrm>
            <a:off x="502920" y="4882896"/>
            <a:ext cx="5504688"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2920"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04088" y="4983480"/>
            <a:ext cx="3017520" cy="219456"/>
          </a:xfrm>
          <a:prstGeom prst="rect">
            <a:avLst/>
          </a:prstGeom>
          <a:noFill/>
        </p:spPr>
        <p:txBody>
          <a:bodyPr wrap="square" lIns="0" rIns="0" tIns="0" bIns="0" anchor="t">
            <a:spAutoFit/>
          </a:bodyPr>
          <a:lstStyle/>
          <a:p>
            <a:pPr algn="l">
              <a:lnSpc>
                <a:spcPct val="115000"/>
              </a:lnSpc>
              <a:spcAft>
                <a:spcPts val="0"/>
              </a:spcAft>
            </a:pPr>
            <a:r>
              <a:rPr sz="1050" b="0">
                <a:solidFill>
                  <a:srgbClr val="595A5B"/>
                </a:solidFill>
                <a:latin typeface="Open Sans"/>
              </a:rPr>
              <a:t>how to prepare data for ai</a:t>
            </a:r>
          </a:p>
        </p:txBody>
      </p:sp>
      <p:sp>
        <p:nvSpPr>
          <p:cNvPr id="57" name="Rounded Rectangle 56"/>
          <p:cNvSpPr/>
          <p:nvPr/>
        </p:nvSpPr>
        <p:spPr>
          <a:xfrm>
            <a:off x="3776472" y="4956048"/>
            <a:ext cx="1243584"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6472" y="4988052"/>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NOT YET</a:t>
            </a:r>
          </a:p>
        </p:txBody>
      </p:sp>
      <p:sp>
        <p:nvSpPr>
          <p:cNvPr id="59" name="TextBox 58"/>
          <p:cNvSpPr txBox="1"/>
          <p:nvPr/>
        </p:nvSpPr>
        <p:spPr>
          <a:xfrm>
            <a:off x="5111496" y="4988052"/>
            <a:ext cx="749808"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Google #2</a:t>
            </a:r>
          </a:p>
        </p:txBody>
      </p:sp>
      <p:sp>
        <p:nvSpPr>
          <p:cNvPr id="60" name="Rectangle 59"/>
          <p:cNvSpPr/>
          <p:nvPr/>
        </p:nvSpPr>
        <p:spPr>
          <a:xfrm>
            <a:off x="6181344" y="1938528"/>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181344"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82512" y="2039112"/>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data tiering</a:t>
            </a:r>
          </a:p>
        </p:txBody>
      </p:sp>
      <p:sp>
        <p:nvSpPr>
          <p:cNvPr id="63" name="Rounded Rectangle 62"/>
          <p:cNvSpPr/>
          <p:nvPr/>
        </p:nvSpPr>
        <p:spPr>
          <a:xfrm>
            <a:off x="9454896" y="2011680"/>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454896" y="2043684"/>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65" name="TextBox 64"/>
          <p:cNvSpPr txBox="1"/>
          <p:nvPr/>
        </p:nvSpPr>
        <p:spPr>
          <a:xfrm>
            <a:off x="10789920" y="2039112"/>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66" name="Rectangle 65"/>
          <p:cNvSpPr/>
          <p:nvPr/>
        </p:nvSpPr>
        <p:spPr>
          <a:xfrm>
            <a:off x="6181344" y="2359152"/>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181344"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82512" y="2459736"/>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storage tiering</a:t>
            </a:r>
          </a:p>
        </p:txBody>
      </p:sp>
      <p:sp>
        <p:nvSpPr>
          <p:cNvPr id="69" name="Rounded Rectangle 68"/>
          <p:cNvSpPr/>
          <p:nvPr/>
        </p:nvSpPr>
        <p:spPr>
          <a:xfrm>
            <a:off x="9454896" y="2432304"/>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54896" y="2464308"/>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71" name="TextBox 70"/>
          <p:cNvSpPr txBox="1"/>
          <p:nvPr/>
        </p:nvSpPr>
        <p:spPr>
          <a:xfrm>
            <a:off x="10789920" y="2459736"/>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72" name="Rectangle 71"/>
          <p:cNvSpPr/>
          <p:nvPr/>
        </p:nvSpPr>
        <p:spPr>
          <a:xfrm>
            <a:off x="6181344" y="2779776"/>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181344"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382512" y="2880360"/>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intelligent tiering</a:t>
            </a:r>
          </a:p>
        </p:txBody>
      </p:sp>
      <p:sp>
        <p:nvSpPr>
          <p:cNvPr id="75" name="Rounded Rectangle 74"/>
          <p:cNvSpPr/>
          <p:nvPr/>
        </p:nvSpPr>
        <p:spPr>
          <a:xfrm>
            <a:off x="9454896" y="2852928"/>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54896" y="2884932"/>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77" name="TextBox 76"/>
          <p:cNvSpPr txBox="1"/>
          <p:nvPr/>
        </p:nvSpPr>
        <p:spPr>
          <a:xfrm>
            <a:off x="10789920" y="2880360"/>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78" name="Rectangle 77"/>
          <p:cNvSpPr/>
          <p:nvPr/>
        </p:nvSpPr>
        <p:spPr>
          <a:xfrm>
            <a:off x="6181344" y="3200400"/>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81344" y="3200400"/>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382512" y="3300984"/>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reduce storage costs</a:t>
            </a:r>
          </a:p>
        </p:txBody>
      </p:sp>
      <p:sp>
        <p:nvSpPr>
          <p:cNvPr id="81" name="Rounded Rectangle 80"/>
          <p:cNvSpPr/>
          <p:nvPr/>
        </p:nvSpPr>
        <p:spPr>
          <a:xfrm>
            <a:off x="9454896" y="3273552"/>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454896" y="3305556"/>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83" name="TextBox 82"/>
          <p:cNvSpPr txBox="1"/>
          <p:nvPr/>
        </p:nvSpPr>
        <p:spPr>
          <a:xfrm>
            <a:off x="10789920" y="3300984"/>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84" name="Rectangle 83"/>
          <p:cNvSpPr/>
          <p:nvPr/>
        </p:nvSpPr>
        <p:spPr>
          <a:xfrm>
            <a:off x="6181344" y="3621024"/>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181344" y="3621024"/>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382512" y="3721608"/>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data storage costs</a:t>
            </a:r>
          </a:p>
        </p:txBody>
      </p:sp>
      <p:sp>
        <p:nvSpPr>
          <p:cNvPr id="87" name="Rounded Rectangle 86"/>
          <p:cNvSpPr/>
          <p:nvPr/>
        </p:nvSpPr>
        <p:spPr>
          <a:xfrm>
            <a:off x="9454896" y="3694176"/>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454896" y="3726180"/>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89" name="TextBox 88"/>
          <p:cNvSpPr txBox="1"/>
          <p:nvPr/>
        </p:nvSpPr>
        <p:spPr>
          <a:xfrm>
            <a:off x="10789920" y="3721608"/>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90" name="Rectangle 89"/>
          <p:cNvSpPr/>
          <p:nvPr/>
        </p:nvSpPr>
        <p:spPr>
          <a:xfrm>
            <a:off x="6181344" y="4041648"/>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181344" y="404164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382512" y="4142232"/>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azure netapp</a:t>
            </a:r>
          </a:p>
        </p:txBody>
      </p:sp>
      <p:sp>
        <p:nvSpPr>
          <p:cNvPr id="93" name="Rounded Rectangle 92"/>
          <p:cNvSpPr/>
          <p:nvPr/>
        </p:nvSpPr>
        <p:spPr>
          <a:xfrm>
            <a:off x="9454896" y="4114800"/>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454896" y="4146804"/>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95" name="TextBox 94"/>
          <p:cNvSpPr txBox="1"/>
          <p:nvPr/>
        </p:nvSpPr>
        <p:spPr>
          <a:xfrm>
            <a:off x="10789920" y="4142232"/>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#2</a:t>
            </a:r>
          </a:p>
        </p:txBody>
      </p:sp>
      <p:sp>
        <p:nvSpPr>
          <p:cNvPr id="96" name="Rectangle 95"/>
          <p:cNvSpPr/>
          <p:nvPr/>
        </p:nvSpPr>
        <p:spPr>
          <a:xfrm>
            <a:off x="6181344" y="4462272"/>
            <a:ext cx="5504688"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181344" y="446227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382512" y="4562856"/>
            <a:ext cx="3017520" cy="219456"/>
          </a:xfrm>
          <a:prstGeom prst="rect">
            <a:avLst/>
          </a:prstGeom>
          <a:noFill/>
        </p:spPr>
        <p:txBody>
          <a:bodyPr wrap="square" lIns="0" rIns="0" tIns="0" bIns="0" anchor="t">
            <a:spAutoFit/>
          </a:bodyPr>
          <a:lstStyle/>
          <a:p>
            <a:pPr algn="l">
              <a:lnSpc>
                <a:spcPct val="115000"/>
              </a:lnSpc>
              <a:spcAft>
                <a:spcPts val="0"/>
              </a:spcAft>
            </a:pPr>
            <a:r>
              <a:rPr sz="1050" b="1">
                <a:solidFill>
                  <a:srgbClr val="262428"/>
                </a:solidFill>
                <a:latin typeface="Open Sans"/>
              </a:rPr>
              <a:t>netapp to pure storage migration</a:t>
            </a:r>
          </a:p>
        </p:txBody>
      </p:sp>
      <p:sp>
        <p:nvSpPr>
          <p:cNvPr id="99" name="Rounded Rectangle 98"/>
          <p:cNvSpPr/>
          <p:nvPr/>
        </p:nvSpPr>
        <p:spPr>
          <a:xfrm>
            <a:off x="9454896" y="4535424"/>
            <a:ext cx="1243584"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454896" y="4567428"/>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IN AI ANSWER</a:t>
            </a:r>
          </a:p>
        </p:txBody>
      </p:sp>
      <p:sp>
        <p:nvSpPr>
          <p:cNvPr id="101" name="TextBox 100"/>
          <p:cNvSpPr txBox="1"/>
          <p:nvPr/>
        </p:nvSpPr>
        <p:spPr>
          <a:xfrm>
            <a:off x="10789920" y="4562856"/>
            <a:ext cx="749808" cy="201168"/>
          </a:xfrm>
          <a:prstGeom prst="rect">
            <a:avLst/>
          </a:prstGeom>
          <a:noFill/>
        </p:spPr>
        <p:txBody>
          <a:bodyPr wrap="none" lIns="0" rIns="0" tIns="0" bIns="0" anchor="t">
            <a:spAutoFit/>
          </a:bodyPr>
          <a:lstStyle/>
          <a:p>
            <a:pPr algn="l">
              <a:lnSpc>
                <a:spcPct val="115000"/>
              </a:lnSpc>
              <a:spcAft>
                <a:spcPts val="0"/>
              </a:spcAft>
            </a:pPr>
            <a:r>
              <a:rPr sz="1000" b="1">
                <a:solidFill>
                  <a:srgbClr val="7A9905"/>
                </a:solidFill>
                <a:latin typeface="Open Sans"/>
              </a:rPr>
              <a:t>#1</a:t>
            </a:r>
          </a:p>
        </p:txBody>
      </p:sp>
      <p:sp>
        <p:nvSpPr>
          <p:cNvPr id="102" name="Rectangle 101"/>
          <p:cNvSpPr/>
          <p:nvPr/>
        </p:nvSpPr>
        <p:spPr>
          <a:xfrm>
            <a:off x="6181344" y="4882896"/>
            <a:ext cx="5504688"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181344"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382512" y="4983480"/>
            <a:ext cx="3017520" cy="219456"/>
          </a:xfrm>
          <a:prstGeom prst="rect">
            <a:avLst/>
          </a:prstGeom>
          <a:noFill/>
        </p:spPr>
        <p:txBody>
          <a:bodyPr wrap="square" lIns="0" rIns="0" tIns="0" bIns="0" anchor="t">
            <a:spAutoFit/>
          </a:bodyPr>
          <a:lstStyle/>
          <a:p>
            <a:pPr algn="l">
              <a:lnSpc>
                <a:spcPct val="115000"/>
              </a:lnSpc>
              <a:spcAft>
                <a:spcPts val="0"/>
              </a:spcAft>
            </a:pPr>
            <a:r>
              <a:rPr sz="1050" b="0">
                <a:solidFill>
                  <a:srgbClr val="595A5B"/>
                </a:solidFill>
                <a:latin typeface="Open Sans"/>
              </a:rPr>
              <a:t>rising storage costs — cite sources</a:t>
            </a:r>
          </a:p>
        </p:txBody>
      </p:sp>
      <p:sp>
        <p:nvSpPr>
          <p:cNvPr id="105" name="Rounded Rectangle 104"/>
          <p:cNvSpPr/>
          <p:nvPr/>
        </p:nvSpPr>
        <p:spPr>
          <a:xfrm>
            <a:off x="9454896" y="4956048"/>
            <a:ext cx="1243584"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454896" y="4988052"/>
            <a:ext cx="1243584" cy="182880"/>
          </a:xfrm>
          <a:prstGeom prst="rect">
            <a:avLst/>
          </a:prstGeom>
          <a:noFill/>
        </p:spPr>
        <p:txBody>
          <a:bodyPr wrap="square" lIns="0" rIns="0" tIns="0" bIns="0" anchor="t">
            <a:spAutoFit/>
          </a:bodyPr>
          <a:lstStyle/>
          <a:p>
            <a:pPr algn="ctr">
              <a:lnSpc>
                <a:spcPct val="115000"/>
              </a:lnSpc>
              <a:spcAft>
                <a:spcPts val="0"/>
              </a:spcAft>
            </a:pPr>
            <a:r>
              <a:rPr sz="950" b="1">
                <a:solidFill>
                  <a:srgbClr val="FFFFFF"/>
                </a:solidFill>
                <a:latin typeface="Open Sans"/>
              </a:rPr>
              <a:t>NOT YET</a:t>
            </a:r>
          </a:p>
        </p:txBody>
      </p:sp>
      <p:sp>
        <p:nvSpPr>
          <p:cNvPr id="107" name="TextBox 106"/>
          <p:cNvSpPr txBox="1"/>
          <p:nvPr/>
        </p:nvSpPr>
        <p:spPr>
          <a:xfrm>
            <a:off x="10789920" y="4988052"/>
            <a:ext cx="749808"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no vendor</a:t>
            </a:r>
          </a:p>
        </p:txBody>
      </p:sp>
      <p:sp>
        <p:nvSpPr>
          <p:cNvPr id="108" name="Rectangle 107"/>
          <p:cNvSpPr/>
          <p:nvPr/>
        </p:nvSpPr>
        <p:spPr>
          <a:xfrm>
            <a:off x="502920" y="5413248"/>
            <a:ext cx="11183112" cy="914400"/>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502920" y="5413248"/>
            <a:ext cx="54864" cy="91440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49808" y="5577840"/>
            <a:ext cx="10698480" cy="658368"/>
          </a:xfrm>
          <a:prstGeom prst="rect">
            <a:avLst/>
          </a:prstGeom>
          <a:noFill/>
        </p:spPr>
        <p:txBody>
          <a:bodyPr wrap="square" lIns="0" rIns="0" tIns="0" bIns="0" anchor="t">
            <a:spAutoFit/>
          </a:bodyPr>
          <a:lstStyle/>
          <a:p>
            <a:pPr algn="l">
              <a:lnSpc>
                <a:spcPct val="124000"/>
              </a:lnSpc>
              <a:spcAft>
                <a:spcPts val="0"/>
              </a:spcAft>
            </a:pPr>
            <a:r>
              <a:rPr sz="1150" b="1">
                <a:solidFill>
                  <a:srgbClr val="59257B"/>
                </a:solidFill>
                <a:latin typeface="Open Sans"/>
              </a:rPr>
              <a:t>The verdict: on storage costs we are already the answer — seven of eight questions put Komprise inside Google's AI answer, most of them first. On AI-ready data we are half-built: we win the specific technical questions, and we lose the broad category terms a buyer actually starts with. Winning those is the work that remains.</a:t>
            </a:r>
          </a:p>
        </p:txBody>
      </p:sp>
      <p:sp>
        <p:nvSpPr>
          <p:cNvPr id="111" name="TextBox 110"/>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  GEO &amp; SEO Performance, Q2 2026</a:t>
            </a:r>
          </a:p>
        </p:txBody>
      </p:sp>
      <p:sp>
        <p:nvSpPr>
          <p:cNvPr id="112" name="TextBox 111"/>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rIns="0" tIns="0" bIns="0" anchor="t">
            <a:spAutoFit/>
          </a:bodyPr>
          <a:lstStyle/>
          <a:p>
            <a:pPr algn="l">
              <a:lnSpc>
                <a:spcPct val="115000"/>
              </a:lnSpc>
              <a:spcAft>
                <a:spcPts val="0"/>
              </a:spcAft>
            </a:pPr>
            <a:r>
              <a:rPr sz="1050" b="1">
                <a:solidFill>
                  <a:srgbClr val="9FC406"/>
                </a:solidFill>
                <a:latin typeface="Open Sans"/>
              </a:rPr>
              <a:t>MOMENTUM</a:t>
            </a:r>
          </a:p>
        </p:txBody>
      </p:sp>
      <p:sp>
        <p:nvSpPr>
          <p:cNvPr id="6" name="TextBox 5"/>
          <p:cNvSpPr txBox="1"/>
          <p:nvPr/>
        </p:nvSpPr>
        <p:spPr>
          <a:xfrm>
            <a:off x="502920" y="502920"/>
            <a:ext cx="9692640" cy="45720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Citations Are Rising. Mentions Are the Soft Spot.</a:t>
            </a:r>
          </a:p>
        </p:txBody>
      </p:sp>
      <p:sp>
        <p:nvSpPr>
          <p:cNvPr id="7" name="TextBox 6"/>
          <p:cNvSpPr txBox="1"/>
          <p:nvPr/>
        </p:nvSpPr>
        <p:spPr>
          <a:xfrm>
            <a:off x="502920" y="98755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Jan → Jun 2026:   Citations +20%   ·   Cited Pages +19%   ·   Mentions ‒72%</a:t>
            </a:r>
          </a:p>
        </p:txBody>
      </p:sp>
      <p:graphicFrame>
        <p:nvGraphicFramePr>
          <p:cNvPr id="8" name="Chart 7"/>
          <p:cNvGraphicFramePr>
            <a:graphicFrameLocks noGrp="1"/>
          </p:cNvGraphicFramePr>
          <p:nvPr/>
        </p:nvGraphicFramePr>
        <p:xfrm>
          <a:off x="502920" y="1572768"/>
          <a:ext cx="7406640" cy="4160520"/>
        </p:xfrm>
        <a:graphic>
          <a:graphicData uri="http://schemas.openxmlformats.org/drawingml/2006/chart">
            <c:chart xmlns:c="http://schemas.openxmlformats.org/drawingml/2006/chart" r:id="rId3"/>
          </a:graphicData>
        </a:graphic>
      </p:graphicFrame>
      <p:sp>
        <p:nvSpPr>
          <p:cNvPr id="9" name="TextBox 8"/>
          <p:cNvSpPr txBox="1"/>
          <p:nvPr/>
        </p:nvSpPr>
        <p:spPr>
          <a:xfrm>
            <a:off x="502920" y="5797296"/>
            <a:ext cx="7406640" cy="457200"/>
          </a:xfrm>
          <a:prstGeom prst="rect">
            <a:avLst/>
          </a:prstGeom>
          <a:noFill/>
        </p:spPr>
        <p:txBody>
          <a:bodyPr wrap="square" lIns="0" rIns="0" tIns="0" bIns="0" anchor="t">
            <a:spAutoFit/>
          </a:bodyPr>
          <a:lstStyle/>
          <a:p>
            <a:pPr algn="l">
              <a:lnSpc>
                <a:spcPct val="120000"/>
              </a:lnSpc>
              <a:spcAft>
                <a:spcPts val="0"/>
              </a:spcAft>
            </a:pPr>
            <a:r>
              <a:rPr sz="950" b="0">
                <a:solidFill>
                  <a:srgbClr val="8A8A8D"/>
                </a:solidFill>
                <a:latin typeface="Open Sans"/>
              </a:rPr>
              <a:t>Q2 is the steep part of all three lines. Monthly shape reproduced from the June metrics report; January and June values are exact.</a:t>
            </a:r>
          </a:p>
        </p:txBody>
      </p:sp>
      <p:sp>
        <p:nvSpPr>
          <p:cNvPr id="10" name="Rectangle 9"/>
          <p:cNvSpPr/>
          <p:nvPr/>
        </p:nvSpPr>
        <p:spPr>
          <a:xfrm>
            <a:off x="8183879" y="1572768"/>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83879" y="1572768"/>
            <a:ext cx="54864" cy="129844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9911" y="1737360"/>
            <a:ext cx="3063240" cy="457200"/>
          </a:xfrm>
          <a:prstGeom prst="rect">
            <a:avLst/>
          </a:prstGeom>
          <a:noFill/>
        </p:spPr>
        <p:txBody>
          <a:bodyPr wrap="square" lIns="0" rIns="0" tIns="0" bIns="0" anchor="t">
            <a:spAutoFit/>
          </a:bodyPr>
          <a:lstStyle/>
          <a:p>
            <a:pPr algn="l">
              <a:lnSpc>
                <a:spcPct val="115000"/>
              </a:lnSpc>
              <a:spcAft>
                <a:spcPts val="0"/>
              </a:spcAft>
            </a:pPr>
            <a:r>
              <a:rPr sz="2600" b="1">
                <a:solidFill>
                  <a:srgbClr val="7A9905"/>
                </a:solidFill>
                <a:latin typeface="Open Sans"/>
              </a:rPr>
              <a:t>2.1K</a:t>
            </a:r>
          </a:p>
        </p:txBody>
      </p:sp>
      <p:sp>
        <p:nvSpPr>
          <p:cNvPr id="13" name="TextBox 12"/>
          <p:cNvSpPr txBox="1"/>
          <p:nvPr/>
        </p:nvSpPr>
        <p:spPr>
          <a:xfrm>
            <a:off x="8439911" y="2176272"/>
            <a:ext cx="3063240"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Citations</a:t>
            </a:r>
          </a:p>
        </p:txBody>
      </p:sp>
      <p:sp>
        <p:nvSpPr>
          <p:cNvPr id="14" name="TextBox 13"/>
          <p:cNvSpPr txBox="1"/>
          <p:nvPr/>
        </p:nvSpPr>
        <p:spPr>
          <a:xfrm>
            <a:off x="8439911" y="2468880"/>
            <a:ext cx="3063240"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AI answers pointing to a Komprise page. Our content optimisation work landing.</a:t>
            </a:r>
          </a:p>
        </p:txBody>
      </p:sp>
      <p:sp>
        <p:nvSpPr>
          <p:cNvPr id="15" name="Rectangle 14"/>
          <p:cNvSpPr/>
          <p:nvPr/>
        </p:nvSpPr>
        <p:spPr>
          <a:xfrm>
            <a:off x="8183879" y="3008376"/>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79" y="3008376"/>
            <a:ext cx="54864" cy="129844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9911" y="3172968"/>
            <a:ext cx="3063240" cy="457200"/>
          </a:xfrm>
          <a:prstGeom prst="rect">
            <a:avLst/>
          </a:prstGeom>
          <a:noFill/>
        </p:spPr>
        <p:txBody>
          <a:bodyPr wrap="square" lIns="0" rIns="0" tIns="0" bIns="0" anchor="t">
            <a:spAutoFit/>
          </a:bodyPr>
          <a:lstStyle/>
          <a:p>
            <a:pPr algn="l">
              <a:lnSpc>
                <a:spcPct val="115000"/>
              </a:lnSpc>
              <a:spcAft>
                <a:spcPts val="0"/>
              </a:spcAft>
            </a:pPr>
            <a:r>
              <a:rPr sz="2600" b="1">
                <a:solidFill>
                  <a:srgbClr val="59257B"/>
                </a:solidFill>
                <a:latin typeface="Open Sans"/>
              </a:rPr>
              <a:t>715</a:t>
            </a:r>
          </a:p>
        </p:txBody>
      </p:sp>
      <p:sp>
        <p:nvSpPr>
          <p:cNvPr id="18" name="TextBox 17"/>
          <p:cNvSpPr txBox="1"/>
          <p:nvPr/>
        </p:nvSpPr>
        <p:spPr>
          <a:xfrm>
            <a:off x="8439911" y="3611880"/>
            <a:ext cx="3063240"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Cited Pages</a:t>
            </a:r>
          </a:p>
        </p:txBody>
      </p:sp>
      <p:sp>
        <p:nvSpPr>
          <p:cNvPr id="19" name="TextBox 18"/>
          <p:cNvSpPr txBox="1"/>
          <p:nvPr/>
        </p:nvSpPr>
        <p:spPr>
          <a:xfrm>
            <a:off x="8439911" y="3904488"/>
            <a:ext cx="3063240"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Distinct pages being cited. Broad surface area, and holding up.</a:t>
            </a:r>
          </a:p>
        </p:txBody>
      </p:sp>
      <p:sp>
        <p:nvSpPr>
          <p:cNvPr id="20" name="Rectangle 19"/>
          <p:cNvSpPr/>
          <p:nvPr/>
        </p:nvSpPr>
        <p:spPr>
          <a:xfrm>
            <a:off x="8183879" y="4443984"/>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4443984"/>
            <a:ext cx="54864" cy="1298448"/>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1" y="4608576"/>
            <a:ext cx="3063240" cy="457200"/>
          </a:xfrm>
          <a:prstGeom prst="rect">
            <a:avLst/>
          </a:prstGeom>
          <a:noFill/>
        </p:spPr>
        <p:txBody>
          <a:bodyPr wrap="square" lIns="0" rIns="0" tIns="0" bIns="0" anchor="t">
            <a:spAutoFit/>
          </a:bodyPr>
          <a:lstStyle/>
          <a:p>
            <a:pPr algn="l">
              <a:lnSpc>
                <a:spcPct val="115000"/>
              </a:lnSpc>
              <a:spcAft>
                <a:spcPts val="0"/>
              </a:spcAft>
            </a:pPr>
            <a:r>
              <a:rPr sz="2600" b="1">
                <a:solidFill>
                  <a:srgbClr val="B03A2E"/>
                </a:solidFill>
                <a:latin typeface="Open Sans"/>
              </a:rPr>
              <a:t>163</a:t>
            </a:r>
          </a:p>
        </p:txBody>
      </p:sp>
      <p:sp>
        <p:nvSpPr>
          <p:cNvPr id="23" name="TextBox 22"/>
          <p:cNvSpPr txBox="1"/>
          <p:nvPr/>
        </p:nvSpPr>
        <p:spPr>
          <a:xfrm>
            <a:off x="8439911" y="5047488"/>
            <a:ext cx="3063240"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Name Mentions</a:t>
            </a:r>
          </a:p>
        </p:txBody>
      </p:sp>
      <p:sp>
        <p:nvSpPr>
          <p:cNvPr id="24" name="TextBox 23"/>
          <p:cNvSpPr txBox="1"/>
          <p:nvPr/>
        </p:nvSpPr>
        <p:spPr>
          <a:xfrm>
            <a:off x="8439911" y="5340096"/>
            <a:ext cx="3063240"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The model saying “Komprise”. Down sharply — a coverage gap, not a content gap.</a:t>
            </a:r>
          </a:p>
        </p:txBody>
      </p:sp>
      <p:sp>
        <p:nvSpPr>
          <p:cNvPr id="25" name="TextBox 24"/>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  GEO &amp; SEO Performance, Q2 2026</a:t>
            </a:r>
          </a:p>
        </p:txBody>
      </p:sp>
      <p:sp>
        <p:nvSpPr>
          <p:cNvPr id="26" name="TextBox 25"/>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rIns="0" tIns="0" bIns="0" anchor="t">
            <a:spAutoFit/>
          </a:bodyPr>
          <a:lstStyle/>
          <a:p>
            <a:pPr algn="l">
              <a:lnSpc>
                <a:spcPct val="115000"/>
              </a:lnSpc>
              <a:spcAft>
                <a:spcPts val="0"/>
              </a:spcAft>
            </a:pPr>
            <a:r>
              <a:rPr sz="1050" b="1">
                <a:solidFill>
                  <a:srgbClr val="9FC406"/>
                </a:solidFill>
                <a:latin typeface="Open Sans"/>
              </a:rPr>
              <a:t>GOOGLE SEARCH</a:t>
            </a:r>
          </a:p>
        </p:txBody>
      </p:sp>
      <p:sp>
        <p:nvSpPr>
          <p:cNvPr id="6" name="TextBox 5"/>
          <p:cNvSpPr txBox="1"/>
          <p:nvPr/>
        </p:nvSpPr>
        <p:spPr>
          <a:xfrm>
            <a:off x="502920" y="502920"/>
            <a:ext cx="9692640" cy="45720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Top-10 Rankings Are Compounding</a:t>
            </a:r>
          </a:p>
        </p:txBody>
      </p:sp>
      <p:sp>
        <p:nvSpPr>
          <p:cNvPr id="7" name="TextBox 6"/>
          <p:cNvSpPr txBox="1"/>
          <p:nvPr/>
        </p:nvSpPr>
        <p:spPr>
          <a:xfrm>
            <a:off x="502920" y="98755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Keywords ranking in Google's top 10, split by top three and positions four to ten</a:t>
            </a:r>
          </a:p>
        </p:txBody>
      </p:sp>
      <p:graphicFrame>
        <p:nvGraphicFramePr>
          <p:cNvPr id="8" name="Chart 7"/>
          <p:cNvGraphicFramePr>
            <a:graphicFrameLocks noGrp="1"/>
          </p:cNvGraphicFramePr>
          <p:nvPr/>
        </p:nvGraphicFramePr>
        <p:xfrm>
          <a:off x="502920" y="1572768"/>
          <a:ext cx="7223760" cy="3977639"/>
        </p:xfrm>
        <a:graphic>
          <a:graphicData uri="http://schemas.openxmlformats.org/drawingml/2006/chart">
            <c:chart xmlns:c="http://schemas.openxmlformats.org/drawingml/2006/chart" r:id="rId3"/>
          </a:graphicData>
        </a:graphic>
      </p:graphicFrame>
      <p:sp>
        <p:nvSpPr>
          <p:cNvPr id="9" name="TextBox 8"/>
          <p:cNvSpPr txBox="1"/>
          <p:nvPr/>
        </p:nvSpPr>
        <p:spPr>
          <a:xfrm>
            <a:off x="502920" y="5632704"/>
            <a:ext cx="7223760" cy="566928"/>
          </a:xfrm>
          <a:prstGeom prst="rect">
            <a:avLst/>
          </a:prstGeom>
          <a:noFill/>
        </p:spPr>
        <p:txBody>
          <a:bodyPr wrap="square" lIns="0" rIns="0" tIns="0" bIns="0" anchor="t">
            <a:spAutoFit/>
          </a:bodyPr>
          <a:lstStyle/>
          <a:p>
            <a:pPr algn="l">
              <a:lnSpc>
                <a:spcPct val="122000"/>
              </a:lnSpc>
              <a:spcAft>
                <a:spcPts val="0"/>
              </a:spcAft>
            </a:pPr>
            <a:r>
              <a:rPr sz="1100" b="0">
                <a:solidFill>
                  <a:srgbClr val="595A5B"/>
                </a:solidFill>
                <a:latin typeface="Open Sans"/>
              </a:rPr>
              <a:t>Q1 closed at 1,387 keywords in the top 10. Q2 closed at 1,515 — and the top-three band, the positions that actually get read, grew fastest.</a:t>
            </a:r>
          </a:p>
        </p:txBody>
      </p:sp>
      <p:sp>
        <p:nvSpPr>
          <p:cNvPr id="10" name="Rectangle 9"/>
          <p:cNvSpPr/>
          <p:nvPr/>
        </p:nvSpPr>
        <p:spPr>
          <a:xfrm>
            <a:off x="8001000" y="1572768"/>
            <a:ext cx="3685032" cy="12618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01000" y="1572768"/>
            <a:ext cx="54864" cy="12618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737360"/>
            <a:ext cx="3246120" cy="457200"/>
          </a:xfrm>
          <a:prstGeom prst="rect">
            <a:avLst/>
          </a:prstGeom>
          <a:noFill/>
        </p:spPr>
        <p:txBody>
          <a:bodyPr wrap="square" lIns="0" rIns="0" tIns="0" bIns="0" anchor="t">
            <a:spAutoFit/>
          </a:bodyPr>
          <a:lstStyle/>
          <a:p>
            <a:pPr algn="l">
              <a:lnSpc>
                <a:spcPct val="115000"/>
              </a:lnSpc>
              <a:spcAft>
                <a:spcPts val="0"/>
              </a:spcAft>
            </a:pPr>
            <a:r>
              <a:rPr sz="2500" b="1">
                <a:solidFill>
                  <a:srgbClr val="7A9905"/>
                </a:solidFill>
                <a:latin typeface="Open Sans"/>
              </a:rPr>
              <a:t>+9.2%</a:t>
            </a:r>
          </a:p>
        </p:txBody>
      </p:sp>
      <p:sp>
        <p:nvSpPr>
          <p:cNvPr id="13" name="TextBox 12"/>
          <p:cNvSpPr txBox="1"/>
          <p:nvPr/>
        </p:nvSpPr>
        <p:spPr>
          <a:xfrm>
            <a:off x="8257031" y="2176272"/>
            <a:ext cx="3246120"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Top-10 Keywords, QoQ</a:t>
            </a:r>
          </a:p>
        </p:txBody>
      </p:sp>
      <p:sp>
        <p:nvSpPr>
          <p:cNvPr id="14" name="TextBox 13"/>
          <p:cNvSpPr txBox="1"/>
          <p:nvPr/>
        </p:nvSpPr>
        <p:spPr>
          <a:xfrm>
            <a:off x="8257031" y="2468880"/>
            <a:ext cx="3246120"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1,387 at the close of Q1 to 1,515 at the close of Q2.</a:t>
            </a:r>
          </a:p>
        </p:txBody>
      </p:sp>
      <p:sp>
        <p:nvSpPr>
          <p:cNvPr id="15" name="Rectangle 14"/>
          <p:cNvSpPr/>
          <p:nvPr/>
        </p:nvSpPr>
        <p:spPr>
          <a:xfrm>
            <a:off x="8001000" y="2962656"/>
            <a:ext cx="3685032" cy="12618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2962656"/>
            <a:ext cx="54864" cy="12618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1" y="3127248"/>
            <a:ext cx="3246120" cy="457200"/>
          </a:xfrm>
          <a:prstGeom prst="rect">
            <a:avLst/>
          </a:prstGeom>
          <a:noFill/>
        </p:spPr>
        <p:txBody>
          <a:bodyPr wrap="square" lIns="0" rIns="0" tIns="0" bIns="0" anchor="t">
            <a:spAutoFit/>
          </a:bodyPr>
          <a:lstStyle/>
          <a:p>
            <a:pPr algn="l">
              <a:lnSpc>
                <a:spcPct val="115000"/>
              </a:lnSpc>
              <a:spcAft>
                <a:spcPts val="0"/>
              </a:spcAft>
            </a:pPr>
            <a:r>
              <a:rPr sz="2500" b="1">
                <a:solidFill>
                  <a:srgbClr val="7A9905"/>
                </a:solidFill>
                <a:latin typeface="Open Sans"/>
              </a:rPr>
              <a:t>+18.6%</a:t>
            </a:r>
          </a:p>
        </p:txBody>
      </p:sp>
      <p:sp>
        <p:nvSpPr>
          <p:cNvPr id="18" name="TextBox 17"/>
          <p:cNvSpPr txBox="1"/>
          <p:nvPr/>
        </p:nvSpPr>
        <p:spPr>
          <a:xfrm>
            <a:off x="8257031" y="3566160"/>
            <a:ext cx="3246120" cy="256032"/>
          </a:xfrm>
          <a:prstGeom prst="rect">
            <a:avLst/>
          </a:prstGeom>
          <a:noFill/>
        </p:spPr>
        <p:txBody>
          <a:bodyPr wrap="square" lIns="0" rIns="0" tIns="0" bIns="0" anchor="t">
            <a:spAutoFit/>
          </a:bodyPr>
          <a:lstStyle/>
          <a:p>
            <a:pPr algn="l">
              <a:lnSpc>
                <a:spcPct val="115000"/>
              </a:lnSpc>
              <a:spcAft>
                <a:spcPts val="0"/>
              </a:spcAft>
            </a:pPr>
            <a:r>
              <a:rPr sz="1050" b="1">
                <a:solidFill>
                  <a:srgbClr val="59257B"/>
                </a:solidFill>
                <a:latin typeface="Open Sans"/>
              </a:rPr>
              <a:t>Top-3 Keywords, QoQ</a:t>
            </a:r>
          </a:p>
        </p:txBody>
      </p:sp>
      <p:sp>
        <p:nvSpPr>
          <p:cNvPr id="19" name="TextBox 18"/>
          <p:cNvSpPr txBox="1"/>
          <p:nvPr/>
        </p:nvSpPr>
        <p:spPr>
          <a:xfrm>
            <a:off x="8257031" y="3858768"/>
            <a:ext cx="3246120" cy="548640"/>
          </a:xfrm>
          <a:prstGeom prst="rect">
            <a:avLst/>
          </a:prstGeom>
          <a:noFill/>
        </p:spPr>
        <p:txBody>
          <a:bodyPr wrap="square" lIns="0" rIns="0" tIns="0" bIns="0" anchor="t">
            <a:spAutoFit/>
          </a:bodyPr>
          <a:lstStyle/>
          <a:p>
            <a:pPr algn="l">
              <a:lnSpc>
                <a:spcPct val="120000"/>
              </a:lnSpc>
              <a:spcAft>
                <a:spcPts val="0"/>
              </a:spcAft>
            </a:pPr>
            <a:r>
              <a:rPr sz="900" b="0">
                <a:solidFill>
                  <a:srgbClr val="595A5B"/>
                </a:solidFill>
                <a:latin typeface="Open Sans"/>
              </a:rPr>
              <a:t>354 to 420. Growing faster than the wider top-10 band.</a:t>
            </a:r>
          </a:p>
        </p:txBody>
      </p:sp>
      <p:sp>
        <p:nvSpPr>
          <p:cNvPr id="20" name="Rectangle 19"/>
          <p:cNvSpPr/>
          <p:nvPr/>
        </p:nvSpPr>
        <p:spPr>
          <a:xfrm>
            <a:off x="8001000" y="4352544"/>
            <a:ext cx="3685032"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01000" y="4352544"/>
            <a:ext cx="54864" cy="13898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4535424"/>
            <a:ext cx="3291840" cy="1097280"/>
          </a:xfrm>
          <a:prstGeom prst="rect">
            <a:avLst/>
          </a:prstGeom>
          <a:noFill/>
        </p:spPr>
        <p:txBody>
          <a:bodyPr wrap="square" lIns="0" rIns="0" tIns="0" bIns="0" anchor="t">
            <a:spAutoFit/>
          </a:bodyPr>
          <a:lstStyle/>
          <a:p>
            <a:pPr algn="l">
              <a:lnSpc>
                <a:spcPct val="115000"/>
              </a:lnSpc>
              <a:spcAft>
                <a:spcPts val="600"/>
              </a:spcAft>
            </a:pPr>
            <a:r>
              <a:rPr sz="1200" b="1">
                <a:solidFill>
                  <a:srgbClr val="59257B"/>
                </a:solidFill>
                <a:latin typeface="Open Sans"/>
              </a:rPr>
              <a:t>Why it matters</a:t>
            </a:r>
          </a:p>
          <a:p>
            <a:pPr algn="l">
              <a:lnSpc>
                <a:spcPct val="124000"/>
              </a:lnSpc>
              <a:spcAft>
                <a:spcPts val="0"/>
              </a:spcAft>
            </a:pPr>
            <a:r>
              <a:rPr sz="1050" b="0">
                <a:solidFill>
                  <a:srgbClr val="595A5B"/>
                </a:solidFill>
                <a:latin typeface="Open Sans"/>
              </a:rPr>
              <a:t>Two years ago we held 510 top-10 keywords. We now hold 1,515. This is the compounding base that AI answers draw from — models cite what already ranks.</a:t>
            </a:r>
          </a:p>
        </p:txBody>
      </p:sp>
      <p:sp>
        <p:nvSpPr>
          <p:cNvPr id="23" name="TextBox 22"/>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  GEO &amp; SEO Performance, Q2 2026</a:t>
            </a:r>
          </a:p>
        </p:txBody>
      </p:sp>
      <p:sp>
        <p:nvSpPr>
          <p:cNvPr id="24" name="TextBox 23"/>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rIns="0" tIns="0" bIns="0" anchor="t">
            <a:spAutoFit/>
          </a:bodyPr>
          <a:lstStyle/>
          <a:p>
            <a:pPr algn="l">
              <a:lnSpc>
                <a:spcPct val="115000"/>
              </a:lnSpc>
              <a:spcAft>
                <a:spcPts val="0"/>
              </a:spcAft>
            </a:pPr>
            <a:r>
              <a:rPr sz="1050" b="1">
                <a:solidFill>
                  <a:srgbClr val="9FC406"/>
                </a:solidFill>
                <a:latin typeface="Open Sans"/>
              </a:rPr>
              <a:t>TRAFFIC BEHAVIOUR</a:t>
            </a:r>
          </a:p>
        </p:txBody>
      </p:sp>
      <p:sp>
        <p:nvSpPr>
          <p:cNvPr id="6" name="TextBox 5"/>
          <p:cNvSpPr txBox="1"/>
          <p:nvPr/>
        </p:nvSpPr>
        <p:spPr>
          <a:xfrm>
            <a:off x="502920" y="502920"/>
            <a:ext cx="9692640" cy="45720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Direct Has Overtaken Organic Search</a:t>
            </a:r>
          </a:p>
        </p:txBody>
      </p:sp>
      <p:sp>
        <p:nvSpPr>
          <p:cNvPr id="7" name="TextBox 6"/>
          <p:cNvSpPr txBox="1"/>
          <p:nvPr/>
        </p:nvSpPr>
        <p:spPr>
          <a:xfrm>
            <a:off x="502920" y="98755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Monthly sessions — the visible signature of zero-click search and direct brand discovery</a:t>
            </a:r>
          </a:p>
        </p:txBody>
      </p:sp>
      <p:graphicFrame>
        <p:nvGraphicFramePr>
          <p:cNvPr id="8" name="Chart 7"/>
          <p:cNvGraphicFramePr>
            <a:graphicFrameLocks noGrp="1"/>
          </p:cNvGraphicFramePr>
          <p:nvPr/>
        </p:nvGraphicFramePr>
        <p:xfrm>
          <a:off x="502920" y="1572768"/>
          <a:ext cx="6903720" cy="3931920"/>
        </p:xfrm>
        <a:graphic>
          <a:graphicData uri="http://schemas.openxmlformats.org/drawingml/2006/chart">
            <c:chart xmlns:c="http://schemas.openxmlformats.org/drawingml/2006/chart" r:id="rId3"/>
          </a:graphicData>
        </a:graphic>
      </p:graphicFrame>
      <p:sp>
        <p:nvSpPr>
          <p:cNvPr id="9" name="TextBox 8"/>
          <p:cNvSpPr txBox="1"/>
          <p:nvPr/>
        </p:nvSpPr>
        <p:spPr>
          <a:xfrm>
            <a:off x="502920" y="5596128"/>
            <a:ext cx="6903720" cy="603504"/>
          </a:xfrm>
          <a:prstGeom prst="rect">
            <a:avLst/>
          </a:prstGeom>
          <a:noFill/>
        </p:spPr>
        <p:txBody>
          <a:bodyPr wrap="square" lIns="0" rIns="0" tIns="0" bIns="0" anchor="t">
            <a:spAutoFit/>
          </a:bodyPr>
          <a:lstStyle/>
          <a:p>
            <a:pPr algn="l">
              <a:lnSpc>
                <a:spcPct val="122000"/>
              </a:lnSpc>
              <a:spcAft>
                <a:spcPts val="0"/>
              </a:spcAft>
            </a:pPr>
            <a:r>
              <a:rPr sz="1050" b="0">
                <a:solidFill>
                  <a:srgbClr val="8A8A8D"/>
                </a:solidFill>
                <a:latin typeface="Open Sans"/>
              </a:rPr>
              <a:t>Total sessions dipped into June. That fall sits almost entirely in email campaign volume, not in search — organic and direct are the lines that describe how people find us.</a:t>
            </a:r>
          </a:p>
        </p:txBody>
      </p:sp>
      <p:sp>
        <p:nvSpPr>
          <p:cNvPr id="10" name="Rectangle 9"/>
          <p:cNvSpPr/>
          <p:nvPr/>
        </p:nvSpPr>
        <p:spPr>
          <a:xfrm>
            <a:off x="7680960" y="1572768"/>
            <a:ext cx="4005072" cy="197510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0" y="1572768"/>
            <a:ext cx="54864" cy="1975104"/>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36992" y="1773936"/>
            <a:ext cx="3584448" cy="1645920"/>
          </a:xfrm>
          <a:prstGeom prst="rect">
            <a:avLst/>
          </a:prstGeom>
          <a:noFill/>
        </p:spPr>
        <p:txBody>
          <a:bodyPr wrap="square" lIns="0" rIns="0" tIns="0" bIns="0" anchor="t">
            <a:spAutoFit/>
          </a:bodyPr>
          <a:lstStyle/>
          <a:p>
            <a:pPr algn="l">
              <a:lnSpc>
                <a:spcPct val="115000"/>
              </a:lnSpc>
              <a:spcAft>
                <a:spcPts val="600"/>
              </a:spcAft>
            </a:pPr>
            <a:r>
              <a:rPr sz="1250" b="1">
                <a:solidFill>
                  <a:srgbClr val="59257B"/>
                </a:solidFill>
                <a:latin typeface="Open Sans"/>
              </a:rPr>
              <a:t>Direct is now the #1 channel</a:t>
            </a:r>
          </a:p>
          <a:p>
            <a:pPr algn="l">
              <a:lnSpc>
                <a:spcPct val="126000"/>
              </a:lnSpc>
              <a:spcAft>
                <a:spcPts val="0"/>
              </a:spcAft>
            </a:pPr>
            <a:r>
              <a:rPr sz="1100" b="0">
                <a:solidFill>
                  <a:srgbClr val="595A5B"/>
                </a:solidFill>
                <a:latin typeface="Open Sans"/>
              </a:rPr>
              <a:t>Direct grew from 41% of sessions in Q1 to 52% in Q2, while organic search fell. People are reading the answer in an AI or search result, then arriving by typing us in.</a:t>
            </a:r>
          </a:p>
        </p:txBody>
      </p:sp>
      <p:sp>
        <p:nvSpPr>
          <p:cNvPr id="13" name="Rectangle 12"/>
          <p:cNvSpPr/>
          <p:nvPr/>
        </p:nvSpPr>
        <p:spPr>
          <a:xfrm>
            <a:off x="7680960" y="3675887"/>
            <a:ext cx="4005072" cy="2066543"/>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3675887"/>
            <a:ext cx="54864" cy="2066543"/>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36992" y="3877056"/>
            <a:ext cx="3584448" cy="1737360"/>
          </a:xfrm>
          <a:prstGeom prst="rect">
            <a:avLst/>
          </a:prstGeom>
          <a:noFill/>
        </p:spPr>
        <p:txBody>
          <a:bodyPr wrap="square" lIns="0" rIns="0" tIns="0" bIns="0" anchor="t">
            <a:spAutoFit/>
          </a:bodyPr>
          <a:lstStyle/>
          <a:p>
            <a:pPr algn="l">
              <a:lnSpc>
                <a:spcPct val="115000"/>
              </a:lnSpc>
              <a:spcAft>
                <a:spcPts val="600"/>
              </a:spcAft>
            </a:pPr>
            <a:r>
              <a:rPr sz="1250" b="1">
                <a:solidFill>
                  <a:srgbClr val="59257B"/>
                </a:solidFill>
                <a:latin typeface="Open Sans"/>
              </a:rPr>
              <a:t>Why this is the right read</a:t>
            </a:r>
          </a:p>
          <a:p>
            <a:pPr algn="l">
              <a:lnSpc>
                <a:spcPct val="126000"/>
              </a:lnSpc>
              <a:spcAft>
                <a:spcPts val="0"/>
              </a:spcAft>
            </a:pPr>
            <a:r>
              <a:rPr sz="1100" b="0">
                <a:solidFill>
                  <a:srgbClr val="595A5B"/>
                </a:solidFill>
                <a:latin typeface="Open Sans"/>
              </a:rPr>
              <a:t>A falling click count is not a falling audience. AI answers resolve the question on the results page, so the visit only happens once someone decides they want us specifically. That is brand, and it is showing up in the data.</a:t>
            </a:r>
          </a:p>
        </p:txBody>
      </p:sp>
      <p:sp>
        <p:nvSpPr>
          <p:cNvPr id="16" name="TextBox 15"/>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  GEO &amp; SEO Performance, Q2 2026</a:t>
            </a:r>
          </a:p>
        </p:txBody>
      </p:sp>
      <p:sp>
        <p:nvSpPr>
          <p:cNvPr id="17" name="TextBox 16"/>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rIns="0" tIns="0" bIns="0" anchor="t">
            <a:spAutoFit/>
          </a:bodyPr>
          <a:lstStyle/>
          <a:p>
            <a:pPr algn="l">
              <a:lnSpc>
                <a:spcPct val="115000"/>
              </a:lnSpc>
              <a:spcAft>
                <a:spcPts val="0"/>
              </a:spcAft>
            </a:pPr>
            <a:r>
              <a:rPr sz="1050" b="1">
                <a:solidFill>
                  <a:srgbClr val="9FC406"/>
                </a:solidFill>
                <a:latin typeface="Open Sans"/>
              </a:rPr>
              <a:t>COMPETITIVE POSITION</a:t>
            </a:r>
          </a:p>
        </p:txBody>
      </p:sp>
      <p:sp>
        <p:nvSpPr>
          <p:cNvPr id="6" name="TextBox 5"/>
          <p:cNvSpPr txBox="1"/>
          <p:nvPr/>
        </p:nvSpPr>
        <p:spPr>
          <a:xfrm>
            <a:off x="502920" y="502920"/>
            <a:ext cx="9692640" cy="45720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We Lead the Category on Every Search Measure</a:t>
            </a:r>
          </a:p>
        </p:txBody>
      </p:sp>
      <p:sp>
        <p:nvSpPr>
          <p:cNvPr id="7" name="TextBox 6"/>
          <p:cNvSpPr txBox="1"/>
          <p:nvPr/>
        </p:nvSpPr>
        <p:spPr>
          <a:xfrm>
            <a:off x="502920" y="98755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Organic footprint and domain authority across the tracked competitive set</a:t>
            </a:r>
          </a:p>
        </p:txBody>
      </p:sp>
      <p:sp>
        <p:nvSpPr>
          <p:cNvPr id="8" name="Rectangle 7"/>
          <p:cNvSpPr/>
          <p:nvPr/>
        </p:nvSpPr>
        <p:spPr>
          <a:xfrm>
            <a:off x="502920" y="1572768"/>
            <a:ext cx="11183112" cy="45720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4023360" cy="274320"/>
          </a:xfrm>
          <a:prstGeom prst="rect">
            <a:avLst/>
          </a:prstGeom>
          <a:noFill/>
        </p:spPr>
        <p:txBody>
          <a:bodyPr wrap="square" lIns="0" rIns="0" tIns="0" bIns="0" anchor="t">
            <a:spAutoFit/>
          </a:bodyPr>
          <a:lstStyle/>
          <a:p>
            <a:pPr algn="l">
              <a:lnSpc>
                <a:spcPct val="115000"/>
              </a:lnSpc>
              <a:spcAft>
                <a:spcPts val="0"/>
              </a:spcAft>
            </a:pPr>
            <a:r>
              <a:rPr sz="1050" b="1">
                <a:solidFill>
                  <a:srgbClr val="FFFFFF"/>
                </a:solidFill>
                <a:latin typeface="Open Sans"/>
              </a:rPr>
              <a:t>Company</a:t>
            </a:r>
          </a:p>
        </p:txBody>
      </p:sp>
      <p:sp>
        <p:nvSpPr>
          <p:cNvPr id="10" name="TextBox 9"/>
          <p:cNvSpPr txBox="1"/>
          <p:nvPr/>
        </p:nvSpPr>
        <p:spPr>
          <a:xfrm>
            <a:off x="4617720" y="1691640"/>
            <a:ext cx="1737360" cy="274320"/>
          </a:xfrm>
          <a:prstGeom prst="rect">
            <a:avLst/>
          </a:prstGeom>
          <a:noFill/>
        </p:spPr>
        <p:txBody>
          <a:bodyPr wrap="square" lIns="0" rIns="0" tIns="0" bIns="0" anchor="t">
            <a:spAutoFit/>
          </a:bodyPr>
          <a:lstStyle/>
          <a:p>
            <a:pPr algn="ctr">
              <a:lnSpc>
                <a:spcPct val="115000"/>
              </a:lnSpc>
              <a:spcAft>
                <a:spcPts val="0"/>
              </a:spcAft>
            </a:pPr>
            <a:r>
              <a:rPr sz="1050" b="1">
                <a:solidFill>
                  <a:srgbClr val="FFFFFF"/>
                </a:solidFill>
                <a:latin typeface="Open Sans"/>
              </a:rPr>
              <a:t>Ranking Keywords</a:t>
            </a:r>
          </a:p>
        </p:txBody>
      </p:sp>
      <p:sp>
        <p:nvSpPr>
          <p:cNvPr id="11" name="TextBox 10"/>
          <p:cNvSpPr txBox="1"/>
          <p:nvPr/>
        </p:nvSpPr>
        <p:spPr>
          <a:xfrm>
            <a:off x="6446520" y="1691640"/>
            <a:ext cx="1920240" cy="274320"/>
          </a:xfrm>
          <a:prstGeom prst="rect">
            <a:avLst/>
          </a:prstGeom>
          <a:noFill/>
        </p:spPr>
        <p:txBody>
          <a:bodyPr wrap="square" lIns="0" rIns="0" tIns="0" bIns="0" anchor="t">
            <a:spAutoFit/>
          </a:bodyPr>
          <a:lstStyle/>
          <a:p>
            <a:pPr algn="ctr">
              <a:lnSpc>
                <a:spcPct val="115000"/>
              </a:lnSpc>
              <a:spcAft>
                <a:spcPts val="0"/>
              </a:spcAft>
            </a:pPr>
            <a:r>
              <a:rPr sz="1050" b="1">
                <a:solidFill>
                  <a:srgbClr val="FFFFFF"/>
                </a:solidFill>
                <a:latin typeface="Open Sans"/>
              </a:rPr>
              <a:t>Monthly Organic Traffic</a:t>
            </a:r>
          </a:p>
        </p:txBody>
      </p:sp>
      <p:sp>
        <p:nvSpPr>
          <p:cNvPr id="12" name="TextBox 11"/>
          <p:cNvSpPr txBox="1"/>
          <p:nvPr/>
        </p:nvSpPr>
        <p:spPr>
          <a:xfrm>
            <a:off x="8458200" y="1691640"/>
            <a:ext cx="1645920" cy="274320"/>
          </a:xfrm>
          <a:prstGeom prst="rect">
            <a:avLst/>
          </a:prstGeom>
          <a:noFill/>
        </p:spPr>
        <p:txBody>
          <a:bodyPr wrap="square" lIns="0" rIns="0" tIns="0" bIns="0" anchor="t">
            <a:spAutoFit/>
          </a:bodyPr>
          <a:lstStyle/>
          <a:p>
            <a:pPr algn="ctr">
              <a:lnSpc>
                <a:spcPct val="115000"/>
              </a:lnSpc>
              <a:spcAft>
                <a:spcPts val="0"/>
              </a:spcAft>
            </a:pPr>
            <a:r>
              <a:rPr sz="1050" b="1">
                <a:solidFill>
                  <a:srgbClr val="FFFFFF"/>
                </a:solidFill>
                <a:latin typeface="Open Sans"/>
              </a:rPr>
              <a:t>Referring Domains</a:t>
            </a:r>
          </a:p>
        </p:txBody>
      </p:sp>
      <p:sp>
        <p:nvSpPr>
          <p:cNvPr id="13" name="TextBox 12"/>
          <p:cNvSpPr txBox="1"/>
          <p:nvPr/>
        </p:nvSpPr>
        <p:spPr>
          <a:xfrm>
            <a:off x="10195560" y="1691640"/>
            <a:ext cx="1463040" cy="274320"/>
          </a:xfrm>
          <a:prstGeom prst="rect">
            <a:avLst/>
          </a:prstGeom>
          <a:noFill/>
        </p:spPr>
        <p:txBody>
          <a:bodyPr wrap="square" lIns="0" rIns="0" tIns="0" bIns="0" anchor="t">
            <a:spAutoFit/>
          </a:bodyPr>
          <a:lstStyle/>
          <a:p>
            <a:pPr algn="ctr">
              <a:lnSpc>
                <a:spcPct val="115000"/>
              </a:lnSpc>
              <a:spcAft>
                <a:spcPts val="0"/>
              </a:spcAft>
            </a:pPr>
            <a:r>
              <a:rPr sz="1050" b="1">
                <a:solidFill>
                  <a:srgbClr val="FFFFFF"/>
                </a:solidFill>
                <a:latin typeface="Open Sans"/>
              </a:rPr>
              <a:t>Authority Score</a:t>
            </a:r>
          </a:p>
        </p:txBody>
      </p:sp>
      <p:sp>
        <p:nvSpPr>
          <p:cNvPr id="14" name="Rectangle 13"/>
          <p:cNvSpPr/>
          <p:nvPr/>
        </p:nvSpPr>
        <p:spPr>
          <a:xfrm>
            <a:off x="502920" y="2066543"/>
            <a:ext cx="11183112" cy="457200"/>
          </a:xfrm>
          <a:prstGeom prst="rect">
            <a:avLst/>
          </a:prstGeom>
          <a:solidFill>
            <a:srgbClr val="E9E2F0"/>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066543"/>
            <a:ext cx="54864" cy="45720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94560"/>
            <a:ext cx="3840480" cy="256032"/>
          </a:xfrm>
          <a:prstGeom prst="rect">
            <a:avLst/>
          </a:prstGeom>
          <a:noFill/>
        </p:spPr>
        <p:txBody>
          <a:bodyPr wrap="square" lIns="0" rIns="0" tIns="0" bIns="0" anchor="t">
            <a:spAutoFit/>
          </a:bodyPr>
          <a:lstStyle/>
          <a:p>
            <a:pPr algn="l">
              <a:lnSpc>
                <a:spcPct val="115000"/>
              </a:lnSpc>
              <a:spcAft>
                <a:spcPts val="0"/>
              </a:spcAft>
            </a:pPr>
            <a:r>
              <a:rPr sz="1200" b="1">
                <a:solidFill>
                  <a:srgbClr val="59257B"/>
                </a:solidFill>
                <a:latin typeface="Open Sans"/>
              </a:rPr>
              <a:t>Komprise</a:t>
            </a:r>
          </a:p>
        </p:txBody>
      </p:sp>
      <p:sp>
        <p:nvSpPr>
          <p:cNvPr id="17" name="TextBox 16"/>
          <p:cNvSpPr txBox="1"/>
          <p:nvPr/>
        </p:nvSpPr>
        <p:spPr>
          <a:xfrm>
            <a:off x="4617720" y="2194560"/>
            <a:ext cx="1737360" cy="256032"/>
          </a:xfrm>
          <a:prstGeom prst="rect">
            <a:avLst/>
          </a:prstGeom>
          <a:noFill/>
        </p:spPr>
        <p:txBody>
          <a:bodyPr wrap="square" lIns="0" rIns="0" tIns="0" bIns="0" anchor="t">
            <a:spAutoFit/>
          </a:bodyPr>
          <a:lstStyle/>
          <a:p>
            <a:pPr algn="ctr">
              <a:lnSpc>
                <a:spcPct val="115000"/>
              </a:lnSpc>
              <a:spcAft>
                <a:spcPts val="0"/>
              </a:spcAft>
            </a:pPr>
            <a:r>
              <a:rPr sz="1200" b="1">
                <a:solidFill>
                  <a:srgbClr val="59257B"/>
                </a:solidFill>
                <a:latin typeface="Open Sans"/>
              </a:rPr>
              <a:t>6.4K</a:t>
            </a:r>
          </a:p>
        </p:txBody>
      </p:sp>
      <p:sp>
        <p:nvSpPr>
          <p:cNvPr id="18" name="TextBox 17"/>
          <p:cNvSpPr txBox="1"/>
          <p:nvPr/>
        </p:nvSpPr>
        <p:spPr>
          <a:xfrm>
            <a:off x="6446520" y="2194560"/>
            <a:ext cx="1920240" cy="256032"/>
          </a:xfrm>
          <a:prstGeom prst="rect">
            <a:avLst/>
          </a:prstGeom>
          <a:noFill/>
        </p:spPr>
        <p:txBody>
          <a:bodyPr wrap="square" lIns="0" rIns="0" tIns="0" bIns="0" anchor="t">
            <a:spAutoFit/>
          </a:bodyPr>
          <a:lstStyle/>
          <a:p>
            <a:pPr algn="ctr">
              <a:lnSpc>
                <a:spcPct val="115000"/>
              </a:lnSpc>
              <a:spcAft>
                <a:spcPts val="0"/>
              </a:spcAft>
            </a:pPr>
            <a:r>
              <a:rPr sz="1200" b="1">
                <a:solidFill>
                  <a:srgbClr val="59257B"/>
                </a:solidFill>
                <a:latin typeface="Open Sans"/>
              </a:rPr>
              <a:t>23.9K</a:t>
            </a:r>
          </a:p>
        </p:txBody>
      </p:sp>
      <p:sp>
        <p:nvSpPr>
          <p:cNvPr id="19" name="TextBox 18"/>
          <p:cNvSpPr txBox="1"/>
          <p:nvPr/>
        </p:nvSpPr>
        <p:spPr>
          <a:xfrm>
            <a:off x="8458200" y="2194560"/>
            <a:ext cx="1645920" cy="256032"/>
          </a:xfrm>
          <a:prstGeom prst="rect">
            <a:avLst/>
          </a:prstGeom>
          <a:noFill/>
        </p:spPr>
        <p:txBody>
          <a:bodyPr wrap="square" lIns="0" rIns="0" tIns="0" bIns="0" anchor="t">
            <a:spAutoFit/>
          </a:bodyPr>
          <a:lstStyle/>
          <a:p>
            <a:pPr algn="ctr">
              <a:lnSpc>
                <a:spcPct val="115000"/>
              </a:lnSpc>
              <a:spcAft>
                <a:spcPts val="0"/>
              </a:spcAft>
            </a:pPr>
            <a:r>
              <a:rPr sz="1200" b="1">
                <a:solidFill>
                  <a:srgbClr val="59257B"/>
                </a:solidFill>
                <a:latin typeface="Open Sans"/>
              </a:rPr>
              <a:t>1.9K</a:t>
            </a:r>
          </a:p>
        </p:txBody>
      </p:sp>
      <p:sp>
        <p:nvSpPr>
          <p:cNvPr id="20" name="TextBox 19"/>
          <p:cNvSpPr txBox="1"/>
          <p:nvPr/>
        </p:nvSpPr>
        <p:spPr>
          <a:xfrm>
            <a:off x="10195560" y="2194560"/>
            <a:ext cx="1463040" cy="256032"/>
          </a:xfrm>
          <a:prstGeom prst="rect">
            <a:avLst/>
          </a:prstGeom>
          <a:noFill/>
        </p:spPr>
        <p:txBody>
          <a:bodyPr wrap="square" lIns="0" rIns="0" tIns="0" bIns="0" anchor="t">
            <a:spAutoFit/>
          </a:bodyPr>
          <a:lstStyle/>
          <a:p>
            <a:pPr algn="ctr">
              <a:lnSpc>
                <a:spcPct val="115000"/>
              </a:lnSpc>
              <a:spcAft>
                <a:spcPts val="0"/>
              </a:spcAft>
            </a:pPr>
            <a:r>
              <a:rPr sz="1200" b="1">
                <a:solidFill>
                  <a:srgbClr val="59257B"/>
                </a:solidFill>
                <a:latin typeface="Open Sans"/>
              </a:rPr>
              <a:t>43</a:t>
            </a:r>
          </a:p>
        </p:txBody>
      </p:sp>
      <p:sp>
        <p:nvSpPr>
          <p:cNvPr id="21" name="Rectangle 20"/>
          <p:cNvSpPr/>
          <p:nvPr/>
        </p:nvSpPr>
        <p:spPr>
          <a:xfrm>
            <a:off x="502920" y="2560320"/>
            <a:ext cx="11183112" cy="45720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688336"/>
            <a:ext cx="3840480" cy="256032"/>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Unstructured.io</a:t>
            </a:r>
          </a:p>
        </p:txBody>
      </p:sp>
      <p:sp>
        <p:nvSpPr>
          <p:cNvPr id="23" name="TextBox 22"/>
          <p:cNvSpPr txBox="1"/>
          <p:nvPr/>
        </p:nvSpPr>
        <p:spPr>
          <a:xfrm>
            <a:off x="4617720" y="2688336"/>
            <a:ext cx="173736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2.0K</a:t>
            </a:r>
          </a:p>
        </p:txBody>
      </p:sp>
      <p:sp>
        <p:nvSpPr>
          <p:cNvPr id="24" name="TextBox 23"/>
          <p:cNvSpPr txBox="1"/>
          <p:nvPr/>
        </p:nvSpPr>
        <p:spPr>
          <a:xfrm>
            <a:off x="6446520" y="2688336"/>
            <a:ext cx="19202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4.8K</a:t>
            </a:r>
          </a:p>
        </p:txBody>
      </p:sp>
      <p:sp>
        <p:nvSpPr>
          <p:cNvPr id="25" name="TextBox 24"/>
          <p:cNvSpPr txBox="1"/>
          <p:nvPr/>
        </p:nvSpPr>
        <p:spPr>
          <a:xfrm>
            <a:off x="8458200" y="2688336"/>
            <a:ext cx="164592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2.7K</a:t>
            </a:r>
          </a:p>
        </p:txBody>
      </p:sp>
      <p:sp>
        <p:nvSpPr>
          <p:cNvPr id="26" name="TextBox 25"/>
          <p:cNvSpPr txBox="1"/>
          <p:nvPr/>
        </p:nvSpPr>
        <p:spPr>
          <a:xfrm>
            <a:off x="10195560" y="2688336"/>
            <a:ext cx="14630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36</a:t>
            </a:r>
          </a:p>
        </p:txBody>
      </p:sp>
      <p:sp>
        <p:nvSpPr>
          <p:cNvPr id="27" name="Rectangle 26"/>
          <p:cNvSpPr/>
          <p:nvPr/>
        </p:nvSpPr>
        <p:spPr>
          <a:xfrm>
            <a:off x="502920" y="3054096"/>
            <a:ext cx="11183112" cy="45720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3182112"/>
            <a:ext cx="3840480" cy="256032"/>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Data Dynamics</a:t>
            </a:r>
          </a:p>
        </p:txBody>
      </p:sp>
      <p:sp>
        <p:nvSpPr>
          <p:cNvPr id="29" name="TextBox 28"/>
          <p:cNvSpPr txBox="1"/>
          <p:nvPr/>
        </p:nvSpPr>
        <p:spPr>
          <a:xfrm>
            <a:off x="4617720" y="3182112"/>
            <a:ext cx="173736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1.4K</a:t>
            </a:r>
          </a:p>
        </p:txBody>
      </p:sp>
      <p:sp>
        <p:nvSpPr>
          <p:cNvPr id="30" name="TextBox 29"/>
          <p:cNvSpPr txBox="1"/>
          <p:nvPr/>
        </p:nvSpPr>
        <p:spPr>
          <a:xfrm>
            <a:off x="6446520" y="3182112"/>
            <a:ext cx="19202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1.0K</a:t>
            </a:r>
          </a:p>
        </p:txBody>
      </p:sp>
      <p:sp>
        <p:nvSpPr>
          <p:cNvPr id="31" name="TextBox 30"/>
          <p:cNvSpPr txBox="1"/>
          <p:nvPr/>
        </p:nvSpPr>
        <p:spPr>
          <a:xfrm>
            <a:off x="8458200" y="3182112"/>
            <a:ext cx="164592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958</a:t>
            </a:r>
          </a:p>
        </p:txBody>
      </p:sp>
      <p:sp>
        <p:nvSpPr>
          <p:cNvPr id="32" name="TextBox 31"/>
          <p:cNvSpPr txBox="1"/>
          <p:nvPr/>
        </p:nvSpPr>
        <p:spPr>
          <a:xfrm>
            <a:off x="10195560" y="3182112"/>
            <a:ext cx="14630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30</a:t>
            </a:r>
          </a:p>
        </p:txBody>
      </p:sp>
      <p:sp>
        <p:nvSpPr>
          <p:cNvPr id="33" name="Rectangle 32"/>
          <p:cNvSpPr/>
          <p:nvPr/>
        </p:nvSpPr>
        <p:spPr>
          <a:xfrm>
            <a:off x="502920" y="3547872"/>
            <a:ext cx="11183112" cy="45720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675887"/>
            <a:ext cx="3840480" cy="256032"/>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Hammerspace</a:t>
            </a:r>
          </a:p>
        </p:txBody>
      </p:sp>
      <p:sp>
        <p:nvSpPr>
          <p:cNvPr id="35" name="TextBox 34"/>
          <p:cNvSpPr txBox="1"/>
          <p:nvPr/>
        </p:nvSpPr>
        <p:spPr>
          <a:xfrm>
            <a:off x="4617720" y="3675887"/>
            <a:ext cx="173736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819</a:t>
            </a:r>
          </a:p>
        </p:txBody>
      </p:sp>
      <p:sp>
        <p:nvSpPr>
          <p:cNvPr id="36" name="TextBox 35"/>
          <p:cNvSpPr txBox="1"/>
          <p:nvPr/>
        </p:nvSpPr>
        <p:spPr>
          <a:xfrm>
            <a:off x="6446520" y="3675887"/>
            <a:ext cx="19202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2.1K</a:t>
            </a:r>
          </a:p>
        </p:txBody>
      </p:sp>
      <p:sp>
        <p:nvSpPr>
          <p:cNvPr id="37" name="TextBox 36"/>
          <p:cNvSpPr txBox="1"/>
          <p:nvPr/>
        </p:nvSpPr>
        <p:spPr>
          <a:xfrm>
            <a:off x="8458200" y="3675887"/>
            <a:ext cx="164592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1.5K</a:t>
            </a:r>
          </a:p>
        </p:txBody>
      </p:sp>
      <p:sp>
        <p:nvSpPr>
          <p:cNvPr id="38" name="TextBox 37"/>
          <p:cNvSpPr txBox="1"/>
          <p:nvPr/>
        </p:nvSpPr>
        <p:spPr>
          <a:xfrm>
            <a:off x="10195560" y="3675887"/>
            <a:ext cx="14630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33</a:t>
            </a:r>
          </a:p>
        </p:txBody>
      </p:sp>
      <p:sp>
        <p:nvSpPr>
          <p:cNvPr id="39" name="Rectangle 38"/>
          <p:cNvSpPr/>
          <p:nvPr/>
        </p:nvSpPr>
        <p:spPr>
          <a:xfrm>
            <a:off x="502920" y="4041648"/>
            <a:ext cx="11183112" cy="45720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4169663"/>
            <a:ext cx="3840480" cy="256032"/>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Atempo</a:t>
            </a:r>
          </a:p>
        </p:txBody>
      </p:sp>
      <p:sp>
        <p:nvSpPr>
          <p:cNvPr id="41" name="TextBox 40"/>
          <p:cNvSpPr txBox="1"/>
          <p:nvPr/>
        </p:nvSpPr>
        <p:spPr>
          <a:xfrm>
            <a:off x="4617720" y="4169663"/>
            <a:ext cx="173736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322</a:t>
            </a:r>
          </a:p>
        </p:txBody>
      </p:sp>
      <p:sp>
        <p:nvSpPr>
          <p:cNvPr id="42" name="TextBox 41"/>
          <p:cNvSpPr txBox="1"/>
          <p:nvPr/>
        </p:nvSpPr>
        <p:spPr>
          <a:xfrm>
            <a:off x="6446520" y="4169663"/>
            <a:ext cx="19202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541</a:t>
            </a:r>
          </a:p>
        </p:txBody>
      </p:sp>
      <p:sp>
        <p:nvSpPr>
          <p:cNvPr id="43" name="TextBox 42"/>
          <p:cNvSpPr txBox="1"/>
          <p:nvPr/>
        </p:nvSpPr>
        <p:spPr>
          <a:xfrm>
            <a:off x="8458200" y="4169663"/>
            <a:ext cx="164592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1.0K</a:t>
            </a:r>
          </a:p>
        </p:txBody>
      </p:sp>
      <p:sp>
        <p:nvSpPr>
          <p:cNvPr id="44" name="TextBox 43"/>
          <p:cNvSpPr txBox="1"/>
          <p:nvPr/>
        </p:nvSpPr>
        <p:spPr>
          <a:xfrm>
            <a:off x="10195560" y="4169663"/>
            <a:ext cx="14630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33</a:t>
            </a:r>
          </a:p>
        </p:txBody>
      </p:sp>
      <p:sp>
        <p:nvSpPr>
          <p:cNvPr id="45" name="Rectangle 44"/>
          <p:cNvSpPr/>
          <p:nvPr/>
        </p:nvSpPr>
        <p:spPr>
          <a:xfrm>
            <a:off x="502920" y="4535424"/>
            <a:ext cx="11183112" cy="45720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4663440"/>
            <a:ext cx="3840480" cy="256032"/>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Datadobi</a:t>
            </a:r>
          </a:p>
        </p:txBody>
      </p:sp>
      <p:sp>
        <p:nvSpPr>
          <p:cNvPr id="47" name="TextBox 46"/>
          <p:cNvSpPr txBox="1"/>
          <p:nvPr/>
        </p:nvSpPr>
        <p:spPr>
          <a:xfrm>
            <a:off x="4617720" y="4663440"/>
            <a:ext cx="173736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86</a:t>
            </a:r>
          </a:p>
        </p:txBody>
      </p:sp>
      <p:sp>
        <p:nvSpPr>
          <p:cNvPr id="48" name="TextBox 47"/>
          <p:cNvSpPr txBox="1"/>
          <p:nvPr/>
        </p:nvSpPr>
        <p:spPr>
          <a:xfrm>
            <a:off x="6446520" y="4663440"/>
            <a:ext cx="19202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113</a:t>
            </a:r>
          </a:p>
        </p:txBody>
      </p:sp>
      <p:sp>
        <p:nvSpPr>
          <p:cNvPr id="49" name="TextBox 48"/>
          <p:cNvSpPr txBox="1"/>
          <p:nvPr/>
        </p:nvSpPr>
        <p:spPr>
          <a:xfrm>
            <a:off x="8458200" y="4663440"/>
            <a:ext cx="164592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751</a:t>
            </a:r>
          </a:p>
        </p:txBody>
      </p:sp>
      <p:sp>
        <p:nvSpPr>
          <p:cNvPr id="50" name="TextBox 49"/>
          <p:cNvSpPr txBox="1"/>
          <p:nvPr/>
        </p:nvSpPr>
        <p:spPr>
          <a:xfrm>
            <a:off x="10195560" y="4663440"/>
            <a:ext cx="14630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23</a:t>
            </a:r>
          </a:p>
        </p:txBody>
      </p:sp>
      <p:sp>
        <p:nvSpPr>
          <p:cNvPr id="51" name="Rectangle 50"/>
          <p:cNvSpPr/>
          <p:nvPr/>
        </p:nvSpPr>
        <p:spPr>
          <a:xfrm>
            <a:off x="502920" y="5029200"/>
            <a:ext cx="11183112" cy="45720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5800" y="5157216"/>
            <a:ext cx="3840480" cy="256032"/>
          </a:xfrm>
          <a:prstGeom prst="rect">
            <a:avLst/>
          </a:prstGeom>
          <a:noFill/>
        </p:spPr>
        <p:txBody>
          <a:bodyPr wrap="square" lIns="0" rIns="0" tIns="0" bIns="0" anchor="t">
            <a:spAutoFit/>
          </a:bodyPr>
          <a:lstStyle/>
          <a:p>
            <a:pPr algn="l">
              <a:lnSpc>
                <a:spcPct val="115000"/>
              </a:lnSpc>
              <a:spcAft>
                <a:spcPts val="0"/>
              </a:spcAft>
            </a:pPr>
            <a:r>
              <a:rPr sz="1100" b="0">
                <a:solidFill>
                  <a:srgbClr val="262428"/>
                </a:solidFill>
                <a:latin typeface="Open Sans"/>
              </a:rPr>
              <a:t>Diskover Data</a:t>
            </a:r>
          </a:p>
        </p:txBody>
      </p:sp>
      <p:sp>
        <p:nvSpPr>
          <p:cNvPr id="53" name="TextBox 52"/>
          <p:cNvSpPr txBox="1"/>
          <p:nvPr/>
        </p:nvSpPr>
        <p:spPr>
          <a:xfrm>
            <a:off x="4617720" y="5157216"/>
            <a:ext cx="173736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82</a:t>
            </a:r>
          </a:p>
        </p:txBody>
      </p:sp>
      <p:sp>
        <p:nvSpPr>
          <p:cNvPr id="54" name="TextBox 53"/>
          <p:cNvSpPr txBox="1"/>
          <p:nvPr/>
        </p:nvSpPr>
        <p:spPr>
          <a:xfrm>
            <a:off x="6446520" y="5157216"/>
            <a:ext cx="19202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407</a:t>
            </a:r>
          </a:p>
        </p:txBody>
      </p:sp>
      <p:sp>
        <p:nvSpPr>
          <p:cNvPr id="55" name="TextBox 54"/>
          <p:cNvSpPr txBox="1"/>
          <p:nvPr/>
        </p:nvSpPr>
        <p:spPr>
          <a:xfrm>
            <a:off x="8458200" y="5157216"/>
            <a:ext cx="164592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450</a:t>
            </a:r>
          </a:p>
        </p:txBody>
      </p:sp>
      <p:sp>
        <p:nvSpPr>
          <p:cNvPr id="56" name="TextBox 55"/>
          <p:cNvSpPr txBox="1"/>
          <p:nvPr/>
        </p:nvSpPr>
        <p:spPr>
          <a:xfrm>
            <a:off x="10195560" y="5157216"/>
            <a:ext cx="1463040" cy="256032"/>
          </a:xfrm>
          <a:prstGeom prst="rect">
            <a:avLst/>
          </a:prstGeom>
          <a:noFill/>
        </p:spPr>
        <p:txBody>
          <a:bodyPr wrap="square" lIns="0" rIns="0" tIns="0" bIns="0" anchor="t">
            <a:spAutoFit/>
          </a:bodyPr>
          <a:lstStyle/>
          <a:p>
            <a:pPr algn="ctr">
              <a:lnSpc>
                <a:spcPct val="115000"/>
              </a:lnSpc>
              <a:spcAft>
                <a:spcPts val="0"/>
              </a:spcAft>
            </a:pPr>
            <a:r>
              <a:rPr sz="1100" b="0">
                <a:solidFill>
                  <a:srgbClr val="595A5B"/>
                </a:solidFill>
                <a:latin typeface="Open Sans"/>
              </a:rPr>
              <a:t>25</a:t>
            </a:r>
          </a:p>
        </p:txBody>
      </p:sp>
      <p:sp>
        <p:nvSpPr>
          <p:cNvPr id="57" name="Rectangle 56"/>
          <p:cNvSpPr/>
          <p:nvPr/>
        </p:nvSpPr>
        <p:spPr>
          <a:xfrm>
            <a:off x="502920" y="5614416"/>
            <a:ext cx="11183112" cy="78638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02920" y="5614416"/>
            <a:ext cx="54864" cy="786384"/>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9808" y="5779008"/>
            <a:ext cx="10698480" cy="548640"/>
          </a:xfrm>
          <a:prstGeom prst="rect">
            <a:avLst/>
          </a:prstGeom>
          <a:noFill/>
        </p:spPr>
        <p:txBody>
          <a:bodyPr wrap="square" lIns="0" rIns="0" tIns="0" bIns="0" anchor="t">
            <a:spAutoFit/>
          </a:bodyPr>
          <a:lstStyle/>
          <a:p>
            <a:pPr algn="l">
              <a:lnSpc>
                <a:spcPct val="122000"/>
              </a:lnSpc>
              <a:spcAft>
                <a:spcPts val="0"/>
              </a:spcAft>
            </a:pPr>
            <a:r>
              <a:rPr sz="1150" b="1">
                <a:solidFill>
                  <a:srgbClr val="59257B"/>
                </a:solidFill>
                <a:latin typeface="Open Sans"/>
              </a:rPr>
              <a:t>Komprise holds roughly three times the ranking keywords and five times the organic traffic of the nearest competitor, with the highest authority score in the set — and is the only company here that is both the largest and still growing. The three closest storage specialists all lost traffic this period.</a:t>
            </a:r>
          </a:p>
        </p:txBody>
      </p:sp>
      <p:sp>
        <p:nvSpPr>
          <p:cNvPr id="60" name="TextBox 59"/>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  GEO &amp; SEO Performance, Q2 2026</a:t>
            </a:r>
          </a:p>
        </p:txBody>
      </p:sp>
      <p:sp>
        <p:nvSpPr>
          <p:cNvPr id="61" name="TextBox 60"/>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rIns="0" tIns="0" bIns="0" anchor="t">
            <a:spAutoFit/>
          </a:bodyPr>
          <a:lstStyle/>
          <a:p>
            <a:pPr algn="l">
              <a:lnSpc>
                <a:spcPct val="115000"/>
              </a:lnSpc>
              <a:spcAft>
                <a:spcPts val="0"/>
              </a:spcAft>
            </a:pPr>
            <a:r>
              <a:rPr sz="1050" b="1">
                <a:solidFill>
                  <a:srgbClr val="9FC406"/>
                </a:solidFill>
                <a:latin typeface="Open Sans"/>
              </a:rPr>
              <a:t>WHAT'S NEXT</a:t>
            </a:r>
          </a:p>
        </p:txBody>
      </p:sp>
      <p:sp>
        <p:nvSpPr>
          <p:cNvPr id="6" name="TextBox 5"/>
          <p:cNvSpPr txBox="1"/>
          <p:nvPr/>
        </p:nvSpPr>
        <p:spPr>
          <a:xfrm>
            <a:off x="502920" y="502920"/>
            <a:ext cx="9692640" cy="457200"/>
          </a:xfrm>
          <a:prstGeom prst="rect">
            <a:avLst/>
          </a:prstGeom>
          <a:noFill/>
        </p:spPr>
        <p:txBody>
          <a:bodyPr wrap="square" lIns="0" rIns="0" tIns="0" bIns="0" anchor="t">
            <a:spAutoFit/>
          </a:bodyPr>
          <a:lstStyle/>
          <a:p>
            <a:pPr algn="l">
              <a:lnSpc>
                <a:spcPct val="115000"/>
              </a:lnSpc>
              <a:spcAft>
                <a:spcPts val="0"/>
              </a:spcAft>
            </a:pPr>
            <a:r>
              <a:rPr sz="2500" b="1">
                <a:solidFill>
                  <a:srgbClr val="59257B"/>
                </a:solidFill>
                <a:latin typeface="Open Sans"/>
              </a:rPr>
              <a:t>Where the Effort Goes</a:t>
            </a:r>
          </a:p>
        </p:txBody>
      </p:sp>
      <p:sp>
        <p:nvSpPr>
          <p:cNvPr id="7" name="TextBox 6"/>
          <p:cNvSpPr txBox="1"/>
          <p:nvPr/>
        </p:nvSpPr>
        <p:spPr>
          <a:xfrm>
            <a:off x="502920" y="987552"/>
            <a:ext cx="10241280" cy="292608"/>
          </a:xfrm>
          <a:prstGeom prst="rect">
            <a:avLst/>
          </a:prstGeom>
          <a:noFill/>
        </p:spPr>
        <p:txBody>
          <a:bodyPr wrap="square" lIns="0" rIns="0" tIns="0" bIns="0" anchor="t">
            <a:spAutoFit/>
          </a:bodyPr>
          <a:lstStyle/>
          <a:p>
            <a:pPr algn="l">
              <a:lnSpc>
                <a:spcPct val="115000"/>
              </a:lnSpc>
              <a:spcAft>
                <a:spcPts val="0"/>
              </a:spcAft>
            </a:pPr>
            <a:r>
              <a:rPr sz="1250" b="0">
                <a:solidFill>
                  <a:srgbClr val="595A5B"/>
                </a:solidFill>
                <a:latin typeface="Open Sans"/>
              </a:rPr>
              <a:t>Five priorities, weighted to the gap the data has exposed</a:t>
            </a:r>
          </a:p>
        </p:txBody>
      </p:sp>
      <p:sp>
        <p:nvSpPr>
          <p:cNvPr id="8" name="Rectangle 7"/>
          <p:cNvSpPr/>
          <p:nvPr/>
        </p:nvSpPr>
        <p:spPr>
          <a:xfrm>
            <a:off x="502920" y="157276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4864" cy="8046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792224"/>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79092"/>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1</a:t>
            </a:r>
          </a:p>
        </p:txBody>
      </p:sp>
      <p:sp>
        <p:nvSpPr>
          <p:cNvPr id="12" name="TextBox 11"/>
          <p:cNvSpPr txBox="1"/>
          <p:nvPr/>
        </p:nvSpPr>
        <p:spPr>
          <a:xfrm>
            <a:off x="1325880" y="1682495"/>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Win the category terms in the AI lane</a:t>
            </a:r>
          </a:p>
        </p:txBody>
      </p:sp>
      <p:sp>
        <p:nvSpPr>
          <p:cNvPr id="13" name="TextBox 12"/>
          <p:cNvSpPr txBox="1"/>
          <p:nvPr/>
        </p:nvSpPr>
        <p:spPr>
          <a:xfrm>
            <a:off x="1325880" y="1975104"/>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We hold the specific technical questions and lose the broad ones. Getting AI data management, AI data platform and AI data preparation into the AI answer is the highest-value work available.</a:t>
            </a:r>
          </a:p>
        </p:txBody>
      </p:sp>
      <p:sp>
        <p:nvSpPr>
          <p:cNvPr id="14" name="Rectangle 13"/>
          <p:cNvSpPr/>
          <p:nvPr/>
        </p:nvSpPr>
        <p:spPr>
          <a:xfrm>
            <a:off x="502920" y="244144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441448"/>
            <a:ext cx="54864" cy="80467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2660904"/>
            <a:ext cx="365760" cy="36576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7772"/>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2</a:t>
            </a:r>
          </a:p>
        </p:txBody>
      </p:sp>
      <p:sp>
        <p:nvSpPr>
          <p:cNvPr id="18" name="TextBox 17"/>
          <p:cNvSpPr txBox="1"/>
          <p:nvPr/>
        </p:nvSpPr>
        <p:spPr>
          <a:xfrm>
            <a:off x="1325880" y="2551176"/>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Turn citations into mentions</a:t>
            </a:r>
          </a:p>
        </p:txBody>
      </p:sp>
      <p:sp>
        <p:nvSpPr>
          <p:cNvPr id="19" name="TextBox 18"/>
          <p:cNvSpPr txBox="1"/>
          <p:nvPr/>
        </p:nvSpPr>
        <p:spPr>
          <a:xfrm>
            <a:off x="1325880" y="2843784"/>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Content has taken citations as far as it can. Only independent coverage — analysts and trade press — makes a model say our name, and mentions are the metric still moving the wrong way.</a:t>
            </a:r>
          </a:p>
        </p:txBody>
      </p:sp>
      <p:sp>
        <p:nvSpPr>
          <p:cNvPr id="20" name="Rectangle 19"/>
          <p:cNvSpPr/>
          <p:nvPr/>
        </p:nvSpPr>
        <p:spPr>
          <a:xfrm>
            <a:off x="502920" y="331012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310128"/>
            <a:ext cx="54864" cy="8046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3529584"/>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616452"/>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3</a:t>
            </a:r>
          </a:p>
        </p:txBody>
      </p:sp>
      <p:sp>
        <p:nvSpPr>
          <p:cNvPr id="24" name="TextBox 23"/>
          <p:cNvSpPr txBox="1"/>
          <p:nvPr/>
        </p:nvSpPr>
        <p:spPr>
          <a:xfrm>
            <a:off x="1325880" y="3419856"/>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Finish the machine-readable layer</a:t>
            </a:r>
          </a:p>
        </p:txBody>
      </p:sp>
      <p:sp>
        <p:nvSpPr>
          <p:cNvPr id="25" name="TextBox 24"/>
          <p:cNvSpPr txBox="1"/>
          <p:nvPr/>
        </p:nvSpPr>
        <p:spPr>
          <a:xfrm>
            <a:off x="1325880" y="3712464"/>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Structured data is still missing from most blog posts and older template pages still carry cost-led copy. These are single-template fixes with disproportionate return.</a:t>
            </a:r>
          </a:p>
        </p:txBody>
      </p:sp>
      <p:sp>
        <p:nvSpPr>
          <p:cNvPr id="26" name="Rectangle 25"/>
          <p:cNvSpPr/>
          <p:nvPr/>
        </p:nvSpPr>
        <p:spPr>
          <a:xfrm>
            <a:off x="502920" y="417880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4178808"/>
            <a:ext cx="54864" cy="8046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398264"/>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485132"/>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4</a:t>
            </a:r>
          </a:p>
        </p:txBody>
      </p:sp>
      <p:sp>
        <p:nvSpPr>
          <p:cNvPr id="30" name="TextBox 29"/>
          <p:cNvSpPr txBox="1"/>
          <p:nvPr/>
        </p:nvSpPr>
        <p:spPr>
          <a:xfrm>
            <a:off x="1325880" y="4288536"/>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Defend the storage-cost lane</a:t>
            </a:r>
          </a:p>
        </p:txBody>
      </p:sp>
      <p:sp>
        <p:nvSpPr>
          <p:cNvPr id="31" name="TextBox 30"/>
          <p:cNvSpPr txBox="1"/>
          <p:nvPr/>
        </p:nvSpPr>
        <p:spPr>
          <a:xfrm>
            <a:off x="1325880" y="4581144"/>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It is our strongest position in AI answers and it is now being contested by a much larger rebranded competitor. Holding it protects the pipeline story.</a:t>
            </a:r>
          </a:p>
        </p:txBody>
      </p:sp>
      <p:sp>
        <p:nvSpPr>
          <p:cNvPr id="32" name="Rectangle 31"/>
          <p:cNvSpPr/>
          <p:nvPr/>
        </p:nvSpPr>
        <p:spPr>
          <a:xfrm>
            <a:off x="502920" y="504748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047488"/>
            <a:ext cx="54864" cy="8046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77240" y="5266944"/>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353812"/>
            <a:ext cx="365760" cy="237744"/>
          </a:xfrm>
          <a:prstGeom prst="rect">
            <a:avLst/>
          </a:prstGeom>
          <a:noFill/>
        </p:spPr>
        <p:txBody>
          <a:bodyPr wrap="square" lIns="0" rIns="0" tIns="0" bIns="0" anchor="t">
            <a:spAutoFit/>
          </a:bodyPr>
          <a:lstStyle/>
          <a:p>
            <a:pPr algn="ctr">
              <a:lnSpc>
                <a:spcPct val="115000"/>
              </a:lnSpc>
              <a:spcAft>
                <a:spcPts val="0"/>
              </a:spcAft>
            </a:pPr>
            <a:r>
              <a:rPr sz="1200" b="1">
                <a:solidFill>
                  <a:srgbClr val="FFFFFF"/>
                </a:solidFill>
                <a:latin typeface="Open Sans"/>
              </a:rPr>
              <a:t>5</a:t>
            </a:r>
          </a:p>
        </p:txBody>
      </p:sp>
      <p:sp>
        <p:nvSpPr>
          <p:cNvPr id="36" name="TextBox 35"/>
          <p:cNvSpPr txBox="1"/>
          <p:nvPr/>
        </p:nvSpPr>
        <p:spPr>
          <a:xfrm>
            <a:off x="1325880" y="5157216"/>
            <a:ext cx="10149840" cy="256032"/>
          </a:xfrm>
          <a:prstGeom prst="rect">
            <a:avLst/>
          </a:prstGeom>
          <a:noFill/>
        </p:spPr>
        <p:txBody>
          <a:bodyPr wrap="square" lIns="0" rIns="0" tIns="0" bIns="0" anchor="t">
            <a:spAutoFit/>
          </a:bodyPr>
          <a:lstStyle/>
          <a:p>
            <a:pPr algn="l">
              <a:lnSpc>
                <a:spcPct val="115000"/>
              </a:lnSpc>
              <a:spcAft>
                <a:spcPts val="0"/>
              </a:spcAft>
            </a:pPr>
            <a:r>
              <a:rPr sz="1250" b="1">
                <a:solidFill>
                  <a:srgbClr val="59257B"/>
                </a:solidFill>
                <a:latin typeface="Open Sans"/>
              </a:rPr>
              <a:t>Agree one standing scoreboard</a:t>
            </a:r>
          </a:p>
        </p:txBody>
      </p:sp>
      <p:sp>
        <p:nvSpPr>
          <p:cNvPr id="37" name="TextBox 36"/>
          <p:cNvSpPr txBox="1"/>
          <p:nvPr/>
        </p:nvSpPr>
        <p:spPr>
          <a:xfrm>
            <a:off x="1325880" y="5449824"/>
            <a:ext cx="10149840" cy="365760"/>
          </a:xfrm>
          <a:prstGeom prst="rect">
            <a:avLst/>
          </a:prstGeom>
          <a:noFill/>
        </p:spPr>
        <p:txBody>
          <a:bodyPr wrap="square" lIns="0" rIns="0" tIns="0" bIns="0" anchor="t">
            <a:spAutoFit/>
          </a:bodyPr>
          <a:lstStyle/>
          <a:p>
            <a:pPr algn="l">
              <a:lnSpc>
                <a:spcPct val="120000"/>
              </a:lnSpc>
              <a:spcAft>
                <a:spcPts val="0"/>
              </a:spcAft>
            </a:pPr>
            <a:r>
              <a:rPr sz="1050" b="0">
                <a:solidFill>
                  <a:srgbClr val="595A5B"/>
                </a:solidFill>
                <a:latin typeface="Open Sans"/>
              </a:rPr>
              <a:t>Lock a top-ten priority question set across both lanes so every future update reports the same measure, quarter on quarter.</a:t>
            </a:r>
          </a:p>
        </p:txBody>
      </p:sp>
      <p:sp>
        <p:nvSpPr>
          <p:cNvPr id="38" name="Rectangle 37"/>
          <p:cNvSpPr/>
          <p:nvPr/>
        </p:nvSpPr>
        <p:spPr>
          <a:xfrm>
            <a:off x="502920" y="5916168"/>
            <a:ext cx="11183112" cy="457200"/>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916168"/>
            <a:ext cx="54864" cy="45720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6025896"/>
            <a:ext cx="10789920" cy="274320"/>
          </a:xfrm>
          <a:prstGeom prst="rect">
            <a:avLst/>
          </a:prstGeom>
          <a:noFill/>
        </p:spPr>
        <p:txBody>
          <a:bodyPr wrap="square" lIns="0" rIns="0" tIns="0" bIns="0" anchor="t">
            <a:spAutoFit/>
          </a:bodyPr>
          <a:lstStyle/>
          <a:p>
            <a:pPr algn="l">
              <a:lnSpc>
                <a:spcPct val="120000"/>
              </a:lnSpc>
              <a:spcAft>
                <a:spcPts val="0"/>
              </a:spcAft>
            </a:pPr>
            <a:r>
              <a:rPr sz="1150" b="1">
                <a:solidFill>
                  <a:srgbClr val="59257B"/>
                </a:solidFill>
                <a:latin typeface="Open Sans"/>
              </a:rPr>
              <a:t>How we will know it worked: Komprise inside the AI answer on the AI-lane category terms, and the mentions line turning back up.</a:t>
            </a:r>
          </a:p>
        </p:txBody>
      </p:sp>
      <p:sp>
        <p:nvSpPr>
          <p:cNvPr id="41" name="TextBox 40"/>
          <p:cNvSpPr txBox="1"/>
          <p:nvPr/>
        </p:nvSpPr>
        <p:spPr>
          <a:xfrm>
            <a:off x="502920" y="6528816"/>
            <a:ext cx="6400800" cy="228600"/>
          </a:xfrm>
          <a:prstGeom prst="rect">
            <a:avLst/>
          </a:prstGeom>
          <a:noFill/>
        </p:spPr>
        <p:txBody>
          <a:bodyPr wrap="square" lIns="0" rIns="0" tIns="0" bIns="0" anchor="t">
            <a:spAutoFit/>
          </a:bodyPr>
          <a:lstStyle/>
          <a:p>
            <a:pPr algn="l">
              <a:lnSpc>
                <a:spcPct val="115000"/>
              </a:lnSpc>
              <a:spcAft>
                <a:spcPts val="0"/>
              </a:spcAft>
            </a:pPr>
            <a:r>
              <a:rPr sz="900" b="0">
                <a:solidFill>
                  <a:srgbClr val="8A8A8D"/>
                </a:solidFill>
                <a:latin typeface="Open Sans"/>
              </a:rPr>
              <a:t>Komprise  —  GEO &amp; SEO Performance, Q2 2026</a:t>
            </a:r>
          </a:p>
        </p:txBody>
      </p:sp>
      <p:sp>
        <p:nvSpPr>
          <p:cNvPr id="42" name="TextBox 41"/>
          <p:cNvSpPr txBox="1"/>
          <p:nvPr/>
        </p:nvSpPr>
        <p:spPr>
          <a:xfrm>
            <a:off x="10881360" y="6528816"/>
            <a:ext cx="822960" cy="228600"/>
          </a:xfrm>
          <a:prstGeom prst="rect">
            <a:avLst/>
          </a:prstGeom>
          <a:noFill/>
        </p:spPr>
        <p:txBody>
          <a:bodyPr wrap="square" lIns="0" rIns="0" tIns="0" bIns="0" anchor="t">
            <a:spAutoFit/>
          </a:bodyPr>
          <a:lstStyle/>
          <a:p>
            <a:pPr algn="r">
              <a:lnSpc>
                <a:spcPct val="115000"/>
              </a:lnSpc>
              <a:spcAft>
                <a:spcPts val="0"/>
              </a:spcAft>
            </a:pPr>
            <a:r>
              <a:rPr sz="900" b="0">
                <a:solidFill>
                  <a:srgbClr val="8A8A8D"/>
                </a:solidFill>
                <a:latin typeface="Open San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